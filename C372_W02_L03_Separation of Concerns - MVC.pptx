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692" r:id="rId3"/>
  </p:sldMasterIdLst>
  <p:notesMasterIdLst>
    <p:notesMasterId r:id="rId70"/>
  </p:notesMasterIdLst>
  <p:sldIdLst>
    <p:sldId id="256" r:id="rId4"/>
    <p:sldId id="315" r:id="rId5"/>
    <p:sldId id="282" r:id="rId6"/>
    <p:sldId id="283" r:id="rId7"/>
    <p:sldId id="286" r:id="rId8"/>
    <p:sldId id="814" r:id="rId9"/>
    <p:sldId id="316" r:id="rId10"/>
    <p:sldId id="314" r:id="rId11"/>
    <p:sldId id="794" r:id="rId12"/>
    <p:sldId id="317" r:id="rId13"/>
    <p:sldId id="795" r:id="rId14"/>
    <p:sldId id="318" r:id="rId15"/>
    <p:sldId id="823" r:id="rId16"/>
    <p:sldId id="822" r:id="rId17"/>
    <p:sldId id="320" r:id="rId18"/>
    <p:sldId id="798" r:id="rId19"/>
    <p:sldId id="799" r:id="rId20"/>
    <p:sldId id="824" r:id="rId21"/>
    <p:sldId id="825" r:id="rId22"/>
    <p:sldId id="800" r:id="rId23"/>
    <p:sldId id="801" r:id="rId24"/>
    <p:sldId id="802" r:id="rId25"/>
    <p:sldId id="804" r:id="rId26"/>
    <p:sldId id="806" r:id="rId27"/>
    <p:sldId id="805" r:id="rId28"/>
    <p:sldId id="803" r:id="rId29"/>
    <p:sldId id="853" r:id="rId30"/>
    <p:sldId id="807" r:id="rId31"/>
    <p:sldId id="809" r:id="rId32"/>
    <p:sldId id="810" r:id="rId33"/>
    <p:sldId id="811" r:id="rId34"/>
    <p:sldId id="812" r:id="rId35"/>
    <p:sldId id="813" r:id="rId36"/>
    <p:sldId id="854" r:id="rId37"/>
    <p:sldId id="818" r:id="rId38"/>
    <p:sldId id="820" r:id="rId39"/>
    <p:sldId id="821" r:id="rId40"/>
    <p:sldId id="819" r:id="rId41"/>
    <p:sldId id="815" r:id="rId42"/>
    <p:sldId id="808" r:id="rId43"/>
    <p:sldId id="829" r:id="rId44"/>
    <p:sldId id="826" r:id="rId45"/>
    <p:sldId id="827" r:id="rId46"/>
    <p:sldId id="832" r:id="rId47"/>
    <p:sldId id="850" r:id="rId48"/>
    <p:sldId id="836" r:id="rId49"/>
    <p:sldId id="837" r:id="rId50"/>
    <p:sldId id="838" r:id="rId51"/>
    <p:sldId id="839" r:id="rId52"/>
    <p:sldId id="840" r:id="rId53"/>
    <p:sldId id="841" r:id="rId54"/>
    <p:sldId id="834" r:id="rId55"/>
    <p:sldId id="842" r:id="rId56"/>
    <p:sldId id="843" r:id="rId57"/>
    <p:sldId id="844" r:id="rId58"/>
    <p:sldId id="845" r:id="rId59"/>
    <p:sldId id="846" r:id="rId60"/>
    <p:sldId id="847" r:id="rId61"/>
    <p:sldId id="848" r:id="rId62"/>
    <p:sldId id="849" r:id="rId63"/>
    <p:sldId id="830" r:id="rId64"/>
    <p:sldId id="856" r:id="rId65"/>
    <p:sldId id="857" r:id="rId66"/>
    <p:sldId id="858" r:id="rId67"/>
    <p:sldId id="851" r:id="rId68"/>
    <p:sldId id="792"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89346" autoAdjust="0"/>
  </p:normalViewPr>
  <p:slideViewPr>
    <p:cSldViewPr snapToGrid="0">
      <p:cViewPr>
        <p:scale>
          <a:sx n="104" d="100"/>
          <a:sy n="104" d="100"/>
        </p:scale>
        <p:origin x="-624" y="-28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HAZEERA MYSARA BINTE OTHMAN" userId="a6d1bae8-4fcc-4996-818b-bb0706769119" providerId="ADAL" clId="{33AA6AF4-CC8A-4E61-9462-F025673D9CCB}"/>
    <pc:docChg chg="modSld">
      <pc:chgData name="NUR HAZEERA MYSARA BINTE OTHMAN" userId="a6d1bae8-4fcc-4996-818b-bb0706769119" providerId="ADAL" clId="{33AA6AF4-CC8A-4E61-9462-F025673D9CCB}" dt="2025-10-29T07:19:03.281" v="14" actId="20577"/>
      <pc:docMkLst>
        <pc:docMk/>
      </pc:docMkLst>
      <pc:sldChg chg="modSp mod">
        <pc:chgData name="NUR HAZEERA MYSARA BINTE OTHMAN" userId="a6d1bae8-4fcc-4996-818b-bb0706769119" providerId="ADAL" clId="{33AA6AF4-CC8A-4E61-9462-F025673D9CCB}" dt="2025-10-29T07:19:03.281" v="14" actId="20577"/>
        <pc:sldMkLst>
          <pc:docMk/>
          <pc:sldMk cId="1151011173" sldId="809"/>
        </pc:sldMkLst>
        <pc:graphicFrameChg chg="modGraphic">
          <ac:chgData name="NUR HAZEERA MYSARA BINTE OTHMAN" userId="a6d1bae8-4fcc-4996-818b-bb0706769119" providerId="ADAL" clId="{33AA6AF4-CC8A-4E61-9462-F025673D9CCB}" dt="2025-10-29T07:19:03.281" v="14" actId="20577"/>
          <ac:graphicFrameMkLst>
            <pc:docMk/>
            <pc:sldMk cId="1151011173" sldId="809"/>
            <ac:graphicFrameMk id="4" creationId="{E4AB0D2B-F741-47E3-BE50-02E5B93B844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65C12-BC72-41F1-8FD7-C73E9499E8A8}" type="datetimeFigureOut">
              <a:rPr lang="en-SG" smtClean="0"/>
              <a:t>29/10/2025</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E7EF41-D5E5-46BF-9206-0EDF59036608}" type="slidenum">
              <a:rPr lang="en-SG" smtClean="0"/>
              <a:t>‹#›</a:t>
            </a:fld>
            <a:endParaRPr lang="en-SG"/>
          </a:p>
        </p:txBody>
      </p:sp>
    </p:spTree>
    <p:extLst>
      <p:ext uri="{BB962C8B-B14F-4D97-AF65-F5344CB8AC3E}">
        <p14:creationId xmlns:p14="http://schemas.microsoft.com/office/powerpoint/2010/main" val="1710977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a:t>
            </a:fld>
            <a:endParaRPr lang="en-SG"/>
          </a:p>
        </p:txBody>
      </p:sp>
    </p:spTree>
    <p:extLst>
      <p:ext uri="{BB962C8B-B14F-4D97-AF65-F5344CB8AC3E}">
        <p14:creationId xmlns:p14="http://schemas.microsoft.com/office/powerpoint/2010/main" val="1816042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10</a:t>
            </a:fld>
            <a:endParaRPr lang="en-SG"/>
          </a:p>
        </p:txBody>
      </p:sp>
    </p:spTree>
    <p:extLst>
      <p:ext uri="{BB962C8B-B14F-4D97-AF65-F5344CB8AC3E}">
        <p14:creationId xmlns:p14="http://schemas.microsoft.com/office/powerpoint/2010/main" val="550078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0DBC4-6028-D9BF-1FE2-8AB92A943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4CE28-EAAB-012D-010C-3223C1D2A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B0CC9-93D9-14EE-2982-BBD115EA5A6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3F3F75E-E0A1-B9C8-1013-254F64575C3C}"/>
              </a:ext>
            </a:extLst>
          </p:cNvPr>
          <p:cNvSpPr>
            <a:spLocks noGrp="1"/>
          </p:cNvSpPr>
          <p:nvPr>
            <p:ph type="sldNum" sz="quarter" idx="5"/>
          </p:nvPr>
        </p:nvSpPr>
        <p:spPr/>
        <p:txBody>
          <a:bodyPr/>
          <a:lstStyle/>
          <a:p>
            <a:fld id="{5FE7EF41-D5E5-46BF-9206-0EDF59036608}" type="slidenum">
              <a:rPr lang="en-SG" smtClean="0"/>
              <a:t>13</a:t>
            </a:fld>
            <a:endParaRPr lang="en-SG"/>
          </a:p>
        </p:txBody>
      </p:sp>
    </p:spTree>
    <p:extLst>
      <p:ext uri="{BB962C8B-B14F-4D97-AF65-F5344CB8AC3E}">
        <p14:creationId xmlns:p14="http://schemas.microsoft.com/office/powerpoint/2010/main" val="3504477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14</a:t>
            </a:fld>
            <a:endParaRPr lang="en-SG"/>
          </a:p>
        </p:txBody>
      </p:sp>
    </p:spTree>
    <p:extLst>
      <p:ext uri="{BB962C8B-B14F-4D97-AF65-F5344CB8AC3E}">
        <p14:creationId xmlns:p14="http://schemas.microsoft.com/office/powerpoint/2010/main" val="377333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16</a:t>
            </a:fld>
            <a:endParaRPr lang="en-SG"/>
          </a:p>
        </p:txBody>
      </p:sp>
    </p:spTree>
    <p:extLst>
      <p:ext uri="{BB962C8B-B14F-4D97-AF65-F5344CB8AC3E}">
        <p14:creationId xmlns:p14="http://schemas.microsoft.com/office/powerpoint/2010/main" val="879678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18</a:t>
            </a:fld>
            <a:endParaRPr lang="en-SG"/>
          </a:p>
        </p:txBody>
      </p:sp>
    </p:spTree>
    <p:extLst>
      <p:ext uri="{BB962C8B-B14F-4D97-AF65-F5344CB8AC3E}">
        <p14:creationId xmlns:p14="http://schemas.microsoft.com/office/powerpoint/2010/main" val="1153832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29</a:t>
            </a:fld>
            <a:endParaRPr lang="en-SG"/>
          </a:p>
        </p:txBody>
      </p:sp>
    </p:spTree>
    <p:extLst>
      <p:ext uri="{BB962C8B-B14F-4D97-AF65-F5344CB8AC3E}">
        <p14:creationId xmlns:p14="http://schemas.microsoft.com/office/powerpoint/2010/main" val="906670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30</a:t>
            </a:fld>
            <a:endParaRPr lang="en-SG"/>
          </a:p>
        </p:txBody>
      </p:sp>
    </p:spTree>
    <p:extLst>
      <p:ext uri="{BB962C8B-B14F-4D97-AF65-F5344CB8AC3E}">
        <p14:creationId xmlns:p14="http://schemas.microsoft.com/office/powerpoint/2010/main" val="1812601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31</a:t>
            </a:fld>
            <a:endParaRPr lang="en-SG"/>
          </a:p>
        </p:txBody>
      </p:sp>
    </p:spTree>
    <p:extLst>
      <p:ext uri="{BB962C8B-B14F-4D97-AF65-F5344CB8AC3E}">
        <p14:creationId xmlns:p14="http://schemas.microsoft.com/office/powerpoint/2010/main" val="2241046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6E9F-0A2F-EB4B-5F3E-3DEA1CA4F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65D95-5941-B710-F74E-65ED4E282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18CBD-5876-3CFD-3811-307DAB502C1E}"/>
              </a:ext>
            </a:extLst>
          </p:cNvPr>
          <p:cNvSpPr>
            <a:spLocks noGrp="1"/>
          </p:cNvSpPr>
          <p:nvPr>
            <p:ph type="body" idx="1"/>
          </p:nvPr>
        </p:nvSpPr>
        <p:spPr/>
        <p:txBody>
          <a:bodyPr/>
          <a:lstStyle/>
          <a:p>
            <a:pPr marL="0" indent="0">
              <a:buNone/>
            </a:pPr>
            <a:endParaRPr lang="en-SG" dirty="0"/>
          </a:p>
        </p:txBody>
      </p:sp>
      <p:sp>
        <p:nvSpPr>
          <p:cNvPr id="4" name="Slide Number Placeholder 3">
            <a:extLst>
              <a:ext uri="{FF2B5EF4-FFF2-40B4-BE49-F238E27FC236}">
                <a16:creationId xmlns:a16="http://schemas.microsoft.com/office/drawing/2014/main" id="{7BA1C6AB-893E-BC1E-091B-31CA21EACF25}"/>
              </a:ext>
            </a:extLst>
          </p:cNvPr>
          <p:cNvSpPr>
            <a:spLocks noGrp="1"/>
          </p:cNvSpPr>
          <p:nvPr>
            <p:ph type="sldNum" sz="quarter" idx="5"/>
          </p:nvPr>
        </p:nvSpPr>
        <p:spPr/>
        <p:txBody>
          <a:bodyPr/>
          <a:lstStyle/>
          <a:p>
            <a:fld id="{5FE7EF41-D5E5-46BF-9206-0EDF59036608}" type="slidenum">
              <a:rPr lang="en-SG" smtClean="0"/>
              <a:t>36</a:t>
            </a:fld>
            <a:endParaRPr lang="en-SG"/>
          </a:p>
        </p:txBody>
      </p:sp>
    </p:spTree>
    <p:extLst>
      <p:ext uri="{BB962C8B-B14F-4D97-AF65-F5344CB8AC3E}">
        <p14:creationId xmlns:p14="http://schemas.microsoft.com/office/powerpoint/2010/main" val="2932162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8B58-1365-F2DE-C426-CDA4DC6F7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EE408-2F52-A1C0-7A32-0C8F3C87B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0106E-8C1B-6B65-C105-4822DBDFABD8}"/>
              </a:ext>
            </a:extLst>
          </p:cNvPr>
          <p:cNvSpPr>
            <a:spLocks noGrp="1"/>
          </p:cNvSpPr>
          <p:nvPr>
            <p:ph type="body" idx="1"/>
          </p:nvPr>
        </p:nvSpPr>
        <p:spPr/>
        <p:txBody>
          <a:bodyPr/>
          <a:lstStyle/>
          <a:p>
            <a:pPr marL="0" indent="0">
              <a:buNone/>
            </a:pPr>
            <a:endParaRPr lang="en-SG" dirty="0"/>
          </a:p>
        </p:txBody>
      </p:sp>
      <p:sp>
        <p:nvSpPr>
          <p:cNvPr id="4" name="Slide Number Placeholder 3">
            <a:extLst>
              <a:ext uri="{FF2B5EF4-FFF2-40B4-BE49-F238E27FC236}">
                <a16:creationId xmlns:a16="http://schemas.microsoft.com/office/drawing/2014/main" id="{245B3F84-61D2-6052-6994-59D7303A68B1}"/>
              </a:ext>
            </a:extLst>
          </p:cNvPr>
          <p:cNvSpPr>
            <a:spLocks noGrp="1"/>
          </p:cNvSpPr>
          <p:nvPr>
            <p:ph type="sldNum" sz="quarter" idx="5"/>
          </p:nvPr>
        </p:nvSpPr>
        <p:spPr/>
        <p:txBody>
          <a:bodyPr/>
          <a:lstStyle/>
          <a:p>
            <a:fld id="{5FE7EF41-D5E5-46BF-9206-0EDF59036608}" type="slidenum">
              <a:rPr lang="en-SG" smtClean="0"/>
              <a:t>37</a:t>
            </a:fld>
            <a:endParaRPr lang="en-SG"/>
          </a:p>
        </p:txBody>
      </p:sp>
    </p:spTree>
    <p:extLst>
      <p:ext uri="{BB962C8B-B14F-4D97-AF65-F5344CB8AC3E}">
        <p14:creationId xmlns:p14="http://schemas.microsoft.com/office/powerpoint/2010/main" val="1089885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40</a:t>
            </a:fld>
            <a:endParaRPr lang="en-SG"/>
          </a:p>
        </p:txBody>
      </p:sp>
    </p:spTree>
    <p:extLst>
      <p:ext uri="{BB962C8B-B14F-4D97-AF65-F5344CB8AC3E}">
        <p14:creationId xmlns:p14="http://schemas.microsoft.com/office/powerpoint/2010/main" val="3843726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EB76-5901-6448-F2F1-9F2F3433E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7D0F3-03AC-678F-96AB-22A7BA276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2C818-4E11-512D-D77A-941A85FDF55E}"/>
              </a:ext>
            </a:extLst>
          </p:cNvPr>
          <p:cNvSpPr>
            <a:spLocks noGrp="1"/>
          </p:cNvSpPr>
          <p:nvPr>
            <p:ph type="body" idx="1"/>
          </p:nvPr>
        </p:nvSpPr>
        <p:spPr/>
        <p:txBody>
          <a:bodyPr/>
          <a:lstStyle/>
          <a:p>
            <a:pPr marL="0" indent="0">
              <a:buNone/>
            </a:pPr>
            <a:endParaRPr lang="en-SG" dirty="0"/>
          </a:p>
        </p:txBody>
      </p:sp>
      <p:sp>
        <p:nvSpPr>
          <p:cNvPr id="4" name="Slide Number Placeholder 3">
            <a:extLst>
              <a:ext uri="{FF2B5EF4-FFF2-40B4-BE49-F238E27FC236}">
                <a16:creationId xmlns:a16="http://schemas.microsoft.com/office/drawing/2014/main" id="{5223C3E3-769A-8407-E45E-E98F18FBA97D}"/>
              </a:ext>
            </a:extLst>
          </p:cNvPr>
          <p:cNvSpPr>
            <a:spLocks noGrp="1"/>
          </p:cNvSpPr>
          <p:nvPr>
            <p:ph type="sldNum" sz="quarter" idx="5"/>
          </p:nvPr>
        </p:nvSpPr>
        <p:spPr/>
        <p:txBody>
          <a:bodyPr/>
          <a:lstStyle/>
          <a:p>
            <a:fld id="{5FE7EF41-D5E5-46BF-9206-0EDF59036608}" type="slidenum">
              <a:rPr lang="en-SG" smtClean="0"/>
              <a:t>41</a:t>
            </a:fld>
            <a:endParaRPr lang="en-SG"/>
          </a:p>
        </p:txBody>
      </p:sp>
    </p:spTree>
    <p:extLst>
      <p:ext uri="{BB962C8B-B14F-4D97-AF65-F5344CB8AC3E}">
        <p14:creationId xmlns:p14="http://schemas.microsoft.com/office/powerpoint/2010/main" val="2366895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FE7EF41-D5E5-46BF-9206-0EDF59036608}" type="slidenum">
              <a:rPr lang="en-SG" smtClean="0"/>
              <a:t>43</a:t>
            </a:fld>
            <a:endParaRPr lang="en-SG"/>
          </a:p>
        </p:txBody>
      </p:sp>
    </p:spTree>
    <p:extLst>
      <p:ext uri="{BB962C8B-B14F-4D97-AF65-F5344CB8AC3E}">
        <p14:creationId xmlns:p14="http://schemas.microsoft.com/office/powerpoint/2010/main" val="1132268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3.xml"/><Relationship Id="rId5" Type="http://schemas.openxmlformats.org/officeDocument/2006/relationships/image" Target="../media/image10.png"/><Relationship Id="rId4"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3.xml"/><Relationship Id="rId5" Type="http://schemas.openxmlformats.org/officeDocument/2006/relationships/image" Target="../media/image10.png"/><Relationship Id="rId4"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age">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766"/>
            <a:ext cx="9144000" cy="6858000"/>
          </a:xfrm>
          <a:prstGeom prst="rect">
            <a:avLst/>
          </a:prstGeom>
        </p:spPr>
      </p:pic>
      <p:sp>
        <p:nvSpPr>
          <p:cNvPr id="2" name="Title 1"/>
          <p:cNvSpPr>
            <a:spLocks noGrp="1"/>
          </p:cNvSpPr>
          <p:nvPr>
            <p:ph type="ctrTitle" hasCustomPrompt="1"/>
          </p:nvPr>
        </p:nvSpPr>
        <p:spPr>
          <a:xfrm>
            <a:off x="1044004" y="1935048"/>
            <a:ext cx="5104098" cy="1360445"/>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6" name="Text Placeholder 5"/>
          <p:cNvSpPr>
            <a:spLocks noGrp="1"/>
          </p:cNvSpPr>
          <p:nvPr>
            <p:ph type="body" sz="quarter" idx="10" hasCustomPrompt="1"/>
          </p:nvPr>
        </p:nvSpPr>
        <p:spPr>
          <a:xfrm>
            <a:off x="1044004" y="3295487"/>
            <a:ext cx="5104098" cy="498475"/>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10242" name="Picture 2" descr="C:\Documents and Settings\xinjie\Desktop\RPSG Stuffs\Letterheads_hires\letterhead_logos.png"/>
          <p:cNvPicPr>
            <a:picLocks noChangeAspect="1" noChangeArrowheads="1"/>
          </p:cNvPicPr>
          <p:nvPr/>
        </p:nvPicPr>
        <p:blipFill>
          <a:blip r:embed="rId3"/>
          <a:srcRect/>
          <a:stretch>
            <a:fillRect/>
          </a:stretch>
        </p:blipFill>
        <p:spPr bwMode="auto">
          <a:xfrm>
            <a:off x="162563" y="6207760"/>
            <a:ext cx="4715969" cy="505426"/>
          </a:xfrm>
          <a:prstGeom prst="rect">
            <a:avLst/>
          </a:prstGeom>
          <a:noFill/>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684812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Title 1"/>
          <p:cNvSpPr>
            <a:spLocks noGrp="1"/>
          </p:cNvSpPr>
          <p:nvPr>
            <p:ph type="ctrTitle" hasCustomPrompt="1"/>
          </p:nvPr>
        </p:nvSpPr>
        <p:spPr>
          <a:xfrm>
            <a:off x="929704" y="2542980"/>
            <a:ext cx="5104098" cy="1236768"/>
          </a:xfrm>
          <a:prstGeom prst="rect">
            <a:avLst/>
          </a:prstGeom>
        </p:spPr>
        <p:txBody>
          <a:bodyPr anchor="t" anchorCtr="0">
            <a:normAutofit/>
          </a:bodyPr>
          <a:lstStyle>
            <a:lvl1pPr marL="0" algn="l">
              <a:lnSpc>
                <a:spcPts val="3750"/>
              </a:lnSpc>
              <a:spcBef>
                <a:spcPts val="0"/>
              </a:spcBef>
              <a:defRPr sz="4125" baseline="0">
                <a:solidFill>
                  <a:schemeClr val="bg1">
                    <a:lumMod val="50000"/>
                  </a:schemeClr>
                </a:solidFill>
                <a:latin typeface="Arial"/>
                <a:cs typeface="Arial"/>
              </a:defRPr>
            </a:lvl1pPr>
          </a:lstStyle>
          <a:p>
            <a:r>
              <a:rPr lang="en-US"/>
              <a:t>COVER PAGE</a:t>
            </a:r>
            <a:br>
              <a:rPr lang="en-US"/>
            </a:br>
            <a:r>
              <a:rPr lang="en-US"/>
              <a:t>TEMPLATE</a:t>
            </a:r>
          </a:p>
        </p:txBody>
      </p:sp>
      <p:sp>
        <p:nvSpPr>
          <p:cNvPr id="12" name="Text Placeholder 5"/>
          <p:cNvSpPr>
            <a:spLocks noGrp="1"/>
          </p:cNvSpPr>
          <p:nvPr>
            <p:ph type="body" sz="quarter" idx="10" hasCustomPrompt="1"/>
          </p:nvPr>
        </p:nvSpPr>
        <p:spPr>
          <a:xfrm>
            <a:off x="929704" y="3813451"/>
            <a:ext cx="5104098" cy="453159"/>
          </a:xfrm>
          <a:prstGeom prst="rect">
            <a:avLst/>
          </a:prstGeom>
        </p:spPr>
        <p:txBody>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stStyle>
          <a:p>
            <a:pPr lvl="0"/>
            <a:r>
              <a:rPr lang="en-US"/>
              <a:t>Sub header</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082253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 y="0"/>
            <a:ext cx="9143999" cy="6858000"/>
          </a:xfrm>
          <a:prstGeom prst="rect">
            <a:avLst/>
          </a:prstGeom>
        </p:spPr>
      </p:pic>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275184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cxnSp>
        <p:nvCxnSpPr>
          <p:cNvPr id="7" name="Straight Connector 6"/>
          <p:cNvCxnSpPr/>
          <p:nvPr/>
        </p:nvCxnSpPr>
        <p:spPr>
          <a:xfrm flipV="1">
            <a:off x="665610" y="865309"/>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8" name="Picture 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2387910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hart Placeholder 9"/>
          <p:cNvSpPr>
            <a:spLocks noGrp="1"/>
          </p:cNvSpPr>
          <p:nvPr>
            <p:ph type="chart" sz="quarter" idx="14"/>
          </p:nvPr>
        </p:nvSpPr>
        <p:spPr>
          <a:xfrm>
            <a:off x="4927600" y="1651000"/>
            <a:ext cx="3558606" cy="3759200"/>
          </a:xfrm>
          <a:prstGeom prst="rect">
            <a:avLst/>
          </a:prstGeom>
        </p:spPr>
        <p:txBody>
          <a:bodyPr/>
          <a:lstStyle>
            <a:lvl1pPr>
              <a:defRPr sz="1800"/>
            </a:lvl1pPr>
          </a:lstStyle>
          <a:p>
            <a:r>
              <a:rPr lang="en-US"/>
              <a:t>Click icon to add chart</a:t>
            </a:r>
            <a:endParaRPr lang="en-GB"/>
          </a:p>
        </p:txBody>
      </p:sp>
      <p:pic>
        <p:nvPicPr>
          <p:cNvPr id="9" name="Picture 8"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49053"/>
            <a:ext cx="1248980" cy="404131"/>
          </a:xfrm>
          <a:prstGeom prst="rect">
            <a:avLst/>
          </a:prstGeom>
        </p:spPr>
      </p:pic>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7" name="Picture 16"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62918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197293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able Placeholder 8"/>
          <p:cNvSpPr>
            <a:spLocks noGrp="1"/>
          </p:cNvSpPr>
          <p:nvPr>
            <p:ph type="tbl" sz="quarter" idx="14"/>
          </p:nvPr>
        </p:nvSpPr>
        <p:spPr>
          <a:xfrm>
            <a:off x="4851403" y="1651000"/>
            <a:ext cx="3635375" cy="3759200"/>
          </a:xfrm>
          <a:prstGeom prst="rect">
            <a:avLst/>
          </a:prstGeom>
        </p:spPr>
        <p:txBody>
          <a:bodyPr/>
          <a:lstStyle>
            <a:lvl1pPr>
              <a:defRPr sz="1800"/>
            </a:lvl1pPr>
          </a:lstStyle>
          <a:p>
            <a:r>
              <a:rPr lang="en-US"/>
              <a:t>Click icon to add table</a:t>
            </a:r>
            <a:endParaRPr lang="en-GB"/>
          </a:p>
        </p:txBody>
      </p:sp>
      <p:sp>
        <p:nvSpPr>
          <p:cNvPr id="13"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4" name="Picture 13"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8928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cxnSp>
        <p:nvCxnSpPr>
          <p:cNvPr id="6" name="Straight Connector 5"/>
          <p:cNvCxnSpPr/>
          <p:nvPr/>
        </p:nvCxnSpPr>
        <p:spPr>
          <a:xfrm flipV="1">
            <a:off x="665610" y="1496856"/>
            <a:ext cx="7781518" cy="1097"/>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2" name="Picture 11"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89690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5" name="Picture 4"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121008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0" y="6"/>
            <a:ext cx="9144000" cy="5786651"/>
          </a:xfrm>
          <a:prstGeom prst="rect">
            <a:avLst/>
          </a:prstGeom>
          <a:gradFill>
            <a:gsLst>
              <a:gs pos="100000">
                <a:schemeClr val="bg1">
                  <a:lumMod val="65000"/>
                </a:schemeClr>
              </a:gs>
              <a:gs pos="0">
                <a:schemeClr val="bg1"/>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6" name="Picture 5"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154269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Text Placeholder 9"/>
          <p:cNvSpPr>
            <a:spLocks noGrp="1"/>
          </p:cNvSpPr>
          <p:nvPr>
            <p:ph type="body" sz="quarter" idx="13" hasCustomPrompt="1"/>
          </p:nvPr>
        </p:nvSpPr>
        <p:spPr>
          <a:xfrm>
            <a:off x="914400" y="2697163"/>
            <a:ext cx="7571806" cy="3025262"/>
          </a:xfrm>
          <a:prstGeom prst="rect">
            <a:avLst/>
          </a:prstGeom>
        </p:spPr>
        <p:txBody>
          <a:bodyPr/>
          <a:lstStyle>
            <a:lvl1pPr marL="0" indent="0">
              <a:buFontTx/>
              <a:buNone/>
              <a:defRPr sz="3000">
                <a:solidFill>
                  <a:schemeClr val="bg1">
                    <a:lumMod val="50000"/>
                  </a:schemeClr>
                </a:solidFill>
              </a:defRPr>
            </a:lvl1pPr>
            <a:lvl2pPr marL="0" indent="0">
              <a:buFontTx/>
              <a:buNone/>
              <a:defRPr sz="1800" b="0">
                <a:solidFill>
                  <a:srgbClr val="E6550B"/>
                </a:solidFill>
              </a:defRPr>
            </a:lvl2pPr>
            <a:lvl3pPr marL="685800" indent="0">
              <a:buNone/>
              <a:defRPr>
                <a:solidFill>
                  <a:schemeClr val="bg1">
                    <a:lumMod val="50000"/>
                  </a:schemeClr>
                </a:solidFill>
              </a:defRPr>
            </a:lvl3pPr>
            <a:lvl4pPr marL="1028700" indent="0">
              <a:buNone/>
              <a:defRPr>
                <a:solidFill>
                  <a:schemeClr val="bg1">
                    <a:lumMod val="50000"/>
                  </a:schemeClr>
                </a:solidFill>
              </a:defRPr>
            </a:lvl4pPr>
            <a:lvl5pPr marL="1371600" indent="0">
              <a:buNone/>
              <a:defRPr>
                <a:solidFill>
                  <a:schemeClr val="bg1">
                    <a:lumMod val="50000"/>
                  </a:schemeClr>
                </a:solidFill>
              </a:defRPr>
            </a:lvl5pPr>
          </a:lstStyle>
          <a:p>
            <a:pPr lvl="0"/>
            <a:r>
              <a:rPr lang="en-US"/>
              <a:t>THANK YOU!</a:t>
            </a:r>
          </a:p>
          <a:p>
            <a:pPr lvl="1"/>
            <a:r>
              <a:rPr lang="en-US"/>
              <a:t>Second level (speaker name)</a:t>
            </a:r>
            <a:endParaRPr lang="en-GB"/>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1945" y="163771"/>
            <a:ext cx="2318661" cy="940415"/>
          </a:xfrm>
          <a:prstGeom prst="rect">
            <a:avLst/>
          </a:prstGeom>
        </p:spPr>
      </p:pic>
    </p:spTree>
    <p:extLst>
      <p:ext uri="{BB962C8B-B14F-4D97-AF65-F5344CB8AC3E}">
        <p14:creationId xmlns:p14="http://schemas.microsoft.com/office/powerpoint/2010/main" val="1522800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241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97900">
            <a:off x="-371953" y="-479031"/>
            <a:ext cx="4518775" cy="2717836"/>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5"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6" name="Picture 15"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Tree>
    <p:extLst>
      <p:ext uri="{BB962C8B-B14F-4D97-AF65-F5344CB8AC3E}">
        <p14:creationId xmlns:p14="http://schemas.microsoft.com/office/powerpoint/2010/main" val="3499430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6"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sp>
        <p:nvSpPr>
          <p:cNvPr id="17"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35437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ight Triangle 5"/>
          <p:cNvSpPr/>
          <p:nvPr/>
        </p:nvSpPr>
        <p:spPr>
          <a:xfrm rot="10800000">
            <a:off x="6630884" y="0"/>
            <a:ext cx="2506282" cy="768952"/>
          </a:xfrm>
          <a:prstGeom prst="rtTriangle">
            <a:avLst/>
          </a:prstGeom>
          <a:solidFill>
            <a:srgbClr val="DC4405">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1" name="Title 1"/>
          <p:cNvSpPr txBox="1">
            <a:spLocks/>
          </p:cNvSpPr>
          <p:nvPr/>
        </p:nvSpPr>
        <p:spPr>
          <a:xfrm>
            <a:off x="1504337" y="175322"/>
            <a:ext cx="6046839" cy="311041"/>
          </a:xfrm>
          <a:prstGeom prst="rect">
            <a:avLst/>
          </a:prstGeom>
        </p:spPr>
        <p:txBody>
          <a:bodyPr vert="horz" lIns="66866" tIns="33433" rIns="66866" bIns="33433" rtlCol="0" anchor="ctr">
            <a:noAutofit/>
          </a:bodyPr>
          <a:lstStyle>
            <a:lvl1pPr algn="ctr" defTabSz="2952323" rtl="0" eaLnBrk="1" latinLnBrk="0" hangingPunct="1">
              <a:spcBef>
                <a:spcPct val="0"/>
              </a:spcBef>
              <a:buNone/>
              <a:defRPr sz="9800" b="1" kern="1200">
                <a:solidFill>
                  <a:schemeClr val="tx1"/>
                </a:solidFill>
                <a:latin typeface="Arial" pitchFamily="34" charset="0"/>
                <a:ea typeface="+mj-ea"/>
                <a:cs typeface="Arial" pitchFamily="34" charset="0"/>
              </a:defRPr>
            </a:lvl1pPr>
          </a:lstStyle>
          <a:p>
            <a:r>
              <a:rPr lang="en-US" sz="1500" baseline="0">
                <a:solidFill>
                  <a:srgbClr val="DC4405"/>
                </a:solidFill>
                <a:latin typeface="Verdana" panose="020B0604030504040204" pitchFamily="34" charset="0"/>
              </a:rPr>
              <a:t>Diploma in Financial Technology ( DFT ) </a:t>
            </a:r>
          </a:p>
        </p:txBody>
      </p:sp>
      <p:sp>
        <p:nvSpPr>
          <p:cNvPr id="12"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pic>
        <p:nvPicPr>
          <p:cNvPr id="13" name="Picture 12"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2639" y="6410238"/>
            <a:ext cx="1248980" cy="404131"/>
          </a:xfrm>
          <a:prstGeom prst="rect">
            <a:avLst/>
          </a:prstGeom>
        </p:spPr>
      </p:pic>
      <p:sp>
        <p:nvSpPr>
          <p:cNvPr id="5" name="Right Triangle 4"/>
          <p:cNvSpPr/>
          <p:nvPr/>
        </p:nvSpPr>
        <p:spPr>
          <a:xfrm rot="5400000" flipV="1">
            <a:off x="7451609" y="926794"/>
            <a:ext cx="2602162" cy="768952"/>
          </a:xfrm>
          <a:prstGeom prst="rtTriangle">
            <a:avLst/>
          </a:prstGeom>
          <a:solidFill>
            <a:srgbClr val="F097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343"/>
          </a:p>
        </p:txBody>
      </p:sp>
      <p:sp>
        <p:nvSpPr>
          <p:cNvPr id="14" name="Title 1"/>
          <p:cNvSpPr>
            <a:spLocks noGrp="1"/>
          </p:cNvSpPr>
          <p:nvPr>
            <p:ph type="title"/>
          </p:nvPr>
        </p:nvSpPr>
        <p:spPr>
          <a:xfrm>
            <a:off x="593655" y="661673"/>
            <a:ext cx="8229600" cy="1143000"/>
          </a:xfrm>
          <a:prstGeom prst="rect">
            <a:avLst/>
          </a:prstGeom>
        </p:spPr>
        <p:txBody>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444265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0445-D9C3-26FB-219C-DF817F72DAB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SG"/>
          </a:p>
        </p:txBody>
      </p:sp>
      <p:sp>
        <p:nvSpPr>
          <p:cNvPr id="3" name="Subtitle 2">
            <a:extLst>
              <a:ext uri="{FF2B5EF4-FFF2-40B4-BE49-F238E27FC236}">
                <a16:creationId xmlns:a16="http://schemas.microsoft.com/office/drawing/2014/main" id="{08CAF6A0-BF68-764B-3DB8-30A975A5C0B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776447A-E216-27D7-15AB-32BDA6358D72}"/>
              </a:ext>
            </a:extLst>
          </p:cNvPr>
          <p:cNvSpPr>
            <a:spLocks noGrp="1"/>
          </p:cNvSpPr>
          <p:nvPr>
            <p:ph type="dt" sz="half" idx="10"/>
          </p:nvPr>
        </p:nvSpPr>
        <p:spPr/>
        <p:txBody>
          <a:bodyPr/>
          <a:lstStyle/>
          <a:p>
            <a:fld id="{280FCFD0-F4FD-4C13-B227-12969CAB87ED}" type="datetimeFigureOut">
              <a:rPr lang="en-SG" smtClean="0"/>
              <a:t>29/10/2025</a:t>
            </a:fld>
            <a:endParaRPr lang="en-SG"/>
          </a:p>
        </p:txBody>
      </p:sp>
      <p:sp>
        <p:nvSpPr>
          <p:cNvPr id="5" name="Footer Placeholder 4">
            <a:extLst>
              <a:ext uri="{FF2B5EF4-FFF2-40B4-BE49-F238E27FC236}">
                <a16:creationId xmlns:a16="http://schemas.microsoft.com/office/drawing/2014/main" id="{01664C34-AE88-16A1-E787-4DBC3625027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26BA192-5B6C-85B9-6164-AE99A9109846}"/>
              </a:ext>
            </a:extLst>
          </p:cNvPr>
          <p:cNvSpPr>
            <a:spLocks noGrp="1"/>
          </p:cNvSpPr>
          <p:nvPr>
            <p:ph type="sldNum" sz="quarter" idx="12"/>
          </p:nvPr>
        </p:nvSpPr>
        <p:spPr/>
        <p:txBody>
          <a:bodyPr/>
          <a:lstStyle/>
          <a:p>
            <a:fld id="{ACA20C2D-4A31-4ED6-9152-754F5E2E4B3A}" type="slidenum">
              <a:rPr lang="en-SG" smtClean="0"/>
              <a:t>‹#›</a:t>
            </a:fld>
            <a:endParaRPr lang="en-SG"/>
          </a:p>
        </p:txBody>
      </p:sp>
    </p:spTree>
    <p:extLst>
      <p:ext uri="{BB962C8B-B14F-4D97-AF65-F5344CB8AC3E}">
        <p14:creationId xmlns:p14="http://schemas.microsoft.com/office/powerpoint/2010/main" val="260577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2384"/>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953"/>
            </a:lvl1pPr>
            <a:lvl2pPr marL="181655" indent="0" algn="ctr">
              <a:buNone/>
              <a:defRPr sz="795"/>
            </a:lvl2pPr>
            <a:lvl3pPr marL="363310" indent="0" algn="ctr">
              <a:buNone/>
              <a:defRPr sz="716"/>
            </a:lvl3pPr>
            <a:lvl4pPr marL="544965" indent="0" algn="ctr">
              <a:buNone/>
              <a:defRPr sz="636"/>
            </a:lvl4pPr>
            <a:lvl5pPr marL="726620" indent="0" algn="ctr">
              <a:buNone/>
              <a:defRPr sz="636"/>
            </a:lvl5pPr>
            <a:lvl6pPr marL="908275" indent="0" algn="ctr">
              <a:buNone/>
              <a:defRPr sz="636"/>
            </a:lvl6pPr>
            <a:lvl7pPr marL="1089930" indent="0" algn="ctr">
              <a:buNone/>
              <a:defRPr sz="636"/>
            </a:lvl7pPr>
            <a:lvl8pPr marL="1271585" indent="0" algn="ctr">
              <a:buNone/>
              <a:defRPr sz="636"/>
            </a:lvl8pPr>
            <a:lvl9pPr marL="1453240" indent="0" algn="ctr">
              <a:buNone/>
              <a:defRPr sz="636"/>
            </a:lvl9pPr>
          </a:lstStyle>
          <a:p>
            <a:r>
              <a:rPr lang="en-US"/>
              <a:t>Click to edit Master subtitle style</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40451872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964196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6"/>
            <a:ext cx="7886700" cy="2852737"/>
          </a:xfrm>
        </p:spPr>
        <p:txBody>
          <a:bodyPr anchor="b"/>
          <a:lstStyle>
            <a:lvl1pPr>
              <a:defRPr sz="2384"/>
            </a:lvl1pPr>
          </a:lstStyle>
          <a:p>
            <a:r>
              <a:rPr lang="en-US"/>
              <a:t>Click to edit Master title style</a:t>
            </a:r>
          </a:p>
        </p:txBody>
      </p:sp>
      <p:sp>
        <p:nvSpPr>
          <p:cNvPr id="3" name="Text Placeholder 2"/>
          <p:cNvSpPr>
            <a:spLocks noGrp="1"/>
          </p:cNvSpPr>
          <p:nvPr>
            <p:ph type="body" idx="1"/>
          </p:nvPr>
        </p:nvSpPr>
        <p:spPr>
          <a:xfrm>
            <a:off x="623888" y="4589471"/>
            <a:ext cx="7886700" cy="1500187"/>
          </a:xfrm>
        </p:spPr>
        <p:txBody>
          <a:bodyPr/>
          <a:lstStyle>
            <a:lvl1pPr marL="0" indent="0">
              <a:buNone/>
              <a:defRPr sz="953">
                <a:solidFill>
                  <a:schemeClr val="tx1"/>
                </a:solidFill>
              </a:defRPr>
            </a:lvl1pPr>
            <a:lvl2pPr marL="181655" indent="0">
              <a:buNone/>
              <a:defRPr sz="795">
                <a:solidFill>
                  <a:schemeClr val="tx1">
                    <a:tint val="75000"/>
                  </a:schemeClr>
                </a:solidFill>
              </a:defRPr>
            </a:lvl2pPr>
            <a:lvl3pPr marL="363310" indent="0">
              <a:buNone/>
              <a:defRPr sz="716">
                <a:solidFill>
                  <a:schemeClr val="tx1">
                    <a:tint val="75000"/>
                  </a:schemeClr>
                </a:solidFill>
              </a:defRPr>
            </a:lvl3pPr>
            <a:lvl4pPr marL="544965" indent="0">
              <a:buNone/>
              <a:defRPr sz="636">
                <a:solidFill>
                  <a:schemeClr val="tx1">
                    <a:tint val="75000"/>
                  </a:schemeClr>
                </a:solidFill>
              </a:defRPr>
            </a:lvl4pPr>
            <a:lvl5pPr marL="726620" indent="0">
              <a:buNone/>
              <a:defRPr sz="636">
                <a:solidFill>
                  <a:schemeClr val="tx1">
                    <a:tint val="75000"/>
                  </a:schemeClr>
                </a:solidFill>
              </a:defRPr>
            </a:lvl5pPr>
            <a:lvl6pPr marL="908275" indent="0">
              <a:buNone/>
              <a:defRPr sz="636">
                <a:solidFill>
                  <a:schemeClr val="tx1">
                    <a:tint val="75000"/>
                  </a:schemeClr>
                </a:solidFill>
              </a:defRPr>
            </a:lvl6pPr>
            <a:lvl7pPr marL="1089930" indent="0">
              <a:buNone/>
              <a:defRPr sz="636">
                <a:solidFill>
                  <a:schemeClr val="tx1">
                    <a:tint val="75000"/>
                  </a:schemeClr>
                </a:solidFill>
              </a:defRPr>
            </a:lvl7pPr>
            <a:lvl8pPr marL="1271585" indent="0">
              <a:buNone/>
              <a:defRPr sz="636">
                <a:solidFill>
                  <a:schemeClr val="tx1">
                    <a:tint val="75000"/>
                  </a:schemeClr>
                </a:solidFill>
              </a:defRPr>
            </a:lvl8pPr>
            <a:lvl9pPr marL="1453240" indent="0">
              <a:buNone/>
              <a:defRPr sz="63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568709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494851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9"/>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953" b="1"/>
            </a:lvl1pPr>
            <a:lvl2pPr marL="181655" indent="0">
              <a:buNone/>
              <a:defRPr sz="795" b="1"/>
            </a:lvl2pPr>
            <a:lvl3pPr marL="363310" indent="0">
              <a:buNone/>
              <a:defRPr sz="716" b="1"/>
            </a:lvl3pPr>
            <a:lvl4pPr marL="544965" indent="0">
              <a:buNone/>
              <a:defRPr sz="636" b="1"/>
            </a:lvl4pPr>
            <a:lvl5pPr marL="726620" indent="0">
              <a:buNone/>
              <a:defRPr sz="636" b="1"/>
            </a:lvl5pPr>
            <a:lvl6pPr marL="908275" indent="0">
              <a:buNone/>
              <a:defRPr sz="636" b="1"/>
            </a:lvl6pPr>
            <a:lvl7pPr marL="1089930" indent="0">
              <a:buNone/>
              <a:defRPr sz="636" b="1"/>
            </a:lvl7pPr>
            <a:lvl8pPr marL="1271585" indent="0">
              <a:buNone/>
              <a:defRPr sz="636" b="1"/>
            </a:lvl8pPr>
            <a:lvl9pPr marL="1453240" indent="0">
              <a:buNone/>
              <a:defRPr sz="636" b="1"/>
            </a:lvl9pPr>
          </a:lstStyle>
          <a:p>
            <a:pPr lvl="0"/>
            <a:r>
              <a:rPr lang="en-US"/>
              <a:t>Click to edit Master text styles</a:t>
            </a:r>
          </a:p>
        </p:txBody>
      </p:sp>
      <p:sp>
        <p:nvSpPr>
          <p:cNvPr id="6" name="Content Placeholder 5"/>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SG"/>
          </a:p>
        </p:txBody>
      </p:sp>
      <p:sp>
        <p:nvSpPr>
          <p:cNvPr id="8" name="Footer Placeholder 7"/>
          <p:cNvSpPr>
            <a:spLocks noGrp="1"/>
          </p:cNvSpPr>
          <p:nvPr>
            <p:ph type="ftr" sz="quarter" idx="11"/>
          </p:nvPr>
        </p:nvSpPr>
        <p:spPr/>
        <p:txBody>
          <a:bodyPr/>
          <a:lstStyle/>
          <a:p>
            <a:r>
              <a:rPr lang="en-SG"/>
              <a:t>C369 Financial Technologies</a:t>
            </a:r>
          </a:p>
        </p:txBody>
      </p:sp>
      <p:sp>
        <p:nvSpPr>
          <p:cNvPr id="9" name="Slide Number Placeholder 8"/>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18774873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SG"/>
          </a:p>
        </p:txBody>
      </p:sp>
      <p:sp>
        <p:nvSpPr>
          <p:cNvPr id="4" name="Footer Placeholder 3"/>
          <p:cNvSpPr>
            <a:spLocks noGrp="1"/>
          </p:cNvSpPr>
          <p:nvPr>
            <p:ph type="ftr" sz="quarter" idx="11"/>
          </p:nvPr>
        </p:nvSpPr>
        <p:spPr/>
        <p:txBody>
          <a:bodyPr/>
          <a:lstStyle/>
          <a:p>
            <a:r>
              <a:rPr lang="en-SG"/>
              <a:t>C369 Financial Technologies</a:t>
            </a:r>
          </a:p>
        </p:txBody>
      </p:sp>
      <p:sp>
        <p:nvSpPr>
          <p:cNvPr id="5" name="Slide Number Placeholder 4"/>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809338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SG"/>
          </a:p>
        </p:txBody>
      </p:sp>
      <p:sp>
        <p:nvSpPr>
          <p:cNvPr id="3" name="Footer Placeholder 2"/>
          <p:cNvSpPr>
            <a:spLocks noGrp="1"/>
          </p:cNvSpPr>
          <p:nvPr>
            <p:ph type="ftr" sz="quarter" idx="11"/>
          </p:nvPr>
        </p:nvSpPr>
        <p:spPr/>
        <p:txBody>
          <a:bodyPr/>
          <a:lstStyle/>
          <a:p>
            <a:r>
              <a:rPr lang="en-SG"/>
              <a:t>C369 Financial Technologies</a:t>
            </a:r>
          </a:p>
        </p:txBody>
      </p:sp>
      <p:sp>
        <p:nvSpPr>
          <p:cNvPr id="4" name="Slide Number Placeholder 3"/>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127549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Content Placeholder 2"/>
          <p:cNvSpPr>
            <a:spLocks noGrp="1"/>
          </p:cNvSpPr>
          <p:nvPr>
            <p:ph idx="1"/>
          </p:nvPr>
        </p:nvSpPr>
        <p:spPr>
          <a:xfrm>
            <a:off x="3887391" y="987432"/>
            <a:ext cx="4629150" cy="4873625"/>
          </a:xfrm>
        </p:spPr>
        <p:txBody>
          <a:bodyPr/>
          <a:lstStyle>
            <a:lvl1pPr>
              <a:defRPr sz="1271"/>
            </a:lvl1pPr>
            <a:lvl2pPr>
              <a:defRPr sz="1112"/>
            </a:lvl2pPr>
            <a:lvl3pPr>
              <a:defRPr sz="953"/>
            </a:lvl3pPr>
            <a:lvl4pPr>
              <a:defRPr sz="795"/>
            </a:lvl4pPr>
            <a:lvl5pPr>
              <a:defRPr sz="795"/>
            </a:lvl5pPr>
            <a:lvl6pPr>
              <a:defRPr sz="795"/>
            </a:lvl6pPr>
            <a:lvl7pPr>
              <a:defRPr sz="795"/>
            </a:lvl7pPr>
            <a:lvl8pPr>
              <a:defRPr sz="795"/>
            </a:lvl8pPr>
            <a:lvl9pPr>
              <a:defRPr sz="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36002142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271"/>
            </a:lvl1pPr>
          </a:lstStyle>
          <a:p>
            <a:r>
              <a:rPr lang="en-US"/>
              <a:t>Click to edit Master title style</a:t>
            </a:r>
          </a:p>
        </p:txBody>
      </p:sp>
      <p:sp>
        <p:nvSpPr>
          <p:cNvPr id="3" name="Picture Placeholder 2"/>
          <p:cNvSpPr>
            <a:spLocks noGrp="1" noChangeAspect="1"/>
          </p:cNvSpPr>
          <p:nvPr>
            <p:ph type="pic" idx="1"/>
          </p:nvPr>
        </p:nvSpPr>
        <p:spPr>
          <a:xfrm>
            <a:off x="3887391" y="987432"/>
            <a:ext cx="4629150" cy="4873625"/>
          </a:xfrm>
        </p:spPr>
        <p:txBody>
          <a:bodyPr anchor="t"/>
          <a:lstStyle>
            <a:lvl1pPr marL="0" indent="0">
              <a:buNone/>
              <a:defRPr sz="1271"/>
            </a:lvl1pPr>
            <a:lvl2pPr marL="181655" indent="0">
              <a:buNone/>
              <a:defRPr sz="1112"/>
            </a:lvl2pPr>
            <a:lvl3pPr marL="363310" indent="0">
              <a:buNone/>
              <a:defRPr sz="953"/>
            </a:lvl3pPr>
            <a:lvl4pPr marL="544965" indent="0">
              <a:buNone/>
              <a:defRPr sz="795"/>
            </a:lvl4pPr>
            <a:lvl5pPr marL="726620" indent="0">
              <a:buNone/>
              <a:defRPr sz="795"/>
            </a:lvl5pPr>
            <a:lvl6pPr marL="908275" indent="0">
              <a:buNone/>
              <a:defRPr sz="795"/>
            </a:lvl6pPr>
            <a:lvl7pPr marL="1089930" indent="0">
              <a:buNone/>
              <a:defRPr sz="795"/>
            </a:lvl7pPr>
            <a:lvl8pPr marL="1271585" indent="0">
              <a:buNone/>
              <a:defRPr sz="795"/>
            </a:lvl8pPr>
            <a:lvl9pPr marL="1453240" indent="0">
              <a:buNone/>
              <a:defRPr sz="795"/>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636"/>
            </a:lvl1pPr>
            <a:lvl2pPr marL="181655" indent="0">
              <a:buNone/>
              <a:defRPr sz="557"/>
            </a:lvl2pPr>
            <a:lvl3pPr marL="363310" indent="0">
              <a:buNone/>
              <a:defRPr sz="477"/>
            </a:lvl3pPr>
            <a:lvl4pPr marL="544965" indent="0">
              <a:buNone/>
              <a:defRPr sz="398"/>
            </a:lvl4pPr>
            <a:lvl5pPr marL="726620" indent="0">
              <a:buNone/>
              <a:defRPr sz="398"/>
            </a:lvl5pPr>
            <a:lvl6pPr marL="908275" indent="0">
              <a:buNone/>
              <a:defRPr sz="398"/>
            </a:lvl6pPr>
            <a:lvl7pPr marL="1089930" indent="0">
              <a:buNone/>
              <a:defRPr sz="398"/>
            </a:lvl7pPr>
            <a:lvl8pPr marL="1271585" indent="0">
              <a:buNone/>
              <a:defRPr sz="398"/>
            </a:lvl8pPr>
            <a:lvl9pPr marL="1453240" indent="0">
              <a:buNone/>
              <a:defRPr sz="398"/>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SG"/>
          </a:p>
        </p:txBody>
      </p:sp>
      <p:sp>
        <p:nvSpPr>
          <p:cNvPr id="6" name="Footer Placeholder 5"/>
          <p:cNvSpPr>
            <a:spLocks noGrp="1"/>
          </p:cNvSpPr>
          <p:nvPr>
            <p:ph type="ftr" sz="quarter" idx="11"/>
          </p:nvPr>
        </p:nvSpPr>
        <p:spPr/>
        <p:txBody>
          <a:bodyPr/>
          <a:lstStyle/>
          <a:p>
            <a:r>
              <a:rPr lang="en-SG"/>
              <a:t>C369 Financial Technologies</a:t>
            </a:r>
          </a:p>
        </p:txBody>
      </p:sp>
      <p:sp>
        <p:nvSpPr>
          <p:cNvPr id="7" name="Slide Number Placeholder 6"/>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568554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410249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SG"/>
          </a:p>
        </p:txBody>
      </p:sp>
      <p:sp>
        <p:nvSpPr>
          <p:cNvPr id="5" name="Footer Placeholder 4"/>
          <p:cNvSpPr>
            <a:spLocks noGrp="1"/>
          </p:cNvSpPr>
          <p:nvPr>
            <p:ph type="ftr" sz="quarter" idx="11"/>
          </p:nvPr>
        </p:nvSpPr>
        <p:spPr/>
        <p:txBody>
          <a:bodyPr/>
          <a:lstStyle/>
          <a:p>
            <a:r>
              <a:rPr lang="en-SG"/>
              <a:t>C369 Financial Technologies</a:t>
            </a:r>
          </a:p>
        </p:txBody>
      </p:sp>
      <p:sp>
        <p:nvSpPr>
          <p:cNvPr id="6" name="Slide Number Placeholder 5"/>
          <p:cNvSpPr>
            <a:spLocks noGrp="1"/>
          </p:cNvSpPr>
          <p:nvPr>
            <p:ph type="sldNum" sz="quarter" idx="12"/>
          </p:nvPr>
        </p:nvSpPr>
        <p:spPr/>
        <p:txBody>
          <a:bodyPr/>
          <a:lstStyle/>
          <a:p>
            <a:fld id="{D826FE17-A15F-4069-8D1C-BFCDAB13D842}" type="slidenum">
              <a:rPr lang="en-SG" smtClean="0"/>
              <a:t>‹#›</a:t>
            </a:fld>
            <a:endParaRPr lang="en-SG"/>
          </a:p>
        </p:txBody>
      </p:sp>
    </p:spTree>
    <p:extLst>
      <p:ext uri="{BB962C8B-B14F-4D97-AF65-F5344CB8AC3E}">
        <p14:creationId xmlns:p14="http://schemas.microsoft.com/office/powerpoint/2010/main" val="29459587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ivi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spTree>
    <p:extLst>
      <p:ext uri="{BB962C8B-B14F-4D97-AF65-F5344CB8AC3E}">
        <p14:creationId xmlns:p14="http://schemas.microsoft.com/office/powerpoint/2010/main" val="2512561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2646878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3856649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4769589" y="2055835"/>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r:embed="rId3">
            <a:extLst>
              <a:ext uri="{96DAC541-7B7A-43D3-8B79-37D633B846F1}">
                <asvg:svgBlip xmlns:asvg="http://schemas.microsoft.com/office/drawing/2016/SVG/main" r:embed="rId4"/>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5"/>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2537733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481873" y="885069"/>
            <a:ext cx="3897575" cy="5481467"/>
          </a:xfrm>
        </p:spPr>
        <p:txBody>
          <a:bodyPr/>
          <a:lstStyle/>
          <a:p>
            <a:r>
              <a:rPr lang="en-US"/>
              <a:t>Click icon to add picture</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4769589" y="4560988"/>
            <a:ext cx="3892538" cy="65782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B7C332EE-1F90-FC8C-83C0-45176D042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pic>
        <p:nvPicPr>
          <p:cNvPr id="4" name="Graphic 3">
            <a:extLst>
              <a:ext uri="{FF2B5EF4-FFF2-40B4-BE49-F238E27FC236}">
                <a16:creationId xmlns:a16="http://schemas.microsoft.com/office/drawing/2014/main" id="{8A2FE998-CD07-E974-FB46-0A002F5EA3A7}"/>
              </a:ext>
            </a:extLst>
          </p:cNvPr>
          <p:cNvPicPr/>
          <p:nvPr/>
        </p:nvPicPr>
        <p:blipFill>
          <a:blip r:embed="rId3">
            <a:extLst>
              <a:ext uri="{96DAC541-7B7A-43D3-8B79-37D633B846F1}">
                <asvg:svgBlip xmlns:asvg="http://schemas.microsoft.com/office/drawing/2016/SVG/main" r:embed="rId4"/>
              </a:ext>
            </a:extLst>
          </a:blip>
          <a:stretch>
            <a:fillRect/>
          </a:stretch>
        </p:blipFill>
        <p:spPr>
          <a:xfrm>
            <a:off x="7120800" y="4834800"/>
            <a:ext cx="2023200" cy="2023200"/>
          </a:xfrm>
          <a:prstGeom prst="rect">
            <a:avLst/>
          </a:prstGeom>
        </p:spPr>
      </p:pic>
      <p:pic>
        <p:nvPicPr>
          <p:cNvPr id="5" name="Picture 4">
            <a:extLst>
              <a:ext uri="{FF2B5EF4-FFF2-40B4-BE49-F238E27FC236}">
                <a16:creationId xmlns:a16="http://schemas.microsoft.com/office/drawing/2014/main" id="{674491D1-AE74-CF01-9D1C-65491EF6869B}"/>
              </a:ext>
            </a:extLst>
          </p:cNvPr>
          <p:cNvPicPr/>
          <p:nvPr/>
        </p:nvPicPr>
        <p:blipFill>
          <a:blip r:embed="rId5"/>
          <a:stretch>
            <a:fillRect/>
          </a:stretch>
        </p:blipFill>
        <p:spPr>
          <a:xfrm>
            <a:off x="0" y="6235"/>
            <a:ext cx="1347333" cy="676715"/>
          </a:xfrm>
          <a:prstGeom prst="rect">
            <a:avLst/>
          </a:prstGeom>
        </p:spPr>
      </p:pic>
      <p:sp>
        <p:nvSpPr>
          <p:cNvPr id="2" name="Title 1">
            <a:extLst>
              <a:ext uri="{FF2B5EF4-FFF2-40B4-BE49-F238E27FC236}">
                <a16:creationId xmlns:a16="http://schemas.microsoft.com/office/drawing/2014/main" id="{3D209708-E282-5B87-70A1-ECB3BFF09D25}"/>
              </a:ext>
            </a:extLst>
          </p:cNvPr>
          <p:cNvSpPr>
            <a:spLocks noGrp="1"/>
          </p:cNvSpPr>
          <p:nvPr>
            <p:ph type="title" hasCustomPrompt="1"/>
          </p:nvPr>
        </p:nvSpPr>
        <p:spPr>
          <a:xfrm>
            <a:off x="4764554" y="2915114"/>
            <a:ext cx="3897573" cy="1583099"/>
          </a:xfrm>
        </p:spPr>
        <p:txBody>
          <a:bodyPr/>
          <a:lstStyle/>
          <a:p>
            <a:pPr lvl="0"/>
            <a:r>
              <a:rPr lang="en-US"/>
              <a:t>Title Slide Headline Text in Arial Black 32pt</a:t>
            </a:r>
            <a:endParaRPr lang="en-SG"/>
          </a:p>
        </p:txBody>
      </p:sp>
    </p:spTree>
    <p:extLst>
      <p:ext uri="{BB962C8B-B14F-4D97-AF65-F5344CB8AC3E}">
        <p14:creationId xmlns:p14="http://schemas.microsoft.com/office/powerpoint/2010/main" val="33980740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619880"/>
            <a:ext cx="6245358" cy="2475995"/>
          </a:xfrm>
        </p:spPr>
        <p:txBody>
          <a:bodyPr anchor="t">
            <a:normAutofit/>
          </a:bodyPr>
          <a:lstStyle>
            <a:lvl1pPr>
              <a:defRPr sz="4000">
                <a:solidFill>
                  <a:schemeClr val="bg1"/>
                </a:solidFill>
              </a:defRPr>
            </a:lvl1pPr>
          </a:lstStyle>
          <a:p>
            <a:pPr lvl="0"/>
            <a:r>
              <a:rPr lang="en-US"/>
              <a:t>Divider Title (Arial Black 54)</a:t>
            </a:r>
            <a:endParaRPr lang="en-SG"/>
          </a:p>
        </p:txBody>
      </p:sp>
    </p:spTree>
    <p:extLst>
      <p:ext uri="{BB962C8B-B14F-4D97-AF65-F5344CB8AC3E}">
        <p14:creationId xmlns:p14="http://schemas.microsoft.com/office/powerpoint/2010/main" val="29878950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Divider w Sub">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7626600" y="4834800"/>
            <a:ext cx="1517400" cy="2023200"/>
          </a:xfrm>
          <a:prstGeom prst="rect">
            <a:avLst/>
          </a:prstGeom>
        </p:spPr>
      </p:pic>
      <p:grpSp>
        <p:nvGrpSpPr>
          <p:cNvPr id="2" name="Group 1">
            <a:extLst>
              <a:ext uri="{FF2B5EF4-FFF2-40B4-BE49-F238E27FC236}">
                <a16:creationId xmlns:a16="http://schemas.microsoft.com/office/drawing/2014/main" id="{B76F2770-5F94-840D-B447-1C667A6D7B46}"/>
              </a:ext>
            </a:extLst>
          </p:cNvPr>
          <p:cNvGrpSpPr>
            <a:grpSpLocks/>
          </p:cNvGrpSpPr>
          <p:nvPr/>
        </p:nvGrpSpPr>
        <p:grpSpPr>
          <a:xfrm>
            <a:off x="1650867" y="1513055"/>
            <a:ext cx="1348588" cy="674294"/>
            <a:chOff x="2150941" y="1359318"/>
            <a:chExt cx="1348588" cy="674294"/>
          </a:xfrm>
        </p:grpSpPr>
        <p:sp>
          <p:nvSpPr>
            <p:cNvPr id="3" name="Freeform: Shape 2">
              <a:extLst>
                <a:ext uri="{FF2B5EF4-FFF2-40B4-BE49-F238E27FC236}">
                  <a16:creationId xmlns:a16="http://schemas.microsoft.com/office/drawing/2014/main" id="{35A9E7D3-AE37-2E30-AAB8-C28DB78C8DDA}"/>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4" name="Freeform: Shape 3">
              <a:extLst>
                <a:ext uri="{FF2B5EF4-FFF2-40B4-BE49-F238E27FC236}">
                  <a16:creationId xmlns:a16="http://schemas.microsoft.com/office/drawing/2014/main" id="{0E203935-065A-DB0A-9A9A-B34ACA102531}"/>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5" name="Title 4">
            <a:extLst>
              <a:ext uri="{FF2B5EF4-FFF2-40B4-BE49-F238E27FC236}">
                <a16:creationId xmlns:a16="http://schemas.microsoft.com/office/drawing/2014/main" id="{70C9591C-4FF6-661E-4B13-AA37DB1CE75C}"/>
              </a:ext>
            </a:extLst>
          </p:cNvPr>
          <p:cNvSpPr>
            <a:spLocks noGrp="1"/>
          </p:cNvSpPr>
          <p:nvPr>
            <p:ph type="title" hasCustomPrompt="1"/>
          </p:nvPr>
        </p:nvSpPr>
        <p:spPr>
          <a:xfrm>
            <a:off x="1650867" y="2272578"/>
            <a:ext cx="6245358" cy="1851748"/>
          </a:xfrm>
        </p:spPr>
        <p:txBody>
          <a:bodyPr anchor="b">
            <a:normAutofit/>
          </a:bodyPr>
          <a:lstStyle>
            <a:lvl1pPr>
              <a:defRPr sz="4000">
                <a:solidFill>
                  <a:schemeClr val="bg1"/>
                </a:solidFill>
              </a:defRPr>
            </a:lvl1pPr>
          </a:lstStyle>
          <a:p>
            <a:pPr lvl="0"/>
            <a:r>
              <a:rPr lang="en-US"/>
              <a:t>Divider Title (Arial Black 54)</a:t>
            </a:r>
            <a:endParaRPr lang="en-SG"/>
          </a:p>
        </p:txBody>
      </p:sp>
      <p:sp>
        <p:nvSpPr>
          <p:cNvPr id="7" name="Text Placeholder 6">
            <a:extLst>
              <a:ext uri="{FF2B5EF4-FFF2-40B4-BE49-F238E27FC236}">
                <a16:creationId xmlns:a16="http://schemas.microsoft.com/office/drawing/2014/main" id="{437E15C5-802D-31EF-5664-4EF7EE4D9C90}"/>
              </a:ext>
            </a:extLst>
          </p:cNvPr>
          <p:cNvSpPr>
            <a:spLocks noGrp="1"/>
          </p:cNvSpPr>
          <p:nvPr>
            <p:ph type="body" sz="quarter" idx="10"/>
          </p:nvPr>
        </p:nvSpPr>
        <p:spPr>
          <a:xfrm>
            <a:off x="1651000" y="4152901"/>
            <a:ext cx="6245225" cy="89535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33519996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ntent Slide">
    <p:spTree>
      <p:nvGrpSpPr>
        <p:cNvPr id="1" name=""/>
        <p:cNvGrpSpPr/>
        <p:nvPr/>
      </p:nvGrpSpPr>
      <p:grpSpPr>
        <a:xfrm>
          <a:off x="0" y="0"/>
          <a:ext cx="0" cy="0"/>
          <a:chOff x="0" y="0"/>
          <a:chExt cx="0" cy="0"/>
        </a:xfrm>
      </p:grpSpPr>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547525" y="1593024"/>
            <a:ext cx="8034499" cy="4572296"/>
          </a:xfrm>
        </p:spPr>
        <p:txBody>
          <a:bodyPr>
            <a:noAutofit/>
          </a:bodyPr>
          <a:lstStyle>
            <a:lvl1pPr marL="257175" indent="-257175">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sz="1800"/>
            </a:lvl2pPr>
            <a:lvl3pPr>
              <a:defRPr sz="1600"/>
            </a:lvl3pPr>
          </a:lstStyle>
          <a:p>
            <a:pPr lvl="0"/>
            <a:r>
              <a:rPr lang="en-US"/>
              <a:t>Include bullet content here (Arial regular 20)</a:t>
            </a:r>
          </a:p>
          <a:p>
            <a:pPr lvl="1"/>
            <a:r>
              <a:rPr lang="en-SG"/>
              <a:t>Second Level</a:t>
            </a:r>
          </a:p>
          <a:p>
            <a:pPr lvl="2"/>
            <a:r>
              <a:rPr lang="en-SG"/>
              <a:t>Third Level</a:t>
            </a: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10075823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5" name="Picture 4" descr="A black background with a black square&#10;&#10;Description automatically generated with medium confidence">
            <a:extLst>
              <a:ext uri="{FF2B5EF4-FFF2-40B4-BE49-F238E27FC236}">
                <a16:creationId xmlns:a16="http://schemas.microsoft.com/office/drawing/2014/main" id="{54485791-BFA0-0C7F-6E21-DA8ECECD96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7" name="Picture 6">
            <a:extLst>
              <a:ext uri="{FF2B5EF4-FFF2-40B4-BE49-F238E27FC236}">
                <a16:creationId xmlns:a16="http://schemas.microsoft.com/office/drawing/2014/main" id="{D511219F-5C18-0CB9-9A0C-B12AD094BF24}"/>
              </a:ext>
            </a:extLst>
          </p:cNvPr>
          <p:cNvPicPr/>
          <p:nvPr/>
        </p:nvPicPr>
        <p:blipFill>
          <a:blip r:embed="rId3"/>
          <a:stretch>
            <a:fillRect/>
          </a:stretch>
        </p:blipFill>
        <p:spPr>
          <a:xfrm rot="10800000">
            <a:off x="8740800" y="6454800"/>
            <a:ext cx="403200" cy="403200"/>
          </a:xfrm>
          <a:prstGeom prst="rect">
            <a:avLst/>
          </a:prstGeom>
        </p:spPr>
      </p:pic>
      <p:sp>
        <p:nvSpPr>
          <p:cNvPr id="6" name="Slide Number Placeholder 5">
            <a:extLst>
              <a:ext uri="{FF2B5EF4-FFF2-40B4-BE49-F238E27FC236}">
                <a16:creationId xmlns:a16="http://schemas.microsoft.com/office/drawing/2014/main" id="{A6771764-957C-6A34-DF6F-408923708000}"/>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2" name="Title 1">
            <a:extLst>
              <a:ext uri="{FF2B5EF4-FFF2-40B4-BE49-F238E27FC236}">
                <a16:creationId xmlns:a16="http://schemas.microsoft.com/office/drawing/2014/main" id="{40DDF1B2-D702-DE93-FE32-D962865CDD32}"/>
              </a:ext>
            </a:extLst>
          </p:cNvPr>
          <p:cNvSpPr>
            <a:spLocks noGrp="1"/>
          </p:cNvSpPr>
          <p:nvPr>
            <p:ph type="title" hasCustomPrompt="1"/>
          </p:nvPr>
        </p:nvSpPr>
        <p:spPr>
          <a:xfrm>
            <a:off x="547524" y="692680"/>
            <a:ext cx="6966429"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38423738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lide with Tex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r:embed="rId3">
            <a:extLst>
              <a:ext uri="{96DAC541-7B7A-43D3-8B79-37D633B846F1}">
                <asvg:svgBlip xmlns:asvg="http://schemas.microsoft.com/office/drawing/2016/SVG/main" r:embed="rId4"/>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505249" y="1934139"/>
            <a:ext cx="2808685" cy="303953"/>
          </a:xfrm>
        </p:spPr>
        <p:txBody>
          <a:bodyPr>
            <a:no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37908814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with no Dat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9061FD-1069-E79B-356B-7FA9CEA3D3DB}"/>
              </a:ext>
            </a:extLst>
          </p:cNvPr>
          <p:cNvPicPr/>
          <p:nvPr/>
        </p:nvPicPr>
        <p:blipFill>
          <a:blip r:embed="rId2"/>
          <a:stretch>
            <a:fillRect/>
          </a:stretch>
        </p:blipFill>
        <p:spPr>
          <a:xfrm>
            <a:off x="0" y="6235"/>
            <a:ext cx="1347333" cy="676715"/>
          </a:xfrm>
          <a:prstGeom prst="rect">
            <a:avLst/>
          </a:prstGeom>
        </p:spPr>
      </p:pic>
      <p:pic>
        <p:nvPicPr>
          <p:cNvPr id="4" name="Graphic 3">
            <a:extLst>
              <a:ext uri="{FF2B5EF4-FFF2-40B4-BE49-F238E27FC236}">
                <a16:creationId xmlns:a16="http://schemas.microsoft.com/office/drawing/2014/main" id="{10F71944-B0EF-F32E-C5E1-9F1C2FC86157}"/>
              </a:ext>
            </a:extLst>
          </p:cNvPr>
          <p:cNvPicPr/>
          <p:nvPr/>
        </p:nvPicPr>
        <p:blipFill>
          <a:blip r:embed="rId3">
            <a:extLst>
              <a:ext uri="{96DAC541-7B7A-43D3-8B79-37D633B846F1}">
                <asvg:svgBlip xmlns:asvg="http://schemas.microsoft.com/office/drawing/2016/SVG/main" r:embed="rId4"/>
              </a:ext>
            </a:extLst>
          </a:blip>
          <a:stretch>
            <a:fillRect/>
          </a:stretch>
        </p:blipFill>
        <p:spPr>
          <a:xfrm>
            <a:off x="7120800" y="4834800"/>
            <a:ext cx="2023200" cy="2023200"/>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232107C9-DCF0-7959-1025-7B42B194C1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3394" y="219660"/>
            <a:ext cx="2582333" cy="760621"/>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505249" y="5294744"/>
            <a:ext cx="7943425" cy="797867"/>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3" name="Title 1">
            <a:extLst>
              <a:ext uri="{FF2B5EF4-FFF2-40B4-BE49-F238E27FC236}">
                <a16:creationId xmlns:a16="http://schemas.microsoft.com/office/drawing/2014/main" id="{76286B7F-A374-22F3-B439-AC7CCDE4DB69}"/>
              </a:ext>
            </a:extLst>
          </p:cNvPr>
          <p:cNvSpPr>
            <a:spLocks noGrp="1"/>
          </p:cNvSpPr>
          <p:nvPr>
            <p:ph type="title" hasCustomPrompt="1"/>
          </p:nvPr>
        </p:nvSpPr>
        <p:spPr>
          <a:xfrm>
            <a:off x="505249" y="2948075"/>
            <a:ext cx="7943426" cy="2128750"/>
          </a:xfrm>
        </p:spPr>
        <p:txBody>
          <a:bodyPr anchor="t">
            <a:noAutofit/>
          </a:bodyPr>
          <a:lstStyle>
            <a:lvl1pPr>
              <a:defRPr sz="5000"/>
            </a:lvl1pPr>
          </a:lstStyle>
          <a:p>
            <a:pPr lvl="0"/>
            <a:r>
              <a:rPr lang="en-US"/>
              <a:t>Title Slide without image Arial Black 50pt</a:t>
            </a:r>
            <a:endParaRPr lang="en-SG"/>
          </a:p>
        </p:txBody>
      </p:sp>
    </p:spTree>
    <p:extLst>
      <p:ext uri="{BB962C8B-B14F-4D97-AF65-F5344CB8AC3E}">
        <p14:creationId xmlns:p14="http://schemas.microsoft.com/office/powerpoint/2010/main" val="21402202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Column layout 2">
    <p:spTree>
      <p:nvGrpSpPr>
        <p:cNvPr id="1" name=""/>
        <p:cNvGrpSpPr/>
        <p:nvPr/>
      </p:nvGrpSpPr>
      <p:grpSpPr>
        <a:xfrm>
          <a:off x="0" y="0"/>
          <a:ext cx="0" cy="0"/>
          <a:chOff x="0" y="0"/>
          <a:chExt cx="0" cy="0"/>
        </a:xfrm>
      </p:grpSpPr>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582260" y="1868656"/>
            <a:ext cx="4665829"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a:t>Include paragraph here (Arial Regular 30)</a:t>
            </a:r>
            <a:endParaRPr lang="en-SG"/>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5931569" y="1868654"/>
            <a:ext cx="2630172"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4" name="Picture 3" descr="A black background with a black square&#10;&#10;Description automatically generated with medium confidence">
            <a:extLst>
              <a:ext uri="{FF2B5EF4-FFF2-40B4-BE49-F238E27FC236}">
                <a16:creationId xmlns:a16="http://schemas.microsoft.com/office/drawing/2014/main" id="{CAB0B91F-1617-83D8-4ECA-004B25324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5" name="Picture 4">
            <a:extLst>
              <a:ext uri="{FF2B5EF4-FFF2-40B4-BE49-F238E27FC236}">
                <a16:creationId xmlns:a16="http://schemas.microsoft.com/office/drawing/2014/main" id="{AE7688FF-9830-3BBE-1F35-4D11FC9F1721}"/>
              </a:ext>
            </a:extLst>
          </p:cNvPr>
          <p:cNvPicPr/>
          <p:nvPr/>
        </p:nvPicPr>
        <p:blipFill>
          <a:blip r:embed="rId3"/>
          <a:stretch>
            <a:fillRect/>
          </a:stretch>
        </p:blipFill>
        <p:spPr>
          <a:xfrm rot="10800000">
            <a:off x="8740800" y="6454800"/>
            <a:ext cx="403200" cy="403200"/>
          </a:xfrm>
          <a:prstGeom prst="rect">
            <a:avLst/>
          </a:prstGeom>
        </p:spPr>
      </p:pic>
      <p:sp>
        <p:nvSpPr>
          <p:cNvPr id="3" name="Slide Number Placeholder 5">
            <a:extLst>
              <a:ext uri="{FF2B5EF4-FFF2-40B4-BE49-F238E27FC236}">
                <a16:creationId xmlns:a16="http://schemas.microsoft.com/office/drawing/2014/main" id="{969A1AB3-93A2-0FB9-9EBA-3B1F1F58431A}"/>
              </a:ext>
            </a:extLst>
          </p:cNvPr>
          <p:cNvSpPr>
            <a:spLocks noGrp="1"/>
          </p:cNvSpPr>
          <p:nvPr>
            <p:ph type="sldNum" sz="quarter" idx="19"/>
          </p:nvPr>
        </p:nvSpPr>
        <p:spPr>
          <a:xfrm>
            <a:off x="8749426"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2" name="Title 1">
            <a:extLst>
              <a:ext uri="{FF2B5EF4-FFF2-40B4-BE49-F238E27FC236}">
                <a16:creationId xmlns:a16="http://schemas.microsoft.com/office/drawing/2014/main" id="{463720AC-6AF3-5558-05E0-F11D998B2CA1}"/>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4184407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Column Layout ">
    <p:spTree>
      <p:nvGrpSpPr>
        <p:cNvPr id="1" name=""/>
        <p:cNvGrpSpPr/>
        <p:nvPr/>
      </p:nvGrpSpPr>
      <p:grpSpPr>
        <a:xfrm>
          <a:off x="0" y="0"/>
          <a:ext cx="0" cy="0"/>
          <a:chOff x="0" y="0"/>
          <a:chExt cx="0" cy="0"/>
        </a:xfrm>
      </p:grpSpPr>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6244391" y="1868654"/>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580408" y="1868653"/>
            <a:ext cx="2319203"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3412399" y="1868653"/>
            <a:ext cx="2319203"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pic>
        <p:nvPicPr>
          <p:cNvPr id="3" name="Picture 2" descr="A black background with a black square&#10;&#10;Description automatically generated with medium confidence">
            <a:extLst>
              <a:ext uri="{FF2B5EF4-FFF2-40B4-BE49-F238E27FC236}">
                <a16:creationId xmlns:a16="http://schemas.microsoft.com/office/drawing/2014/main" id="{92609E81-B67B-BD32-2F54-192415FD2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4" name="Picture 3">
            <a:extLst>
              <a:ext uri="{FF2B5EF4-FFF2-40B4-BE49-F238E27FC236}">
                <a16:creationId xmlns:a16="http://schemas.microsoft.com/office/drawing/2014/main" id="{BB18B539-BDB0-BEB8-3CC6-9403CF5DB73F}"/>
              </a:ext>
            </a:extLst>
          </p:cNvPr>
          <p:cNvPicPr/>
          <p:nvPr/>
        </p:nvPicPr>
        <p:blipFill>
          <a:blip r:embed="rId3"/>
          <a:stretch>
            <a:fillRect/>
          </a:stretch>
        </p:blipFill>
        <p:spPr>
          <a:xfrm rot="10800000">
            <a:off x="8740800" y="6454800"/>
            <a:ext cx="403200" cy="403200"/>
          </a:xfrm>
          <a:prstGeom prst="rect">
            <a:avLst/>
          </a:prstGeom>
        </p:spPr>
      </p:pic>
      <p:sp>
        <p:nvSpPr>
          <p:cNvPr id="2" name="Slide Number Placeholder 5">
            <a:extLst>
              <a:ext uri="{FF2B5EF4-FFF2-40B4-BE49-F238E27FC236}">
                <a16:creationId xmlns:a16="http://schemas.microsoft.com/office/drawing/2014/main" id="{8D604548-B2C5-3A6C-38EA-591D384F4BD4}"/>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5" name="Title 1">
            <a:extLst>
              <a:ext uri="{FF2B5EF4-FFF2-40B4-BE49-F238E27FC236}">
                <a16:creationId xmlns:a16="http://schemas.microsoft.com/office/drawing/2014/main" id="{5A5E38A5-B078-5BE1-EFBD-0FC5824CA3C7}"/>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40866677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653654" y="1758167"/>
            <a:ext cx="3664744" cy="3798888"/>
          </a:xfrm>
        </p:spPr>
        <p:txBody>
          <a:bodyPr/>
          <a:lstStyle/>
          <a:p>
            <a:r>
              <a:rPr lang="en-US"/>
              <a:t>Click icon to add picture</a:t>
            </a:r>
            <a:endParaRPr lang="en-SG"/>
          </a:p>
        </p:txBody>
      </p:sp>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4501754" y="1758167"/>
            <a:ext cx="4019550" cy="3798888"/>
          </a:xfrm>
        </p:spPr>
        <p:txBody>
          <a:bodyPr/>
          <a:lstStyle/>
          <a:p>
            <a:r>
              <a:rPr lang="en-US"/>
              <a:t>Click icon to add picture</a:t>
            </a:r>
            <a:endParaRPr lang="en-SG"/>
          </a:p>
        </p:txBody>
      </p:sp>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Tree>
    <p:extLst>
      <p:ext uri="{BB962C8B-B14F-4D97-AF65-F5344CB8AC3E}">
        <p14:creationId xmlns:p14="http://schemas.microsoft.com/office/powerpoint/2010/main" val="16683995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2" name="Picture 1" descr="A black background with a black square&#10;&#10;Description automatically generated with medium confidence">
            <a:extLst>
              <a:ext uri="{FF2B5EF4-FFF2-40B4-BE49-F238E27FC236}">
                <a16:creationId xmlns:a16="http://schemas.microsoft.com/office/drawing/2014/main" id="{CF0170A0-4876-298E-50A6-F8E1C44873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954" y="229564"/>
            <a:ext cx="1368882" cy="403201"/>
          </a:xfrm>
          <a:prstGeom prst="rect">
            <a:avLst/>
          </a:prstGeom>
        </p:spPr>
      </p:pic>
      <p:pic>
        <p:nvPicPr>
          <p:cNvPr id="3" name="Picture 2">
            <a:extLst>
              <a:ext uri="{FF2B5EF4-FFF2-40B4-BE49-F238E27FC236}">
                <a16:creationId xmlns:a16="http://schemas.microsoft.com/office/drawing/2014/main" id="{88EED863-3123-CBC0-2425-7D7E8B8EDCC1}"/>
              </a:ext>
            </a:extLst>
          </p:cNvPr>
          <p:cNvPicPr/>
          <p:nvPr/>
        </p:nvPicPr>
        <p:blipFill>
          <a:blip r:embed="rId3"/>
          <a:stretch>
            <a:fillRect/>
          </a:stretch>
        </p:blipFill>
        <p:spPr>
          <a:xfrm rot="10800000">
            <a:off x="8740800" y="6454800"/>
            <a:ext cx="403200" cy="403200"/>
          </a:xfrm>
          <a:prstGeom prst="rect">
            <a:avLst/>
          </a:prstGeom>
        </p:spPr>
      </p:pic>
      <p:sp>
        <p:nvSpPr>
          <p:cNvPr id="4" name="Slide Number Placeholder 5">
            <a:extLst>
              <a:ext uri="{FF2B5EF4-FFF2-40B4-BE49-F238E27FC236}">
                <a16:creationId xmlns:a16="http://schemas.microsoft.com/office/drawing/2014/main" id="{3DF8C437-ED2E-FFD3-8936-450C11CCE582}"/>
              </a:ext>
            </a:extLst>
          </p:cNvPr>
          <p:cNvSpPr>
            <a:spLocks noGrp="1"/>
          </p:cNvSpPr>
          <p:nvPr>
            <p:ph type="sldNum" sz="quarter" idx="19"/>
          </p:nvPr>
        </p:nvSpPr>
        <p:spPr>
          <a:xfrm>
            <a:off x="8766678" y="6518753"/>
            <a:ext cx="403200" cy="365125"/>
          </a:xfrm>
        </p:spPr>
        <p:txBody>
          <a:bodyPr/>
          <a:lstStyle>
            <a:lvl1pPr>
              <a:defRPr b="1">
                <a:solidFill>
                  <a:schemeClr val="bg1"/>
                </a:solidFill>
              </a:defRPr>
            </a:lvl1pPr>
          </a:lstStyle>
          <a:p>
            <a:fld id="{5015600C-AC52-4A7A-B61A-C2D281744F97}" type="slidenum">
              <a:rPr lang="en-SG" smtClean="0"/>
              <a:pPr/>
              <a:t>‹#›</a:t>
            </a:fld>
            <a:endParaRPr lang="en-SG"/>
          </a:p>
        </p:txBody>
      </p:sp>
      <p:sp>
        <p:nvSpPr>
          <p:cNvPr id="5" name="Title 1">
            <a:extLst>
              <a:ext uri="{FF2B5EF4-FFF2-40B4-BE49-F238E27FC236}">
                <a16:creationId xmlns:a16="http://schemas.microsoft.com/office/drawing/2014/main" id="{9771F3CA-BA7A-9536-09FF-88A366F66EC9}"/>
              </a:ext>
            </a:extLst>
          </p:cNvPr>
          <p:cNvSpPr>
            <a:spLocks noGrp="1"/>
          </p:cNvSpPr>
          <p:nvPr>
            <p:ph type="title" hasCustomPrompt="1"/>
          </p:nvPr>
        </p:nvSpPr>
        <p:spPr>
          <a:xfrm>
            <a:off x="546165" y="785814"/>
            <a:ext cx="8015576" cy="623667"/>
          </a:xfrm>
        </p:spPr>
        <p:txBody>
          <a:bodyPr/>
          <a:lstStyle/>
          <a:p>
            <a:pPr lvl="0"/>
            <a:r>
              <a:rPr lang="en-US"/>
              <a:t>Slide Title in Arial Black 32pt</a:t>
            </a:r>
            <a:endParaRPr lang="en-SG"/>
          </a:p>
        </p:txBody>
      </p:sp>
      <p:sp>
        <p:nvSpPr>
          <p:cNvPr id="7" name="Content Placeholder 6">
            <a:extLst>
              <a:ext uri="{FF2B5EF4-FFF2-40B4-BE49-F238E27FC236}">
                <a16:creationId xmlns:a16="http://schemas.microsoft.com/office/drawing/2014/main" id="{7AF3D514-E574-AF34-F013-D5B51B38E684}"/>
              </a:ext>
            </a:extLst>
          </p:cNvPr>
          <p:cNvSpPr>
            <a:spLocks noGrp="1"/>
          </p:cNvSpPr>
          <p:nvPr>
            <p:ph sz="quarter" idx="20"/>
          </p:nvPr>
        </p:nvSpPr>
        <p:spPr>
          <a:xfrm>
            <a:off x="546100"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8" name="Content Placeholder 6">
            <a:extLst>
              <a:ext uri="{FF2B5EF4-FFF2-40B4-BE49-F238E27FC236}">
                <a16:creationId xmlns:a16="http://schemas.microsoft.com/office/drawing/2014/main" id="{C4C6A50B-0CB9-121D-5FA9-8B021FA43BCA}"/>
              </a:ext>
            </a:extLst>
          </p:cNvPr>
          <p:cNvSpPr>
            <a:spLocks noGrp="1"/>
          </p:cNvSpPr>
          <p:nvPr>
            <p:ph sz="quarter" idx="21"/>
          </p:nvPr>
        </p:nvSpPr>
        <p:spPr>
          <a:xfrm>
            <a:off x="4688241" y="1758950"/>
            <a:ext cx="3873500"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Tree>
    <p:extLst>
      <p:ext uri="{BB962C8B-B14F-4D97-AF65-F5344CB8AC3E}">
        <p14:creationId xmlns:p14="http://schemas.microsoft.com/office/powerpoint/2010/main" val="39318134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Divi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90415" y="2540256"/>
            <a:ext cx="5104098" cy="2018718"/>
          </a:xfrm>
          <a:prstGeom prst="rect">
            <a:avLst/>
          </a:prstGeom>
        </p:spPr>
        <p:txBody>
          <a:bodyPr anchor="t" anchorCtr="0">
            <a:normAutofit/>
          </a:bodyPr>
          <a:lstStyle>
            <a:lvl1pPr marL="0" algn="l">
              <a:lnSpc>
                <a:spcPts val="3150"/>
              </a:lnSpc>
              <a:spcBef>
                <a:spcPts val="0"/>
              </a:spcBef>
              <a:defRPr sz="3225" baseline="0">
                <a:solidFill>
                  <a:schemeClr val="bg1">
                    <a:lumMod val="50000"/>
                  </a:schemeClr>
                </a:solidFill>
                <a:latin typeface="Arial"/>
                <a:cs typeface="Arial"/>
              </a:defRPr>
            </a:lvl1pPr>
          </a:lstStyle>
          <a:p>
            <a:r>
              <a:rPr lang="en-US"/>
              <a:t>CHAPTER DIVIDER</a:t>
            </a:r>
          </a:p>
        </p:txBody>
      </p:sp>
    </p:spTree>
    <p:extLst>
      <p:ext uri="{BB962C8B-B14F-4D97-AF65-F5344CB8AC3E}">
        <p14:creationId xmlns:p14="http://schemas.microsoft.com/office/powerpoint/2010/main" val="588023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8" name="Content Placeholder 5"/>
          <p:cNvSpPr>
            <a:spLocks noGrp="1"/>
          </p:cNvSpPr>
          <p:nvPr>
            <p:ph sz="quarter" idx="13"/>
          </p:nvPr>
        </p:nvSpPr>
        <p:spPr>
          <a:xfrm>
            <a:off x="665166" y="1651000"/>
            <a:ext cx="4071937"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p:cNvSpPr>
            <a:spLocks noGrp="1"/>
          </p:cNvSpPr>
          <p:nvPr>
            <p:ph type="pic" sz="quarter" idx="14"/>
          </p:nvPr>
        </p:nvSpPr>
        <p:spPr>
          <a:xfrm>
            <a:off x="4876802" y="1651000"/>
            <a:ext cx="3609975" cy="3759200"/>
          </a:xfrm>
          <a:prstGeom prst="rect">
            <a:avLst/>
          </a:prstGeom>
        </p:spPr>
        <p:txBody>
          <a:bodyPr/>
          <a:lstStyle>
            <a:lvl1pPr>
              <a:defRPr sz="1800"/>
            </a:lvl1pPr>
          </a:lstStyle>
          <a:p>
            <a:r>
              <a:rPr lang="en-US"/>
              <a:t>Click icon to add picture</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3537059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65611" y="89336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a:t>Header Copy</a:t>
            </a:r>
          </a:p>
        </p:txBody>
      </p:sp>
      <p:sp>
        <p:nvSpPr>
          <p:cNvPr id="10" name="Text Placeholder 9"/>
          <p:cNvSpPr>
            <a:spLocks noGrp="1"/>
          </p:cNvSpPr>
          <p:nvPr>
            <p:ph type="body" sz="quarter" idx="13"/>
          </p:nvPr>
        </p:nvSpPr>
        <p:spPr>
          <a:xfrm>
            <a:off x="914400" y="1884363"/>
            <a:ext cx="7571806" cy="30252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5338103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6596035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65611" y="260720"/>
            <a:ext cx="6211928" cy="604593"/>
          </a:xfrm>
          <a:prstGeom prst="rect">
            <a:avLst/>
          </a:prstGeom>
        </p:spPr>
        <p:txBody>
          <a:bodyPr>
            <a:normAutofit/>
          </a:bodyPr>
          <a:lstStyle>
            <a:lvl1pPr algn="l">
              <a:defRPr sz="2400" baseline="0">
                <a:solidFill>
                  <a:schemeClr val="bg1">
                    <a:lumMod val="50000"/>
                  </a:schemeClr>
                </a:solidFill>
                <a:latin typeface="Arial"/>
                <a:cs typeface="Arial"/>
              </a:defRPr>
            </a:lvl1pPr>
          </a:lstStyle>
          <a:p>
            <a:r>
              <a:rPr lang="en-US" dirty="0"/>
              <a:t>Header Copy</a:t>
            </a:r>
          </a:p>
        </p:txBody>
      </p:sp>
      <p:sp>
        <p:nvSpPr>
          <p:cNvPr id="6" name="Content Placeholder 5"/>
          <p:cNvSpPr>
            <a:spLocks noGrp="1"/>
          </p:cNvSpPr>
          <p:nvPr>
            <p:ph sz="quarter" idx="13"/>
          </p:nvPr>
        </p:nvSpPr>
        <p:spPr>
          <a:xfrm>
            <a:off x="665165" y="1651000"/>
            <a:ext cx="7477125" cy="3759200"/>
          </a:xfrm>
          <a:prstGeom prst="rect">
            <a:avLst/>
          </a:prstGeom>
        </p:spPr>
        <p:txBody>
          <a:bodyPr/>
          <a:lstStyle>
            <a:lvl1pPr>
              <a:defRPr sz="1800"/>
            </a:lvl1pPr>
            <a:lvl2pPr marL="557213" indent="-214313">
              <a:buFont typeface="Arial" pitchFamily="34" charset="0"/>
              <a:buChar char="•"/>
              <a:defRPr sz="1500"/>
            </a:lvl2pPr>
            <a:lvl3pPr>
              <a:defRPr sz="1500"/>
            </a:lvl3pPr>
            <a:lvl4pPr marL="1200150" indent="-171450">
              <a:buFont typeface="Arial" pitchFamily="34" charset="0"/>
              <a:buChar char="•"/>
              <a:defRPr sz="1500"/>
            </a:lvl4pPr>
            <a:lvl5pPr marL="1543050" indent="-171450">
              <a:buFont typeface="Arial"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Slide Number Placeholder 4"/>
          <p:cNvSpPr>
            <a:spLocks noGrp="1"/>
          </p:cNvSpPr>
          <p:nvPr>
            <p:ph type="sldNum" sz="quarter" idx="12"/>
          </p:nvPr>
        </p:nvSpPr>
        <p:spPr>
          <a:xfrm>
            <a:off x="7380328" y="6440975"/>
            <a:ext cx="2133600" cy="365125"/>
          </a:xfrm>
          <a:prstGeom prst="rect">
            <a:avLst/>
          </a:prstGeom>
        </p:spPr>
        <p:txBody>
          <a:bodyPr/>
          <a:lstStyle>
            <a:lvl1pPr>
              <a:defRPr sz="825" cap="all" baseline="0">
                <a:solidFill>
                  <a:schemeClr val="bg1"/>
                </a:solidFill>
                <a:latin typeface="Arial" pitchFamily="34" charset="0"/>
                <a:cs typeface="Arial" pitchFamily="34" charset="0"/>
              </a:defRPr>
            </a:lvl1pPr>
          </a:lstStyle>
          <a:p>
            <a:fld id="{ACA20C2D-4A31-4ED6-9152-754F5E2E4B3A}" type="slidenum">
              <a:rPr lang="en-SG" smtClean="0"/>
              <a:t>‹#›</a:t>
            </a:fld>
            <a:endParaRPr lang="en-SG"/>
          </a:p>
        </p:txBody>
      </p:sp>
    </p:spTree>
    <p:extLst>
      <p:ext uri="{BB962C8B-B14F-4D97-AF65-F5344CB8AC3E}">
        <p14:creationId xmlns:p14="http://schemas.microsoft.com/office/powerpoint/2010/main" val="3875095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heme" Target="../theme/theme2.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theme" Target="../theme/theme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SIPCMContentMarking" descr="{&quot;HashCode&quot;:-574504238,&quot;Placement&quot;:&quot;Header&quot;,&quot;Top&quot;:0.0,&quot;Left&quot;:273.375916,&quot;SlideWidth&quot;:720,&quot;SlideHeight&quot;:540}">
            <a:extLst>
              <a:ext uri="{FF2B5EF4-FFF2-40B4-BE49-F238E27FC236}">
                <a16:creationId xmlns:a16="http://schemas.microsoft.com/office/drawing/2014/main" id="{5DD05BB7-4DF6-42E6-80DD-81A8D34B47FB}"/>
              </a:ext>
            </a:extLst>
          </p:cNvPr>
          <p:cNvSpPr txBox="1"/>
          <p:nvPr/>
        </p:nvSpPr>
        <p:spPr>
          <a:xfrm>
            <a:off x="3471876" y="73464"/>
            <a:ext cx="2200252" cy="115416"/>
          </a:xfrm>
          <a:prstGeom prst="rect">
            <a:avLst/>
          </a:prstGeom>
          <a:noFill/>
        </p:spPr>
        <p:txBody>
          <a:bodyPr vert="horz" wrap="square" lIns="0" tIns="0" rIns="0" bIns="0" rtlCol="0" anchor="ctr" anchorCtr="1">
            <a:spAutoFit/>
          </a:bodyPr>
          <a:lstStyle/>
          <a:p>
            <a:pPr algn="ctr">
              <a:spcBef>
                <a:spcPts val="0"/>
              </a:spcBef>
              <a:spcAft>
                <a:spcPts val="0"/>
              </a:spcAft>
            </a:pPr>
            <a:r>
              <a:rPr lang="en-SG" sz="750">
                <a:solidFill>
                  <a:srgbClr val="000000"/>
                </a:solidFill>
                <a:latin typeface="Calibri" panose="020F0502020204030204" pitchFamily="34" charset="0"/>
              </a:rPr>
              <a:t>OFFICIAL (CLOSED) \ NON-SENSITIVE</a:t>
            </a:r>
          </a:p>
        </p:txBody>
      </p:sp>
      <p:sp>
        <p:nvSpPr>
          <p:cNvPr id="3" name="TextBox 2">
            <a:extLst>
              <a:ext uri="{FF2B5EF4-FFF2-40B4-BE49-F238E27FC236}">
                <a16:creationId xmlns:a16="http://schemas.microsoft.com/office/drawing/2014/main" id="{5E1CB351-FF4D-21E6-A045-4A9C0A565453}"/>
              </a:ext>
            </a:extLst>
          </p:cNvPr>
          <p:cNvSpPr txBox="1"/>
          <p:nvPr userDrawn="1">
            <p:extLst>
              <p:ext uri="{1162E1C5-73C7-4A58-AE30-91384D911F3F}">
                <p184:classification xmlns:p184="http://schemas.microsoft.com/office/powerpoint/2018/4/main" val="hdr"/>
              </p:ext>
            </p:extLst>
          </p:nvPr>
        </p:nvSpPr>
        <p:spPr>
          <a:xfrm>
            <a:off x="3902250" y="63500"/>
            <a:ext cx="1360884" cy="115416"/>
          </a:xfrm>
          <a:prstGeom prst="rect">
            <a:avLst/>
          </a:prstGeom>
        </p:spPr>
        <p:txBody>
          <a:bodyPr horzOverflow="overflow" lIns="0" tIns="0" rIns="0" bIns="0">
            <a:spAutoFit/>
          </a:bodyPr>
          <a:lstStyle/>
          <a:p>
            <a:pPr algn="l"/>
            <a:r>
              <a:rPr lang="en-SG" sz="750">
                <a:solidFill>
                  <a:srgbClr val="000000"/>
                </a:solidFill>
                <a:latin typeface="Calibri" panose="020F0502020204030204" pitchFamily="34" charset="0"/>
                <a:ea typeface="Calibri" panose="020F0502020204030204" pitchFamily="34" charset="0"/>
                <a:cs typeface="Calibri" panose="020F0502020204030204" pitchFamily="34" charset="0"/>
              </a:rPr>
              <a:t>Official (Closed) \ Sensitive Normal</a:t>
            </a:r>
          </a:p>
        </p:txBody>
      </p:sp>
    </p:spTree>
    <p:extLst>
      <p:ext uri="{BB962C8B-B14F-4D97-AF65-F5344CB8AC3E}">
        <p14:creationId xmlns:p14="http://schemas.microsoft.com/office/powerpoint/2010/main" val="11951645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342900" rtl="0" eaLnBrk="1" latinLnBrk="0" hangingPunct="1">
        <a:spcBef>
          <a:spcPct val="0"/>
        </a:spcBef>
        <a:buNone/>
        <a:defRPr sz="330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8"/>
            <a:ext cx="2057400" cy="365125"/>
          </a:xfrm>
          <a:prstGeom prst="rect">
            <a:avLst/>
          </a:prstGeom>
        </p:spPr>
        <p:txBody>
          <a:bodyPr vert="horz" lIns="91440" tIns="45720" rIns="91440" bIns="45720" rtlCol="0" anchor="ctr"/>
          <a:lstStyle>
            <a:lvl1pPr algn="l">
              <a:defRPr sz="477">
                <a:solidFill>
                  <a:schemeClr val="tx1">
                    <a:tint val="75000"/>
                  </a:schemeClr>
                </a:solidFill>
              </a:defRPr>
            </a:lvl1pPr>
          </a:lstStyle>
          <a:p>
            <a:endParaRPr lang="en-SG"/>
          </a:p>
        </p:txBody>
      </p:sp>
      <p:sp>
        <p:nvSpPr>
          <p:cNvPr id="5" name="Footer Placeholder 4"/>
          <p:cNvSpPr>
            <a:spLocks noGrp="1"/>
          </p:cNvSpPr>
          <p:nvPr>
            <p:ph type="ftr" sz="quarter" idx="3"/>
          </p:nvPr>
        </p:nvSpPr>
        <p:spPr>
          <a:xfrm>
            <a:off x="3028950" y="6356358"/>
            <a:ext cx="3086100" cy="365125"/>
          </a:xfrm>
          <a:prstGeom prst="rect">
            <a:avLst/>
          </a:prstGeom>
        </p:spPr>
        <p:txBody>
          <a:bodyPr vert="horz" lIns="91440" tIns="45720" rIns="91440" bIns="45720" rtlCol="0" anchor="ctr"/>
          <a:lstStyle>
            <a:lvl1pPr algn="ctr">
              <a:defRPr sz="477">
                <a:solidFill>
                  <a:schemeClr val="tx1">
                    <a:tint val="75000"/>
                  </a:schemeClr>
                </a:solidFill>
              </a:defRPr>
            </a:lvl1pPr>
          </a:lstStyle>
          <a:p>
            <a:r>
              <a:rPr lang="en-SG"/>
              <a:t>C369 Financial Technologies</a:t>
            </a:r>
          </a:p>
        </p:txBody>
      </p:sp>
      <p:sp>
        <p:nvSpPr>
          <p:cNvPr id="6" name="Slide Number Placeholder 5"/>
          <p:cNvSpPr>
            <a:spLocks noGrp="1"/>
          </p:cNvSpPr>
          <p:nvPr>
            <p:ph type="sldNum" sz="quarter" idx="4"/>
          </p:nvPr>
        </p:nvSpPr>
        <p:spPr>
          <a:xfrm>
            <a:off x="6457950" y="6356358"/>
            <a:ext cx="2057400" cy="365125"/>
          </a:xfrm>
          <a:prstGeom prst="rect">
            <a:avLst/>
          </a:prstGeom>
        </p:spPr>
        <p:txBody>
          <a:bodyPr vert="horz" lIns="91440" tIns="45720" rIns="91440" bIns="45720" rtlCol="0" anchor="ctr"/>
          <a:lstStyle>
            <a:lvl1pPr algn="r">
              <a:defRPr sz="477">
                <a:solidFill>
                  <a:schemeClr val="tx1">
                    <a:tint val="75000"/>
                  </a:schemeClr>
                </a:solidFill>
              </a:defRPr>
            </a:lvl1pPr>
          </a:lstStyle>
          <a:p>
            <a:fld id="{D826FE17-A15F-4069-8D1C-BFCDAB13D842}" type="slidenum">
              <a:rPr lang="en-SG" smtClean="0"/>
              <a:t>‹#›</a:t>
            </a:fld>
            <a:endParaRPr lang="en-SG"/>
          </a:p>
        </p:txBody>
      </p:sp>
      <p:sp>
        <p:nvSpPr>
          <p:cNvPr id="7" name="MSIPCMContentMarking" descr="{&quot;HashCode&quot;:-574504238,&quot;Placement&quot;:&quot;Header&quot;,&quot;Top&quot;:0.0,&quot;Left&quot;:273.375916,&quot;SlideWidth&quot;:720,&quot;SlideHeight&quot;:540}">
            <a:extLst>
              <a:ext uri="{FF2B5EF4-FFF2-40B4-BE49-F238E27FC236}">
                <a16:creationId xmlns:a16="http://schemas.microsoft.com/office/drawing/2014/main" id="{BE915BE3-5C08-4677-8D33-86705266B515}"/>
              </a:ext>
            </a:extLst>
          </p:cNvPr>
          <p:cNvSpPr txBox="1"/>
          <p:nvPr/>
        </p:nvSpPr>
        <p:spPr>
          <a:xfrm>
            <a:off x="3471876" y="73464"/>
            <a:ext cx="2200252" cy="115416"/>
          </a:xfrm>
          <a:prstGeom prst="rect">
            <a:avLst/>
          </a:prstGeom>
          <a:noFill/>
        </p:spPr>
        <p:txBody>
          <a:bodyPr vert="horz" wrap="square" lIns="0" tIns="0" rIns="0" bIns="0" rtlCol="0" anchor="ctr" anchorCtr="1">
            <a:spAutoFit/>
          </a:bodyPr>
          <a:lstStyle/>
          <a:p>
            <a:pPr algn="ctr">
              <a:spcBef>
                <a:spcPts val="0"/>
              </a:spcBef>
              <a:spcAft>
                <a:spcPts val="0"/>
              </a:spcAft>
            </a:pPr>
            <a:r>
              <a:rPr lang="en-SG" sz="750">
                <a:solidFill>
                  <a:srgbClr val="000000"/>
                </a:solidFill>
                <a:latin typeface="Calibri" panose="020F0502020204030204" pitchFamily="34" charset="0"/>
              </a:rPr>
              <a:t>OFFICIAL (CLOSED) \ NON-SENSITIVE</a:t>
            </a:r>
          </a:p>
        </p:txBody>
      </p:sp>
    </p:spTree>
    <p:extLst>
      <p:ext uri="{BB962C8B-B14F-4D97-AF65-F5344CB8AC3E}">
        <p14:creationId xmlns:p14="http://schemas.microsoft.com/office/powerpoint/2010/main" val="24486822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dt="0"/>
  <p:txStyles>
    <p:titleStyle>
      <a:lvl1pPr algn="l" defTabSz="363310" rtl="0" eaLnBrk="1" latinLnBrk="0" hangingPunct="1">
        <a:lnSpc>
          <a:spcPct val="90000"/>
        </a:lnSpc>
        <a:spcBef>
          <a:spcPct val="0"/>
        </a:spcBef>
        <a:buNone/>
        <a:defRPr sz="1748" kern="1200">
          <a:solidFill>
            <a:schemeClr val="tx1"/>
          </a:solidFill>
          <a:latin typeface="+mj-lt"/>
          <a:ea typeface="+mj-ea"/>
          <a:cs typeface="+mj-cs"/>
        </a:defRPr>
      </a:lvl1pPr>
    </p:titleStyle>
    <p:bodyStyle>
      <a:lvl1pPr marL="90827" indent="-90827" algn="l" defTabSz="363310" rtl="0" eaLnBrk="1" latinLnBrk="0" hangingPunct="1">
        <a:lnSpc>
          <a:spcPct val="90000"/>
        </a:lnSpc>
        <a:spcBef>
          <a:spcPts val="398"/>
        </a:spcBef>
        <a:buFont typeface="Arial" panose="020B0604020202020204" pitchFamily="34" charset="0"/>
        <a:buChar char="•"/>
        <a:defRPr sz="1112" kern="1200">
          <a:solidFill>
            <a:schemeClr val="tx1"/>
          </a:solidFill>
          <a:latin typeface="+mn-lt"/>
          <a:ea typeface="+mn-ea"/>
          <a:cs typeface="+mn-cs"/>
        </a:defRPr>
      </a:lvl1pPr>
      <a:lvl2pPr marL="272483" indent="-90827" algn="l" defTabSz="363310" rtl="0" eaLnBrk="1" latinLnBrk="0" hangingPunct="1">
        <a:lnSpc>
          <a:spcPct val="90000"/>
        </a:lnSpc>
        <a:spcBef>
          <a:spcPts val="199"/>
        </a:spcBef>
        <a:buFont typeface="Arial" panose="020B0604020202020204" pitchFamily="34" charset="0"/>
        <a:buChar char="•"/>
        <a:defRPr sz="953" kern="1200">
          <a:solidFill>
            <a:schemeClr val="tx1"/>
          </a:solidFill>
          <a:latin typeface="+mn-lt"/>
          <a:ea typeface="+mn-ea"/>
          <a:cs typeface="+mn-cs"/>
        </a:defRPr>
      </a:lvl2pPr>
      <a:lvl3pPr marL="454138" indent="-90827" algn="l" defTabSz="363310" rtl="0" eaLnBrk="1" latinLnBrk="0" hangingPunct="1">
        <a:lnSpc>
          <a:spcPct val="90000"/>
        </a:lnSpc>
        <a:spcBef>
          <a:spcPts val="199"/>
        </a:spcBef>
        <a:buFont typeface="Arial" panose="020B0604020202020204" pitchFamily="34" charset="0"/>
        <a:buChar char="•"/>
        <a:defRPr sz="795" kern="1200">
          <a:solidFill>
            <a:schemeClr val="tx1"/>
          </a:solidFill>
          <a:latin typeface="+mn-lt"/>
          <a:ea typeface="+mn-ea"/>
          <a:cs typeface="+mn-cs"/>
        </a:defRPr>
      </a:lvl3pPr>
      <a:lvl4pPr marL="635792"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4pPr>
      <a:lvl5pPr marL="81744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5pPr>
      <a:lvl6pPr marL="99910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6pPr>
      <a:lvl7pPr marL="1180757"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7pPr>
      <a:lvl8pPr marL="1362413"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8pPr>
      <a:lvl9pPr marL="1544068" indent="-90827" algn="l" defTabSz="363310" rtl="0" eaLnBrk="1" latinLnBrk="0" hangingPunct="1">
        <a:lnSpc>
          <a:spcPct val="90000"/>
        </a:lnSpc>
        <a:spcBef>
          <a:spcPts val="199"/>
        </a:spcBef>
        <a:buFont typeface="Arial" panose="020B0604020202020204" pitchFamily="34" charset="0"/>
        <a:buChar char="•"/>
        <a:defRPr sz="716" kern="1200">
          <a:solidFill>
            <a:schemeClr val="tx1"/>
          </a:solidFill>
          <a:latin typeface="+mn-lt"/>
          <a:ea typeface="+mn-ea"/>
          <a:cs typeface="+mn-cs"/>
        </a:defRPr>
      </a:lvl9pPr>
    </p:bodyStyle>
    <p:otherStyle>
      <a:defPPr>
        <a:defRPr lang="en-US"/>
      </a:defPPr>
      <a:lvl1pPr marL="0" algn="l" defTabSz="363310" rtl="0" eaLnBrk="1" latinLnBrk="0" hangingPunct="1">
        <a:defRPr sz="716" kern="1200">
          <a:solidFill>
            <a:schemeClr val="tx1"/>
          </a:solidFill>
          <a:latin typeface="+mn-lt"/>
          <a:ea typeface="+mn-ea"/>
          <a:cs typeface="+mn-cs"/>
        </a:defRPr>
      </a:lvl1pPr>
      <a:lvl2pPr marL="181655" algn="l" defTabSz="363310" rtl="0" eaLnBrk="1" latinLnBrk="0" hangingPunct="1">
        <a:defRPr sz="716" kern="1200">
          <a:solidFill>
            <a:schemeClr val="tx1"/>
          </a:solidFill>
          <a:latin typeface="+mn-lt"/>
          <a:ea typeface="+mn-ea"/>
          <a:cs typeface="+mn-cs"/>
        </a:defRPr>
      </a:lvl2pPr>
      <a:lvl3pPr marL="363310" algn="l" defTabSz="363310" rtl="0" eaLnBrk="1" latinLnBrk="0" hangingPunct="1">
        <a:defRPr sz="716" kern="1200">
          <a:solidFill>
            <a:schemeClr val="tx1"/>
          </a:solidFill>
          <a:latin typeface="+mn-lt"/>
          <a:ea typeface="+mn-ea"/>
          <a:cs typeface="+mn-cs"/>
        </a:defRPr>
      </a:lvl3pPr>
      <a:lvl4pPr marL="544965" algn="l" defTabSz="363310" rtl="0" eaLnBrk="1" latinLnBrk="0" hangingPunct="1">
        <a:defRPr sz="716" kern="1200">
          <a:solidFill>
            <a:schemeClr val="tx1"/>
          </a:solidFill>
          <a:latin typeface="+mn-lt"/>
          <a:ea typeface="+mn-ea"/>
          <a:cs typeface="+mn-cs"/>
        </a:defRPr>
      </a:lvl4pPr>
      <a:lvl5pPr marL="726620" algn="l" defTabSz="363310" rtl="0" eaLnBrk="1" latinLnBrk="0" hangingPunct="1">
        <a:defRPr sz="716" kern="1200">
          <a:solidFill>
            <a:schemeClr val="tx1"/>
          </a:solidFill>
          <a:latin typeface="+mn-lt"/>
          <a:ea typeface="+mn-ea"/>
          <a:cs typeface="+mn-cs"/>
        </a:defRPr>
      </a:lvl5pPr>
      <a:lvl6pPr marL="908275" algn="l" defTabSz="363310" rtl="0" eaLnBrk="1" latinLnBrk="0" hangingPunct="1">
        <a:defRPr sz="716" kern="1200">
          <a:solidFill>
            <a:schemeClr val="tx1"/>
          </a:solidFill>
          <a:latin typeface="+mn-lt"/>
          <a:ea typeface="+mn-ea"/>
          <a:cs typeface="+mn-cs"/>
        </a:defRPr>
      </a:lvl6pPr>
      <a:lvl7pPr marL="1089930" algn="l" defTabSz="363310" rtl="0" eaLnBrk="1" latinLnBrk="0" hangingPunct="1">
        <a:defRPr sz="716" kern="1200">
          <a:solidFill>
            <a:schemeClr val="tx1"/>
          </a:solidFill>
          <a:latin typeface="+mn-lt"/>
          <a:ea typeface="+mn-ea"/>
          <a:cs typeface="+mn-cs"/>
        </a:defRPr>
      </a:lvl7pPr>
      <a:lvl8pPr marL="1271585" algn="l" defTabSz="363310" rtl="0" eaLnBrk="1" latinLnBrk="0" hangingPunct="1">
        <a:defRPr sz="716" kern="1200">
          <a:solidFill>
            <a:schemeClr val="tx1"/>
          </a:solidFill>
          <a:latin typeface="+mn-lt"/>
          <a:ea typeface="+mn-ea"/>
          <a:cs typeface="+mn-cs"/>
        </a:defRPr>
      </a:lvl8pPr>
      <a:lvl9pPr marL="1453240" algn="l" defTabSz="363310" rtl="0" eaLnBrk="1" latinLnBrk="0" hangingPunct="1">
        <a:defRPr sz="716"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15600C-AC52-4A7A-B61A-C2D281744F97}" type="slidenum">
              <a:rPr lang="en-SG" smtClean="0"/>
              <a:t>‹#›</a:t>
            </a:fld>
            <a:endParaRPr lang="en-SG"/>
          </a:p>
        </p:txBody>
      </p:sp>
      <p:sp>
        <p:nvSpPr>
          <p:cNvPr id="8" name="TextBox 7">
            <a:extLst>
              <a:ext uri="{FF2B5EF4-FFF2-40B4-BE49-F238E27FC236}">
                <a16:creationId xmlns:a16="http://schemas.microsoft.com/office/drawing/2014/main" id="{44DF9100-3699-1CC0-D90D-6E5BA70AC5CB}"/>
              </a:ext>
            </a:extLst>
          </p:cNvPr>
          <p:cNvSpPr txBox="1"/>
          <p:nvPr>
            <p:extLst>
              <p:ext uri="{1162E1C5-73C7-4A58-AE30-91384D911F3F}">
                <p184:classification xmlns:p184="http://schemas.microsoft.com/office/powerpoint/2018/4/main" val="hdr"/>
              </p:ext>
            </p:extLst>
          </p:nvPr>
        </p:nvSpPr>
        <p:spPr>
          <a:xfrm>
            <a:off x="3679000" y="63500"/>
            <a:ext cx="1814512"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ea typeface="Calibri" panose="020F0502020204030204" pitchFamily="34" charset="0"/>
                <a:cs typeface="Calibri" panose="020F0502020204030204" pitchFamily="34" charset="0"/>
              </a:rPr>
              <a:t>Official (Closed) \ Sensitive Normal</a:t>
            </a:r>
          </a:p>
        </p:txBody>
      </p:sp>
      <p:sp>
        <p:nvSpPr>
          <p:cNvPr id="7" name="TextBox 6">
            <a:extLst>
              <a:ext uri="{FF2B5EF4-FFF2-40B4-BE49-F238E27FC236}">
                <a16:creationId xmlns:a16="http://schemas.microsoft.com/office/drawing/2014/main" id="{E241E8E9-5D4A-C191-1880-37922C20DCB6}"/>
              </a:ext>
            </a:extLst>
          </p:cNvPr>
          <p:cNvSpPr txBox="1"/>
          <p:nvPr userDrawn="1">
            <p:extLst>
              <p:ext uri="{1162E1C5-73C7-4A58-AE30-91384D911F3F}">
                <p184:classification xmlns:p184="http://schemas.microsoft.com/office/powerpoint/2018/4/main" val="hdr"/>
              </p:ext>
            </p:extLst>
          </p:nvPr>
        </p:nvSpPr>
        <p:spPr>
          <a:xfrm>
            <a:off x="3902250" y="63500"/>
            <a:ext cx="1360884" cy="115416"/>
          </a:xfrm>
          <a:prstGeom prst="rect">
            <a:avLst/>
          </a:prstGeom>
        </p:spPr>
        <p:txBody>
          <a:bodyPr horzOverflow="overflow" lIns="0" tIns="0" rIns="0" bIns="0">
            <a:spAutoFit/>
          </a:bodyPr>
          <a:lstStyle/>
          <a:p>
            <a:pPr algn="l"/>
            <a:r>
              <a:rPr lang="en-SG" sz="750">
                <a:solidFill>
                  <a:srgbClr val="000000"/>
                </a:solidFill>
                <a:latin typeface="Calibri" panose="020F0502020204030204" pitchFamily="34" charset="0"/>
                <a:ea typeface="Calibri" panose="020F0502020204030204" pitchFamily="34" charset="0"/>
                <a:cs typeface="Calibri" panose="020F0502020204030204" pitchFamily="34" charset="0"/>
              </a:rPr>
              <a:t>Official (Closed) \ Sensitive Normal</a:t>
            </a:r>
          </a:p>
        </p:txBody>
      </p:sp>
    </p:spTree>
    <p:extLst>
      <p:ext uri="{BB962C8B-B14F-4D97-AF65-F5344CB8AC3E}">
        <p14:creationId xmlns:p14="http://schemas.microsoft.com/office/powerpoint/2010/main" val="3806093016"/>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Lst>
  <p:txStyles>
    <p:titleStyle>
      <a:lvl1pPr algn="l" defTabSz="914400" rtl="0" eaLnBrk="1" latinLnBrk="0" hangingPunct="1">
        <a:lnSpc>
          <a:spcPct val="90000"/>
        </a:lnSpc>
        <a:spcBef>
          <a:spcPct val="0"/>
        </a:spcBef>
        <a:buNone/>
        <a:defRPr sz="32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mvc-framework-introduction/" TargetMode="External"/><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mvc-framework-introduction/" TargetMode="External"/><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mvc-framework-introduction/" TargetMode="External"/><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vscode-file://vscode-app/c:/Users/magdalene_lim/AppData/Local/Programs/Microsoft%20VS%20Code/resources/app/out/vs/code/electron-browser/workbench/workbench.html" TargetMode="Externa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hyperlink" Target="http://localhost:3000/" TargetMode="External"/><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35.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hyperlink" Target="http://localhost:3000/" TargetMode="External"/><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3" Type="http://schemas.openxmlformats.org/officeDocument/2006/relationships/hyperlink" Target="mailto:bobochan@gmail.com" TargetMode="External"/><Relationship Id="rId2" Type="http://schemas.openxmlformats.org/officeDocument/2006/relationships/hyperlink" Target="mailto:peter@peter.com" TargetMode="External"/><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2" Type="http://schemas.openxmlformats.org/officeDocument/2006/relationships/hyperlink" Target="https://forms.office.com/r/PEKn31juZx" TargetMode="External"/><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FD6AF62D-BD6D-9065-534D-2CA99D9324CA}"/>
              </a:ext>
            </a:extLst>
          </p:cNvPr>
          <p:cNvSpPr>
            <a:spLocks noGrp="1"/>
          </p:cNvSpPr>
          <p:nvPr>
            <p:ph type="body" sz="quarter" idx="13"/>
          </p:nvPr>
        </p:nvSpPr>
        <p:spPr>
          <a:xfrm>
            <a:off x="505249" y="5294744"/>
            <a:ext cx="7943425" cy="797867"/>
          </a:xfrm>
        </p:spPr>
        <p:txBody>
          <a:bodyPr/>
          <a:lstStyle/>
          <a:p>
            <a:r>
              <a:rPr lang="en-US" dirty="0"/>
              <a:t>Lesson 03</a:t>
            </a:r>
            <a:br>
              <a:rPr lang="en-US" dirty="0"/>
            </a:br>
            <a:r>
              <a:rPr lang="en-US" dirty="0"/>
              <a:t>Separation of Concerns, MVC</a:t>
            </a:r>
          </a:p>
        </p:txBody>
      </p:sp>
      <p:sp>
        <p:nvSpPr>
          <p:cNvPr id="8" name="Title 1">
            <a:extLst>
              <a:ext uri="{FF2B5EF4-FFF2-40B4-BE49-F238E27FC236}">
                <a16:creationId xmlns:a16="http://schemas.microsoft.com/office/drawing/2014/main" id="{61E8154B-01DF-2610-97AA-BAAEF19CB6CB}"/>
              </a:ext>
            </a:extLst>
          </p:cNvPr>
          <p:cNvSpPr>
            <a:spLocks noGrp="1"/>
          </p:cNvSpPr>
          <p:nvPr>
            <p:ph type="title"/>
          </p:nvPr>
        </p:nvSpPr>
        <p:spPr>
          <a:xfrm>
            <a:off x="505249" y="2948075"/>
            <a:ext cx="7943426" cy="2128750"/>
          </a:xfrm>
        </p:spPr>
        <p:txBody>
          <a:bodyPr anchor="t">
            <a:normAutofit/>
          </a:bodyPr>
          <a:lstStyle/>
          <a:p>
            <a:r>
              <a:rPr lang="en-US" sz="2800" dirty="0"/>
              <a:t>C372 Payment Technologies</a:t>
            </a:r>
            <a:br>
              <a:rPr lang="en-US" sz="2800" dirty="0"/>
            </a:br>
            <a:br>
              <a:rPr lang="en-US" sz="2800" dirty="0"/>
            </a:br>
            <a:br>
              <a:rPr lang="en-US" sz="2800" dirty="0"/>
            </a:br>
            <a:endParaRPr lang="en-US" sz="2800" dirty="0"/>
          </a:p>
        </p:txBody>
      </p:sp>
    </p:spTree>
    <p:extLst>
      <p:ext uri="{BB962C8B-B14F-4D97-AF65-F5344CB8AC3E}">
        <p14:creationId xmlns:p14="http://schemas.microsoft.com/office/powerpoint/2010/main" val="778938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3321499B-EAB5-B97D-18B8-02C12852C00F}"/>
              </a:ext>
            </a:extLst>
          </p:cNvPr>
          <p:cNvSpPr>
            <a:spLocks noGrp="1"/>
          </p:cNvSpPr>
          <p:nvPr>
            <p:ph type="body" sz="quarter" idx="13"/>
          </p:nvPr>
        </p:nvSpPr>
        <p:spPr>
          <a:xfrm>
            <a:off x="505249" y="5294744"/>
            <a:ext cx="7943425" cy="797867"/>
          </a:xfrm>
        </p:spPr>
        <p:txBody>
          <a:bodyPr/>
          <a:lstStyle/>
          <a:p>
            <a:endParaRPr lang="en-US"/>
          </a:p>
        </p:txBody>
      </p:sp>
      <p:sp>
        <p:nvSpPr>
          <p:cNvPr id="2" name="Title 1">
            <a:extLst>
              <a:ext uri="{FF2B5EF4-FFF2-40B4-BE49-F238E27FC236}">
                <a16:creationId xmlns:a16="http://schemas.microsoft.com/office/drawing/2014/main" id="{953D5EED-D80F-70E1-0684-E3E731CB0C1F}"/>
              </a:ext>
            </a:extLst>
          </p:cNvPr>
          <p:cNvSpPr>
            <a:spLocks noGrp="1"/>
          </p:cNvSpPr>
          <p:nvPr>
            <p:ph type="title"/>
          </p:nvPr>
        </p:nvSpPr>
        <p:spPr>
          <a:xfrm>
            <a:off x="505249" y="2948075"/>
            <a:ext cx="7943426" cy="2128750"/>
          </a:xfrm>
        </p:spPr>
        <p:txBody>
          <a:bodyPr anchor="t">
            <a:normAutofit/>
          </a:bodyPr>
          <a:lstStyle/>
          <a:p>
            <a:r>
              <a:rPr lang="en-SG" sz="4600" dirty="0"/>
              <a:t>Recall</a:t>
            </a:r>
          </a:p>
        </p:txBody>
      </p:sp>
    </p:spTree>
    <p:extLst>
      <p:ext uri="{BB962C8B-B14F-4D97-AF65-F5344CB8AC3E}">
        <p14:creationId xmlns:p14="http://schemas.microsoft.com/office/powerpoint/2010/main" val="216527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DFC056-BC2D-CE6E-0F0A-0B1A49527EA1}"/>
              </a:ext>
            </a:extLst>
          </p:cNvPr>
          <p:cNvSpPr>
            <a:spLocks noGrp="1"/>
          </p:cNvSpPr>
          <p:nvPr>
            <p:ph type="body" sz="quarter" idx="14"/>
          </p:nvPr>
        </p:nvSpPr>
        <p:spPr/>
        <p:txBody>
          <a:bodyPr/>
          <a:lstStyle/>
          <a:p>
            <a:endParaRPr lang="en-SG"/>
          </a:p>
        </p:txBody>
      </p:sp>
      <p:sp>
        <p:nvSpPr>
          <p:cNvPr id="2" name="Title 1">
            <a:extLst>
              <a:ext uri="{FF2B5EF4-FFF2-40B4-BE49-F238E27FC236}">
                <a16:creationId xmlns:a16="http://schemas.microsoft.com/office/drawing/2014/main" id="{ECEF79A0-8D8B-1CCC-FF86-FD1F7554CF6D}"/>
              </a:ext>
            </a:extLst>
          </p:cNvPr>
          <p:cNvSpPr>
            <a:spLocks noGrp="1"/>
          </p:cNvSpPr>
          <p:nvPr>
            <p:ph type="title"/>
          </p:nvPr>
        </p:nvSpPr>
        <p:spPr/>
        <p:txBody>
          <a:bodyPr>
            <a:normAutofit fontScale="90000"/>
          </a:bodyPr>
          <a:lstStyle/>
          <a:p>
            <a:r>
              <a:rPr lang="en-SG" dirty="0"/>
              <a:t>NodeJS Project Folder Structure</a:t>
            </a:r>
          </a:p>
        </p:txBody>
      </p:sp>
      <p:pic>
        <p:nvPicPr>
          <p:cNvPr id="5" name="Picture 4">
            <a:extLst>
              <a:ext uri="{FF2B5EF4-FFF2-40B4-BE49-F238E27FC236}">
                <a16:creationId xmlns:a16="http://schemas.microsoft.com/office/drawing/2014/main" id="{DBA9D99C-FE25-DF6D-0762-8F6F6B06264A}"/>
              </a:ext>
            </a:extLst>
          </p:cNvPr>
          <p:cNvPicPr>
            <a:picLocks noChangeAspect="1"/>
          </p:cNvPicPr>
          <p:nvPr/>
        </p:nvPicPr>
        <p:blipFill>
          <a:blip r:embed="rId3"/>
          <a:stretch>
            <a:fillRect/>
          </a:stretch>
        </p:blipFill>
        <p:spPr>
          <a:xfrm>
            <a:off x="3463271" y="2011621"/>
            <a:ext cx="2217457" cy="3547931"/>
          </a:xfrm>
          <a:prstGeom prst="rect">
            <a:avLst/>
          </a:prstGeom>
        </p:spPr>
      </p:pic>
      <p:sp>
        <p:nvSpPr>
          <p:cNvPr id="6" name="Rectangle 5">
            <a:extLst>
              <a:ext uri="{FF2B5EF4-FFF2-40B4-BE49-F238E27FC236}">
                <a16:creationId xmlns:a16="http://schemas.microsoft.com/office/drawing/2014/main" id="{6A43C3A2-D0E8-3975-DEEE-E6954D591E2E}"/>
              </a:ext>
            </a:extLst>
          </p:cNvPr>
          <p:cNvSpPr/>
          <p:nvPr/>
        </p:nvSpPr>
        <p:spPr>
          <a:xfrm>
            <a:off x="3612337" y="2029968"/>
            <a:ext cx="1261415" cy="22916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08E12B41-D79C-0F5A-6F64-4F11EB3EC285}"/>
              </a:ext>
            </a:extLst>
          </p:cNvPr>
          <p:cNvSpPr txBox="1"/>
          <p:nvPr/>
        </p:nvSpPr>
        <p:spPr>
          <a:xfrm>
            <a:off x="1123349" y="2265509"/>
            <a:ext cx="1142429" cy="276999"/>
          </a:xfrm>
          <a:prstGeom prst="rect">
            <a:avLst/>
          </a:prstGeom>
          <a:noFill/>
          <a:ln>
            <a:solidFill>
              <a:srgbClr val="FF0000"/>
            </a:solidFill>
          </a:ln>
        </p:spPr>
        <p:txBody>
          <a:bodyPr wrap="none" rtlCol="0">
            <a:spAutoFit/>
          </a:bodyPr>
          <a:lstStyle/>
          <a:p>
            <a:pPr algn="ctr"/>
            <a:r>
              <a:rPr lang="en-SG" sz="1200" dirty="0"/>
              <a:t>Project folder</a:t>
            </a:r>
          </a:p>
        </p:txBody>
      </p:sp>
      <p:cxnSp>
        <p:nvCxnSpPr>
          <p:cNvPr id="11" name="Straight Arrow Connector 10">
            <a:extLst>
              <a:ext uri="{FF2B5EF4-FFF2-40B4-BE49-F238E27FC236}">
                <a16:creationId xmlns:a16="http://schemas.microsoft.com/office/drawing/2014/main" id="{9C17BDC4-52C5-E02F-EB31-195618ADBAEF}"/>
              </a:ext>
            </a:extLst>
          </p:cNvPr>
          <p:cNvCxnSpPr>
            <a:cxnSpLocks/>
            <a:stCxn id="7" idx="3"/>
            <a:endCxn id="6" idx="1"/>
          </p:cNvCxnSpPr>
          <p:nvPr/>
        </p:nvCxnSpPr>
        <p:spPr>
          <a:xfrm flipV="1">
            <a:off x="2265778" y="2144552"/>
            <a:ext cx="1346559" cy="2594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Rectangle 11">
            <a:extLst>
              <a:ext uri="{FF2B5EF4-FFF2-40B4-BE49-F238E27FC236}">
                <a16:creationId xmlns:a16="http://schemas.microsoft.com/office/drawing/2014/main" id="{4D17F49F-2629-19A5-989A-36A3FB0E6BAC}"/>
              </a:ext>
            </a:extLst>
          </p:cNvPr>
          <p:cNvSpPr/>
          <p:nvPr/>
        </p:nvSpPr>
        <p:spPr>
          <a:xfrm>
            <a:off x="3612337" y="2375713"/>
            <a:ext cx="1599743" cy="2243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44FF27EB-9730-1A76-E559-286332D792EB}"/>
              </a:ext>
            </a:extLst>
          </p:cNvPr>
          <p:cNvSpPr txBox="1"/>
          <p:nvPr/>
        </p:nvSpPr>
        <p:spPr>
          <a:xfrm>
            <a:off x="665611" y="3027417"/>
            <a:ext cx="2044529" cy="646331"/>
          </a:xfrm>
          <a:prstGeom prst="rect">
            <a:avLst/>
          </a:prstGeom>
          <a:noFill/>
          <a:ln>
            <a:solidFill>
              <a:srgbClr val="FF0000"/>
            </a:solidFill>
          </a:ln>
        </p:spPr>
        <p:txBody>
          <a:bodyPr wrap="square" rtlCol="0">
            <a:spAutoFit/>
          </a:bodyPr>
          <a:lstStyle/>
          <a:p>
            <a:pPr algn="ctr"/>
            <a:r>
              <a:rPr lang="en-SG" sz="1200" dirty="0"/>
              <a:t>Dependencies(external libraries or packages) will be installed here</a:t>
            </a:r>
          </a:p>
        </p:txBody>
      </p:sp>
      <p:cxnSp>
        <p:nvCxnSpPr>
          <p:cNvPr id="14" name="Straight Arrow Connector 13">
            <a:extLst>
              <a:ext uri="{FF2B5EF4-FFF2-40B4-BE49-F238E27FC236}">
                <a16:creationId xmlns:a16="http://schemas.microsoft.com/office/drawing/2014/main" id="{0B070BFB-652F-DCFE-385E-51867A406819}"/>
              </a:ext>
            </a:extLst>
          </p:cNvPr>
          <p:cNvCxnSpPr>
            <a:cxnSpLocks/>
            <a:stCxn id="13" idx="3"/>
            <a:endCxn id="12" idx="1"/>
          </p:cNvCxnSpPr>
          <p:nvPr/>
        </p:nvCxnSpPr>
        <p:spPr>
          <a:xfrm flipV="1">
            <a:off x="2710140" y="2487866"/>
            <a:ext cx="902197" cy="86271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7" name="Rectangle 16">
            <a:extLst>
              <a:ext uri="{FF2B5EF4-FFF2-40B4-BE49-F238E27FC236}">
                <a16:creationId xmlns:a16="http://schemas.microsoft.com/office/drawing/2014/main" id="{77585787-5CAD-80FE-F209-CBABC20E6D83}"/>
              </a:ext>
            </a:extLst>
          </p:cNvPr>
          <p:cNvSpPr/>
          <p:nvPr/>
        </p:nvSpPr>
        <p:spPr>
          <a:xfrm>
            <a:off x="3612337" y="2668767"/>
            <a:ext cx="1599743" cy="24573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81869358-82C6-9523-D3E3-460B8EF2D27D}"/>
              </a:ext>
            </a:extLst>
          </p:cNvPr>
          <p:cNvSpPr txBox="1"/>
          <p:nvPr/>
        </p:nvSpPr>
        <p:spPr>
          <a:xfrm>
            <a:off x="5926970" y="2122297"/>
            <a:ext cx="2604381" cy="461665"/>
          </a:xfrm>
          <a:prstGeom prst="rect">
            <a:avLst/>
          </a:prstGeom>
          <a:noFill/>
          <a:ln>
            <a:solidFill>
              <a:srgbClr val="FF0000"/>
            </a:solidFill>
          </a:ln>
        </p:spPr>
        <p:txBody>
          <a:bodyPr wrap="square" rtlCol="0">
            <a:spAutoFit/>
          </a:bodyPr>
          <a:lstStyle/>
          <a:p>
            <a:pPr algn="ctr"/>
            <a:r>
              <a:rPr lang="en-SG" sz="1200" dirty="0"/>
              <a:t>Assets such as images, </a:t>
            </a:r>
            <a:r>
              <a:rPr lang="en-SG" sz="1200" dirty="0" err="1"/>
              <a:t>javascript</a:t>
            </a:r>
            <a:r>
              <a:rPr lang="en-SG" sz="1200" dirty="0"/>
              <a:t>, </a:t>
            </a:r>
            <a:r>
              <a:rPr lang="en-SG" sz="1200" dirty="0" err="1"/>
              <a:t>css</a:t>
            </a:r>
            <a:r>
              <a:rPr lang="en-SG" sz="1200" dirty="0"/>
              <a:t> should be stored here</a:t>
            </a:r>
          </a:p>
        </p:txBody>
      </p:sp>
      <p:cxnSp>
        <p:nvCxnSpPr>
          <p:cNvPr id="19" name="Straight Arrow Connector 18">
            <a:extLst>
              <a:ext uri="{FF2B5EF4-FFF2-40B4-BE49-F238E27FC236}">
                <a16:creationId xmlns:a16="http://schemas.microsoft.com/office/drawing/2014/main" id="{5EC6868D-14A6-8020-CCB1-8340486BDD59}"/>
              </a:ext>
            </a:extLst>
          </p:cNvPr>
          <p:cNvCxnSpPr>
            <a:cxnSpLocks/>
            <a:stCxn id="18" idx="1"/>
            <a:endCxn id="17" idx="3"/>
          </p:cNvCxnSpPr>
          <p:nvPr/>
        </p:nvCxnSpPr>
        <p:spPr>
          <a:xfrm flipH="1">
            <a:off x="5212080" y="2353130"/>
            <a:ext cx="714890" cy="43850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Rectangle 22">
            <a:extLst>
              <a:ext uri="{FF2B5EF4-FFF2-40B4-BE49-F238E27FC236}">
                <a16:creationId xmlns:a16="http://schemas.microsoft.com/office/drawing/2014/main" id="{8795F946-85AE-F51B-0062-5F301162746C}"/>
              </a:ext>
            </a:extLst>
          </p:cNvPr>
          <p:cNvSpPr/>
          <p:nvPr/>
        </p:nvSpPr>
        <p:spPr>
          <a:xfrm>
            <a:off x="3612337" y="3009650"/>
            <a:ext cx="1810055" cy="152577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038E1D44-D7F6-970D-DD09-C5757DC15A77}"/>
              </a:ext>
            </a:extLst>
          </p:cNvPr>
          <p:cNvSpPr txBox="1"/>
          <p:nvPr/>
        </p:nvSpPr>
        <p:spPr>
          <a:xfrm>
            <a:off x="6125090" y="3554753"/>
            <a:ext cx="2604381" cy="461665"/>
          </a:xfrm>
          <a:prstGeom prst="rect">
            <a:avLst/>
          </a:prstGeom>
          <a:noFill/>
          <a:ln>
            <a:solidFill>
              <a:srgbClr val="FF0000"/>
            </a:solidFill>
          </a:ln>
        </p:spPr>
        <p:txBody>
          <a:bodyPr wrap="square" rtlCol="0">
            <a:spAutoFit/>
          </a:bodyPr>
          <a:lstStyle/>
          <a:p>
            <a:pPr algn="ctr"/>
            <a:r>
              <a:rPr lang="en-SG" sz="1200" dirty="0"/>
              <a:t>EJS files that contain HTML and embedded JavaScript in this folder</a:t>
            </a:r>
          </a:p>
        </p:txBody>
      </p:sp>
      <p:cxnSp>
        <p:nvCxnSpPr>
          <p:cNvPr id="25" name="Straight Arrow Connector 24">
            <a:extLst>
              <a:ext uri="{FF2B5EF4-FFF2-40B4-BE49-F238E27FC236}">
                <a16:creationId xmlns:a16="http://schemas.microsoft.com/office/drawing/2014/main" id="{5FBAB007-3155-2FC9-47A4-E9D042560BE4}"/>
              </a:ext>
            </a:extLst>
          </p:cNvPr>
          <p:cNvCxnSpPr>
            <a:cxnSpLocks/>
            <a:stCxn id="24" idx="1"/>
            <a:endCxn id="23" idx="3"/>
          </p:cNvCxnSpPr>
          <p:nvPr/>
        </p:nvCxnSpPr>
        <p:spPr>
          <a:xfrm flipH="1" flipV="1">
            <a:off x="5422392" y="3772537"/>
            <a:ext cx="702698" cy="1304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Rectangle 30">
            <a:extLst>
              <a:ext uri="{FF2B5EF4-FFF2-40B4-BE49-F238E27FC236}">
                <a16:creationId xmlns:a16="http://schemas.microsoft.com/office/drawing/2014/main" id="{A728A58E-C396-8D83-4E09-EB9CF55DBB6B}"/>
              </a:ext>
            </a:extLst>
          </p:cNvPr>
          <p:cNvSpPr/>
          <p:nvPr/>
        </p:nvSpPr>
        <p:spPr>
          <a:xfrm>
            <a:off x="3612337" y="4629418"/>
            <a:ext cx="1527048" cy="24688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2" name="TextBox 31">
            <a:extLst>
              <a:ext uri="{FF2B5EF4-FFF2-40B4-BE49-F238E27FC236}">
                <a16:creationId xmlns:a16="http://schemas.microsoft.com/office/drawing/2014/main" id="{10A6403B-3E7C-29C5-1998-9E4891C154CF}"/>
              </a:ext>
            </a:extLst>
          </p:cNvPr>
          <p:cNvSpPr txBox="1"/>
          <p:nvPr/>
        </p:nvSpPr>
        <p:spPr>
          <a:xfrm>
            <a:off x="401491" y="4055441"/>
            <a:ext cx="2478024" cy="461665"/>
          </a:xfrm>
          <a:prstGeom prst="rect">
            <a:avLst/>
          </a:prstGeom>
          <a:noFill/>
          <a:ln>
            <a:solidFill>
              <a:srgbClr val="FF0000"/>
            </a:solidFill>
          </a:ln>
        </p:spPr>
        <p:txBody>
          <a:bodyPr wrap="square" rtlCol="0">
            <a:spAutoFit/>
          </a:bodyPr>
          <a:lstStyle/>
          <a:p>
            <a:pPr algn="ctr"/>
            <a:r>
              <a:rPr lang="en-SG" sz="1200" dirty="0"/>
              <a:t>Entry point for the project to run, also contains business logic</a:t>
            </a:r>
          </a:p>
        </p:txBody>
      </p:sp>
      <p:cxnSp>
        <p:nvCxnSpPr>
          <p:cNvPr id="33" name="Straight Arrow Connector 32">
            <a:extLst>
              <a:ext uri="{FF2B5EF4-FFF2-40B4-BE49-F238E27FC236}">
                <a16:creationId xmlns:a16="http://schemas.microsoft.com/office/drawing/2014/main" id="{AAA987A3-71B6-B0D2-5797-72A8FFC10E3D}"/>
              </a:ext>
            </a:extLst>
          </p:cNvPr>
          <p:cNvCxnSpPr>
            <a:cxnSpLocks/>
            <a:stCxn id="32" idx="3"/>
            <a:endCxn id="31" idx="1"/>
          </p:cNvCxnSpPr>
          <p:nvPr/>
        </p:nvCxnSpPr>
        <p:spPr>
          <a:xfrm>
            <a:off x="2879515" y="4286274"/>
            <a:ext cx="732822" cy="46658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8" name="Rectangle 37">
            <a:extLst>
              <a:ext uri="{FF2B5EF4-FFF2-40B4-BE49-F238E27FC236}">
                <a16:creationId xmlns:a16="http://schemas.microsoft.com/office/drawing/2014/main" id="{A55A8B51-849E-3672-2A78-7969879D553B}"/>
              </a:ext>
            </a:extLst>
          </p:cNvPr>
          <p:cNvSpPr/>
          <p:nvPr/>
        </p:nvSpPr>
        <p:spPr>
          <a:xfrm>
            <a:off x="3612337" y="5275914"/>
            <a:ext cx="1527048" cy="24688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273CFCFF-D3EC-26E4-D711-A6654A75A9E1}"/>
              </a:ext>
            </a:extLst>
          </p:cNvPr>
          <p:cNvSpPr txBox="1"/>
          <p:nvPr/>
        </p:nvSpPr>
        <p:spPr>
          <a:xfrm>
            <a:off x="401491" y="4738513"/>
            <a:ext cx="2478024" cy="830997"/>
          </a:xfrm>
          <a:prstGeom prst="rect">
            <a:avLst/>
          </a:prstGeom>
          <a:noFill/>
          <a:ln>
            <a:solidFill>
              <a:srgbClr val="FF0000"/>
            </a:solidFill>
          </a:ln>
        </p:spPr>
        <p:txBody>
          <a:bodyPr wrap="square" rtlCol="0">
            <a:spAutoFit/>
          </a:bodyPr>
          <a:lstStyle/>
          <a:p>
            <a:pPr algn="ctr"/>
            <a:r>
              <a:rPr lang="en-SG" sz="1200" dirty="0"/>
              <a:t>Contains meta data about the project(e.g. project name, description), dependencies required by the project, etc.</a:t>
            </a:r>
          </a:p>
        </p:txBody>
      </p:sp>
      <p:cxnSp>
        <p:nvCxnSpPr>
          <p:cNvPr id="40" name="Straight Arrow Connector 39">
            <a:extLst>
              <a:ext uri="{FF2B5EF4-FFF2-40B4-BE49-F238E27FC236}">
                <a16:creationId xmlns:a16="http://schemas.microsoft.com/office/drawing/2014/main" id="{3514C241-0279-A1C3-619F-BAC07E1C6D76}"/>
              </a:ext>
            </a:extLst>
          </p:cNvPr>
          <p:cNvCxnSpPr>
            <a:cxnSpLocks/>
            <a:stCxn id="39" idx="3"/>
            <a:endCxn id="38" idx="1"/>
          </p:cNvCxnSpPr>
          <p:nvPr/>
        </p:nvCxnSpPr>
        <p:spPr>
          <a:xfrm>
            <a:off x="2879515" y="5154012"/>
            <a:ext cx="732822" cy="2453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1" name="Rectangle 40">
            <a:extLst>
              <a:ext uri="{FF2B5EF4-FFF2-40B4-BE49-F238E27FC236}">
                <a16:creationId xmlns:a16="http://schemas.microsoft.com/office/drawing/2014/main" id="{DBEDDA3B-E042-0A99-853D-CB03CB3E4B83}"/>
              </a:ext>
            </a:extLst>
          </p:cNvPr>
          <p:cNvSpPr/>
          <p:nvPr/>
        </p:nvSpPr>
        <p:spPr>
          <a:xfrm>
            <a:off x="3612337" y="4945054"/>
            <a:ext cx="1919328" cy="27439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A75088EC-3E3D-E936-D774-75915F087620}"/>
              </a:ext>
            </a:extLst>
          </p:cNvPr>
          <p:cNvSpPr txBox="1"/>
          <p:nvPr/>
        </p:nvSpPr>
        <p:spPr>
          <a:xfrm>
            <a:off x="6039916" y="4398585"/>
            <a:ext cx="2604381" cy="646331"/>
          </a:xfrm>
          <a:prstGeom prst="rect">
            <a:avLst/>
          </a:prstGeom>
          <a:noFill/>
          <a:ln>
            <a:solidFill>
              <a:srgbClr val="FF0000"/>
            </a:solidFill>
          </a:ln>
        </p:spPr>
        <p:txBody>
          <a:bodyPr wrap="square" rtlCol="0">
            <a:spAutoFit/>
          </a:bodyPr>
          <a:lstStyle/>
          <a:p>
            <a:pPr algn="ctr"/>
            <a:r>
              <a:rPr lang="en-SG" sz="1200" dirty="0"/>
              <a:t>Automatically generated when you run </a:t>
            </a:r>
            <a:r>
              <a:rPr lang="en-SG" sz="1200" dirty="0" err="1"/>
              <a:t>npm</a:t>
            </a:r>
            <a:r>
              <a:rPr lang="en-SG" sz="1200" dirty="0"/>
              <a:t> install for the first time. Locks the version of the packages</a:t>
            </a:r>
          </a:p>
        </p:txBody>
      </p:sp>
      <p:cxnSp>
        <p:nvCxnSpPr>
          <p:cNvPr id="43" name="Straight Arrow Connector 42">
            <a:extLst>
              <a:ext uri="{FF2B5EF4-FFF2-40B4-BE49-F238E27FC236}">
                <a16:creationId xmlns:a16="http://schemas.microsoft.com/office/drawing/2014/main" id="{A102D1CB-C62C-71AE-3247-2051F7AB9072}"/>
              </a:ext>
            </a:extLst>
          </p:cNvPr>
          <p:cNvCxnSpPr>
            <a:cxnSpLocks/>
            <a:stCxn id="42" idx="1"/>
            <a:endCxn id="41" idx="3"/>
          </p:cNvCxnSpPr>
          <p:nvPr/>
        </p:nvCxnSpPr>
        <p:spPr>
          <a:xfrm flipH="1">
            <a:off x="5531665" y="4721751"/>
            <a:ext cx="508251" cy="36050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13009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C8EAE9-1C91-DDC3-E8D8-EDBB2AF81E69}"/>
              </a:ext>
            </a:extLst>
          </p:cNvPr>
          <p:cNvSpPr>
            <a:spLocks noGrp="1"/>
          </p:cNvSpPr>
          <p:nvPr>
            <p:ph type="body" sz="quarter" idx="14"/>
          </p:nvPr>
        </p:nvSpPr>
        <p:spPr/>
        <p:txBody>
          <a:bodyPr/>
          <a:lstStyle/>
          <a:p>
            <a:r>
              <a:rPr lang="en-SG" sz="2000" dirty="0"/>
              <a:t>Recall in C237, we discussed about Model-View-Controller(MVC) </a:t>
            </a:r>
          </a:p>
        </p:txBody>
      </p:sp>
      <p:sp>
        <p:nvSpPr>
          <p:cNvPr id="2" name="Title 1">
            <a:extLst>
              <a:ext uri="{FF2B5EF4-FFF2-40B4-BE49-F238E27FC236}">
                <a16:creationId xmlns:a16="http://schemas.microsoft.com/office/drawing/2014/main" id="{A2636379-B177-2C30-051B-BA193AEE04D2}"/>
              </a:ext>
            </a:extLst>
          </p:cNvPr>
          <p:cNvSpPr>
            <a:spLocks noGrp="1"/>
          </p:cNvSpPr>
          <p:nvPr>
            <p:ph type="title"/>
          </p:nvPr>
        </p:nvSpPr>
        <p:spPr/>
        <p:txBody>
          <a:bodyPr/>
          <a:lstStyle/>
          <a:p>
            <a:r>
              <a:rPr lang="en-SG" dirty="0"/>
              <a:t>MVC</a:t>
            </a:r>
          </a:p>
        </p:txBody>
      </p:sp>
      <p:pic>
        <p:nvPicPr>
          <p:cNvPr id="4" name="Picture 3">
            <a:extLst>
              <a:ext uri="{FF2B5EF4-FFF2-40B4-BE49-F238E27FC236}">
                <a16:creationId xmlns:a16="http://schemas.microsoft.com/office/drawing/2014/main" id="{29D435BD-22DA-211A-F3CF-6B7C8AFD7F05}"/>
              </a:ext>
            </a:extLst>
          </p:cNvPr>
          <p:cNvPicPr>
            <a:picLocks noChangeAspect="1"/>
          </p:cNvPicPr>
          <p:nvPr/>
        </p:nvPicPr>
        <p:blipFill>
          <a:blip r:embed="rId2"/>
          <a:stretch>
            <a:fillRect/>
          </a:stretch>
        </p:blipFill>
        <p:spPr>
          <a:xfrm>
            <a:off x="2023571" y="2594726"/>
            <a:ext cx="5096857" cy="3543844"/>
          </a:xfrm>
          <a:prstGeom prst="rect">
            <a:avLst/>
          </a:prstGeom>
        </p:spPr>
      </p:pic>
      <p:sp>
        <p:nvSpPr>
          <p:cNvPr id="5" name="TextBox 5">
            <a:extLst>
              <a:ext uri="{FF2B5EF4-FFF2-40B4-BE49-F238E27FC236}">
                <a16:creationId xmlns:a16="http://schemas.microsoft.com/office/drawing/2014/main" id="{8F8C58F0-01F2-ABE8-DED6-DC90475455C7}"/>
              </a:ext>
            </a:extLst>
          </p:cNvPr>
          <p:cNvSpPr txBox="1"/>
          <p:nvPr/>
        </p:nvSpPr>
        <p:spPr>
          <a:xfrm>
            <a:off x="4049840" y="6109799"/>
            <a:ext cx="4828984"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SG" sz="1200" dirty="0">
                <a:hlinkClick r:id="rId3"/>
              </a:rPr>
              <a:t>https://www.geeksforgeeks.org/mvc-framework-introduction/</a:t>
            </a:r>
            <a:r>
              <a:rPr lang="en-SG" sz="1200" dirty="0"/>
              <a:t> </a:t>
            </a:r>
          </a:p>
        </p:txBody>
      </p:sp>
    </p:spTree>
    <p:extLst>
      <p:ext uri="{BB962C8B-B14F-4D97-AF65-F5344CB8AC3E}">
        <p14:creationId xmlns:p14="http://schemas.microsoft.com/office/powerpoint/2010/main" val="828131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F8525-ACE8-9DF8-1001-1C281D03FC23}"/>
              </a:ext>
            </a:extLst>
          </p:cNvPr>
          <p:cNvSpPr>
            <a:spLocks noGrp="1"/>
          </p:cNvSpPr>
          <p:nvPr>
            <p:ph type="title"/>
          </p:nvPr>
        </p:nvSpPr>
        <p:spPr/>
        <p:txBody>
          <a:bodyPr/>
          <a:lstStyle/>
          <a:p>
            <a:r>
              <a:rPr lang="en-SG" dirty="0"/>
              <a:t>MVC</a:t>
            </a:r>
          </a:p>
        </p:txBody>
      </p:sp>
      <p:pic>
        <p:nvPicPr>
          <p:cNvPr id="4" name="Picture 3">
            <a:extLst>
              <a:ext uri="{FF2B5EF4-FFF2-40B4-BE49-F238E27FC236}">
                <a16:creationId xmlns:a16="http://schemas.microsoft.com/office/drawing/2014/main" id="{EAAC4A26-FD62-295A-61F1-AA0FEC4414E4}"/>
              </a:ext>
            </a:extLst>
          </p:cNvPr>
          <p:cNvPicPr>
            <a:picLocks noChangeAspect="1"/>
          </p:cNvPicPr>
          <p:nvPr/>
        </p:nvPicPr>
        <p:blipFill>
          <a:blip r:embed="rId2"/>
          <a:stretch>
            <a:fillRect/>
          </a:stretch>
        </p:blipFill>
        <p:spPr>
          <a:xfrm>
            <a:off x="665611" y="1724491"/>
            <a:ext cx="4902947" cy="3409018"/>
          </a:xfrm>
          <a:prstGeom prst="rect">
            <a:avLst/>
          </a:prstGeom>
        </p:spPr>
      </p:pic>
      <p:sp>
        <p:nvSpPr>
          <p:cNvPr id="5" name="TextBox 4">
            <a:extLst>
              <a:ext uri="{FF2B5EF4-FFF2-40B4-BE49-F238E27FC236}">
                <a16:creationId xmlns:a16="http://schemas.microsoft.com/office/drawing/2014/main" id="{6220ECEA-F14A-FC7F-36A6-D81B5454B576}"/>
              </a:ext>
            </a:extLst>
          </p:cNvPr>
          <p:cNvSpPr txBox="1"/>
          <p:nvPr/>
        </p:nvSpPr>
        <p:spPr>
          <a:xfrm>
            <a:off x="702592" y="5498295"/>
            <a:ext cx="4828984"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SG" sz="1200" dirty="0">
                <a:hlinkClick r:id="rId3"/>
              </a:rPr>
              <a:t>https://www.geeksforgeeks.org/mvc-framework-introduction/</a:t>
            </a:r>
            <a:r>
              <a:rPr lang="en-SG" sz="1200" dirty="0"/>
              <a:t> </a:t>
            </a:r>
          </a:p>
        </p:txBody>
      </p:sp>
      <p:sp>
        <p:nvSpPr>
          <p:cNvPr id="6" name="Rectangle 5">
            <a:extLst>
              <a:ext uri="{FF2B5EF4-FFF2-40B4-BE49-F238E27FC236}">
                <a16:creationId xmlns:a16="http://schemas.microsoft.com/office/drawing/2014/main" id="{636FBD32-BA94-9365-463B-6D0FBD3A8A8C}"/>
              </a:ext>
            </a:extLst>
          </p:cNvPr>
          <p:cNvSpPr/>
          <p:nvPr/>
        </p:nvSpPr>
        <p:spPr>
          <a:xfrm>
            <a:off x="3955585" y="1724491"/>
            <a:ext cx="1392636" cy="1467738"/>
          </a:xfrm>
          <a:prstGeom prst="rect">
            <a:avLst/>
          </a:prstGeom>
          <a:noFill/>
          <a:ln w="222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6F67086C-13A7-EFD0-D2B6-A1EBB67EFDF9}"/>
              </a:ext>
            </a:extLst>
          </p:cNvPr>
          <p:cNvSpPr txBox="1"/>
          <p:nvPr/>
        </p:nvSpPr>
        <p:spPr>
          <a:xfrm>
            <a:off x="5795529" y="1975005"/>
            <a:ext cx="3083295" cy="1169551"/>
          </a:xfrm>
          <a:prstGeom prst="rect">
            <a:avLst/>
          </a:prstGeom>
          <a:noFill/>
          <a:ln w="19050">
            <a:solidFill>
              <a:srgbClr val="FF0000"/>
            </a:solidFill>
          </a:ln>
        </p:spPr>
        <p:txBody>
          <a:bodyPr wrap="square" rtlCol="0">
            <a:spAutoFit/>
          </a:bodyPr>
          <a:lstStyle/>
          <a:p>
            <a:pPr algn="ctr"/>
            <a:r>
              <a:rPr lang="en-SG" sz="1400" dirty="0"/>
              <a:t>In C237, we used the template engine </a:t>
            </a:r>
            <a:r>
              <a:rPr lang="en-SG" sz="1400" b="1" dirty="0"/>
              <a:t>Embedded JavaScript(EJS) </a:t>
            </a:r>
            <a:r>
              <a:rPr lang="en-SG" sz="1400" dirty="0"/>
              <a:t>to help us process and display the views. The EJS files were placed in a folder named </a:t>
            </a:r>
            <a:r>
              <a:rPr lang="en-SG" sz="1400" b="1" dirty="0"/>
              <a:t>views</a:t>
            </a:r>
          </a:p>
        </p:txBody>
      </p:sp>
      <p:sp>
        <p:nvSpPr>
          <p:cNvPr id="8" name="Rectangle 7">
            <a:extLst>
              <a:ext uri="{FF2B5EF4-FFF2-40B4-BE49-F238E27FC236}">
                <a16:creationId xmlns:a16="http://schemas.microsoft.com/office/drawing/2014/main" id="{7C0C7B5D-3474-C302-8C79-2577A1E331D6}"/>
              </a:ext>
            </a:extLst>
          </p:cNvPr>
          <p:cNvSpPr/>
          <p:nvPr/>
        </p:nvSpPr>
        <p:spPr>
          <a:xfrm>
            <a:off x="917962" y="1724491"/>
            <a:ext cx="1624070" cy="1547177"/>
          </a:xfrm>
          <a:prstGeom prst="rect">
            <a:avLst/>
          </a:prstGeom>
          <a:noFill/>
          <a:ln w="22225">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296B6E86-A235-DB1A-B5B5-26DF4F955722}"/>
              </a:ext>
            </a:extLst>
          </p:cNvPr>
          <p:cNvSpPr txBox="1"/>
          <p:nvPr/>
        </p:nvSpPr>
        <p:spPr>
          <a:xfrm>
            <a:off x="5795529" y="3544840"/>
            <a:ext cx="3083295" cy="2462213"/>
          </a:xfrm>
          <a:prstGeom prst="rect">
            <a:avLst/>
          </a:prstGeom>
          <a:noFill/>
          <a:ln w="19050">
            <a:solidFill>
              <a:srgbClr val="92D050"/>
            </a:solidFill>
          </a:ln>
        </p:spPr>
        <p:txBody>
          <a:bodyPr wrap="square" rtlCol="0">
            <a:spAutoFit/>
          </a:bodyPr>
          <a:lstStyle/>
          <a:p>
            <a:pPr algn="ctr"/>
            <a:r>
              <a:rPr lang="en-SG" sz="1400" dirty="0"/>
              <a:t>Model and controller, there was no explicit structuring of this, as all the logic was in </a:t>
            </a:r>
            <a:r>
              <a:rPr lang="en-SG" sz="1400" b="1" dirty="0"/>
              <a:t>app.js</a:t>
            </a:r>
            <a:r>
              <a:rPr lang="en-SG" sz="1400" dirty="0"/>
              <a:t>. </a:t>
            </a:r>
          </a:p>
          <a:p>
            <a:pPr algn="ctr"/>
            <a:endParaRPr lang="en-SG" sz="1400" dirty="0"/>
          </a:p>
          <a:p>
            <a:pPr algn="ctr"/>
            <a:r>
              <a:rPr lang="en-SG" sz="1400" dirty="0"/>
              <a:t>While the code will still work, as the project grows larger, it can become difficult to manage. </a:t>
            </a:r>
          </a:p>
          <a:p>
            <a:pPr algn="ctr"/>
            <a:endParaRPr lang="en-SG" sz="1400" dirty="0"/>
          </a:p>
          <a:p>
            <a:pPr algn="ctr"/>
            <a:r>
              <a:rPr lang="en-SG" sz="1400" dirty="0"/>
              <a:t>In this module, we will also look at how to </a:t>
            </a:r>
            <a:r>
              <a:rPr lang="en-US" sz="1400" b="0" i="0" dirty="0">
                <a:solidFill>
                  <a:srgbClr val="0D0D0D"/>
                </a:solidFill>
                <a:effectLst/>
              </a:rPr>
              <a:t>organize code for better maintainability and scalability.</a:t>
            </a:r>
            <a:endParaRPr lang="en-SG" sz="1400" dirty="0"/>
          </a:p>
        </p:txBody>
      </p:sp>
      <p:sp>
        <p:nvSpPr>
          <p:cNvPr id="10" name="Rectangle 9">
            <a:extLst>
              <a:ext uri="{FF2B5EF4-FFF2-40B4-BE49-F238E27FC236}">
                <a16:creationId xmlns:a16="http://schemas.microsoft.com/office/drawing/2014/main" id="{9193A1F7-5F4B-CB55-BE67-F82977AFC73A}"/>
              </a:ext>
            </a:extLst>
          </p:cNvPr>
          <p:cNvSpPr/>
          <p:nvPr/>
        </p:nvSpPr>
        <p:spPr>
          <a:xfrm>
            <a:off x="2688551" y="3557015"/>
            <a:ext cx="1624070" cy="1363311"/>
          </a:xfrm>
          <a:prstGeom prst="rect">
            <a:avLst/>
          </a:prstGeom>
          <a:noFill/>
          <a:ln w="22225">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5736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6D61F-43C7-DDB7-2EB5-F46532C58648}"/>
            </a:ext>
          </a:extLst>
        </p:cNvPr>
        <p:cNvGrpSpPr/>
        <p:nvPr/>
      </p:nvGrpSpPr>
      <p:grpSpPr>
        <a:xfrm>
          <a:off x="0" y="0"/>
          <a:ext cx="0" cy="0"/>
          <a:chOff x="0" y="0"/>
          <a:chExt cx="0" cy="0"/>
        </a:xfrm>
      </p:grpSpPr>
      <p:sp>
        <p:nvSpPr>
          <p:cNvPr id="8" name="Text Placeholder 1">
            <a:extLst>
              <a:ext uri="{FF2B5EF4-FFF2-40B4-BE49-F238E27FC236}">
                <a16:creationId xmlns:a16="http://schemas.microsoft.com/office/drawing/2014/main" id="{90B90603-8374-0BF4-19E2-3E92FD968C91}"/>
              </a:ext>
            </a:extLst>
          </p:cNvPr>
          <p:cNvSpPr>
            <a:spLocks noGrp="1"/>
          </p:cNvSpPr>
          <p:nvPr>
            <p:ph type="body" sz="quarter" idx="13"/>
          </p:nvPr>
        </p:nvSpPr>
        <p:spPr>
          <a:xfrm>
            <a:off x="505249" y="5294744"/>
            <a:ext cx="7943425" cy="797867"/>
          </a:xfrm>
        </p:spPr>
        <p:txBody>
          <a:bodyPr/>
          <a:lstStyle/>
          <a:p>
            <a:endParaRPr lang="en-US"/>
          </a:p>
        </p:txBody>
      </p:sp>
      <p:sp>
        <p:nvSpPr>
          <p:cNvPr id="2" name="Title 1">
            <a:extLst>
              <a:ext uri="{FF2B5EF4-FFF2-40B4-BE49-F238E27FC236}">
                <a16:creationId xmlns:a16="http://schemas.microsoft.com/office/drawing/2014/main" id="{A1CDC6D5-B521-2C1B-9385-4A93422578E1}"/>
              </a:ext>
            </a:extLst>
          </p:cNvPr>
          <p:cNvSpPr>
            <a:spLocks noGrp="1"/>
          </p:cNvSpPr>
          <p:nvPr>
            <p:ph type="title"/>
          </p:nvPr>
        </p:nvSpPr>
        <p:spPr>
          <a:xfrm>
            <a:off x="505249" y="2948075"/>
            <a:ext cx="7943426" cy="2128750"/>
          </a:xfrm>
        </p:spPr>
        <p:txBody>
          <a:bodyPr anchor="t">
            <a:normAutofit/>
          </a:bodyPr>
          <a:lstStyle/>
          <a:p>
            <a:r>
              <a:rPr lang="en-SG" sz="4600" dirty="0"/>
              <a:t>Separation of Concerns </a:t>
            </a:r>
          </a:p>
        </p:txBody>
      </p:sp>
    </p:spTree>
    <p:extLst>
      <p:ext uri="{BB962C8B-B14F-4D97-AF65-F5344CB8AC3E}">
        <p14:creationId xmlns:p14="http://schemas.microsoft.com/office/powerpoint/2010/main" val="3309578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8D23E6-6308-42CA-8F72-22D2089F273D}"/>
              </a:ext>
            </a:extLst>
          </p:cNvPr>
          <p:cNvSpPr>
            <a:spLocks noGrp="1"/>
          </p:cNvSpPr>
          <p:nvPr>
            <p:ph type="body" sz="quarter" idx="14"/>
          </p:nvPr>
        </p:nvSpPr>
        <p:spPr/>
        <p:txBody>
          <a:bodyPr>
            <a:normAutofit/>
          </a:bodyPr>
          <a:lstStyle/>
          <a:p>
            <a:r>
              <a:rPr lang="en-US" sz="2000" b="1" dirty="0"/>
              <a:t>Separation of Concerns (SoC) </a:t>
            </a:r>
            <a:r>
              <a:rPr lang="en-US" sz="2000" dirty="0"/>
              <a:t>is a fundamental software design principle that promotes organizing a program into distinct sections, where each section addresses a separate concern or responsibility. </a:t>
            </a:r>
          </a:p>
          <a:p>
            <a:endParaRPr lang="en-US" sz="2000" dirty="0"/>
          </a:p>
          <a:p>
            <a:r>
              <a:rPr lang="en-US" sz="2000" dirty="0"/>
              <a:t>A concern in software development can be any distinct functionality or feature, such as business logic, user interface, database interaction, or security.</a:t>
            </a:r>
          </a:p>
          <a:p>
            <a:endParaRPr lang="en-US" sz="2000" dirty="0"/>
          </a:p>
          <a:p>
            <a:r>
              <a:rPr lang="en-US" sz="2000" dirty="0"/>
              <a:t>The primary goal of SoC is to isolate responsibilities within different modules, layers, or classes of an application. This improves maintainability, readability, scalability, and testability.</a:t>
            </a:r>
            <a:endParaRPr lang="en-SG" sz="2000" dirty="0"/>
          </a:p>
        </p:txBody>
      </p:sp>
      <p:sp>
        <p:nvSpPr>
          <p:cNvPr id="2" name="Title 1">
            <a:extLst>
              <a:ext uri="{FF2B5EF4-FFF2-40B4-BE49-F238E27FC236}">
                <a16:creationId xmlns:a16="http://schemas.microsoft.com/office/drawing/2014/main" id="{FB69F207-C0C0-34FD-4A0A-20CD8D18AC9E}"/>
              </a:ext>
            </a:extLst>
          </p:cNvPr>
          <p:cNvSpPr>
            <a:spLocks noGrp="1"/>
          </p:cNvSpPr>
          <p:nvPr>
            <p:ph type="title"/>
          </p:nvPr>
        </p:nvSpPr>
        <p:spPr/>
        <p:txBody>
          <a:bodyPr/>
          <a:lstStyle/>
          <a:p>
            <a:r>
              <a:rPr lang="en-SG" dirty="0"/>
              <a:t>Separation of Concerns </a:t>
            </a:r>
          </a:p>
        </p:txBody>
      </p:sp>
    </p:spTree>
    <p:extLst>
      <p:ext uri="{BB962C8B-B14F-4D97-AF65-F5344CB8AC3E}">
        <p14:creationId xmlns:p14="http://schemas.microsoft.com/office/powerpoint/2010/main" val="3753091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8D23E6-6308-42CA-8F72-22D2089F273D}"/>
              </a:ext>
            </a:extLst>
          </p:cNvPr>
          <p:cNvSpPr>
            <a:spLocks noGrp="1"/>
          </p:cNvSpPr>
          <p:nvPr>
            <p:ph type="body" sz="quarter" idx="14"/>
          </p:nvPr>
        </p:nvSpPr>
        <p:spPr/>
        <p:txBody>
          <a:bodyPr/>
          <a:lstStyle/>
          <a:p>
            <a:pPr marL="0" indent="0">
              <a:buNone/>
            </a:pPr>
            <a:r>
              <a:rPr lang="en-US" b="1" dirty="0"/>
              <a:t>MVC (Model-View-Controller)</a:t>
            </a:r>
            <a:r>
              <a:rPr lang="en-US" dirty="0"/>
              <a:t> is a classic example of the </a:t>
            </a:r>
            <a:r>
              <a:rPr lang="en-US" b="1" dirty="0"/>
              <a:t>Separation of Concerns (SoC)</a:t>
            </a:r>
            <a:r>
              <a:rPr lang="en-US" dirty="0"/>
              <a:t> principle in software architecture.</a:t>
            </a:r>
          </a:p>
          <a:p>
            <a:pPr marL="0" indent="0">
              <a:buNone/>
            </a:pPr>
            <a:endParaRPr lang="en-US" dirty="0"/>
          </a:p>
          <a:p>
            <a:r>
              <a:rPr lang="en-US" sz="1800" b="1" dirty="0"/>
              <a:t>Model</a:t>
            </a:r>
            <a:r>
              <a:rPr lang="en-US" sz="1800" dirty="0"/>
              <a:t>: Handles the data and business logic. It’s responsible for retrieving, storing, and processing data.</a:t>
            </a:r>
          </a:p>
          <a:p>
            <a:endParaRPr lang="en-US" sz="1800" dirty="0"/>
          </a:p>
          <a:p>
            <a:r>
              <a:rPr lang="en-US" sz="1800" b="1" dirty="0"/>
              <a:t>View</a:t>
            </a:r>
            <a:r>
              <a:rPr lang="en-US" sz="1800" dirty="0"/>
              <a:t>: Manages the presentation layer. It displays data to the user and defines how the UI looks.</a:t>
            </a:r>
          </a:p>
          <a:p>
            <a:endParaRPr lang="en-US" sz="1800" dirty="0"/>
          </a:p>
          <a:p>
            <a:r>
              <a:rPr lang="en-US" sz="1800" b="1" dirty="0"/>
              <a:t>Controller</a:t>
            </a:r>
            <a:r>
              <a:rPr lang="en-US" sz="1800" dirty="0"/>
              <a:t>: Acts as an intermediary between the Model and View. It handles user input, updates the Model, and refreshes the View.</a:t>
            </a:r>
          </a:p>
          <a:p>
            <a:endParaRPr lang="en-US" sz="1800" dirty="0"/>
          </a:p>
          <a:p>
            <a:r>
              <a:rPr lang="en-US" sz="1800" dirty="0"/>
              <a:t>By separating these responsibilities, MVC makes applications easier to maintain, test, and scale. Each component can evolve independently as long as the interfaces between them remain consistent.</a:t>
            </a:r>
          </a:p>
          <a:p>
            <a:pPr marL="0" indent="0">
              <a:buNone/>
            </a:pPr>
            <a:endParaRPr lang="en-SG" dirty="0"/>
          </a:p>
        </p:txBody>
      </p:sp>
      <p:sp>
        <p:nvSpPr>
          <p:cNvPr id="2" name="Title 1">
            <a:extLst>
              <a:ext uri="{FF2B5EF4-FFF2-40B4-BE49-F238E27FC236}">
                <a16:creationId xmlns:a16="http://schemas.microsoft.com/office/drawing/2014/main" id="{FB69F207-C0C0-34FD-4A0A-20CD8D18AC9E}"/>
              </a:ext>
            </a:extLst>
          </p:cNvPr>
          <p:cNvSpPr>
            <a:spLocks noGrp="1"/>
          </p:cNvSpPr>
          <p:nvPr>
            <p:ph type="title"/>
          </p:nvPr>
        </p:nvSpPr>
        <p:spPr/>
        <p:txBody>
          <a:bodyPr/>
          <a:lstStyle/>
          <a:p>
            <a:r>
              <a:rPr lang="en-SG" dirty="0"/>
              <a:t>Separation of Concerns </a:t>
            </a:r>
          </a:p>
        </p:txBody>
      </p:sp>
    </p:spTree>
    <p:extLst>
      <p:ext uri="{BB962C8B-B14F-4D97-AF65-F5344CB8AC3E}">
        <p14:creationId xmlns:p14="http://schemas.microsoft.com/office/powerpoint/2010/main" val="942685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94EA-5EDF-E329-3D3F-000243964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D000E-38E0-3ACB-CE45-2B777ADC1B98}"/>
              </a:ext>
            </a:extLst>
          </p:cNvPr>
          <p:cNvSpPr>
            <a:spLocks noGrp="1"/>
          </p:cNvSpPr>
          <p:nvPr>
            <p:ph type="title"/>
          </p:nvPr>
        </p:nvSpPr>
        <p:spPr/>
        <p:txBody>
          <a:bodyPr/>
          <a:lstStyle/>
          <a:p>
            <a:r>
              <a:rPr lang="en-SG" dirty="0"/>
              <a:t>Separation of Concerns </a:t>
            </a:r>
          </a:p>
        </p:txBody>
      </p:sp>
      <p:pic>
        <p:nvPicPr>
          <p:cNvPr id="4" name="Picture 3">
            <a:extLst>
              <a:ext uri="{FF2B5EF4-FFF2-40B4-BE49-F238E27FC236}">
                <a16:creationId xmlns:a16="http://schemas.microsoft.com/office/drawing/2014/main" id="{029F803A-FD3B-8DCD-2BA3-E38FC37AC7C2}"/>
              </a:ext>
            </a:extLst>
          </p:cNvPr>
          <p:cNvPicPr>
            <a:picLocks noChangeAspect="1"/>
          </p:cNvPicPr>
          <p:nvPr/>
        </p:nvPicPr>
        <p:blipFill>
          <a:blip r:embed="rId2"/>
          <a:stretch>
            <a:fillRect/>
          </a:stretch>
        </p:blipFill>
        <p:spPr>
          <a:xfrm>
            <a:off x="1654439" y="1594001"/>
            <a:ext cx="5578697" cy="3878867"/>
          </a:xfrm>
          <a:prstGeom prst="rect">
            <a:avLst/>
          </a:prstGeom>
        </p:spPr>
      </p:pic>
      <p:sp>
        <p:nvSpPr>
          <p:cNvPr id="5" name="TextBox 4">
            <a:extLst>
              <a:ext uri="{FF2B5EF4-FFF2-40B4-BE49-F238E27FC236}">
                <a16:creationId xmlns:a16="http://schemas.microsoft.com/office/drawing/2014/main" id="{93284FAD-93EF-6C57-E5CB-8321F0288C7E}"/>
              </a:ext>
            </a:extLst>
          </p:cNvPr>
          <p:cNvSpPr txBox="1"/>
          <p:nvPr/>
        </p:nvSpPr>
        <p:spPr>
          <a:xfrm>
            <a:off x="144616" y="6456725"/>
            <a:ext cx="4828984"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SG" sz="1200" dirty="0">
                <a:hlinkClick r:id="rId3"/>
              </a:rPr>
              <a:t>https://www.geeksforgeeks.org/mvc-framework-introduction/</a:t>
            </a:r>
            <a:r>
              <a:rPr lang="en-SG" sz="1200" dirty="0"/>
              <a:t> </a:t>
            </a:r>
          </a:p>
        </p:txBody>
      </p:sp>
      <p:sp>
        <p:nvSpPr>
          <p:cNvPr id="6" name="Rectangle 5">
            <a:extLst>
              <a:ext uri="{FF2B5EF4-FFF2-40B4-BE49-F238E27FC236}">
                <a16:creationId xmlns:a16="http://schemas.microsoft.com/office/drawing/2014/main" id="{73A099B5-9751-AF08-D53C-4C83A768B607}"/>
              </a:ext>
            </a:extLst>
          </p:cNvPr>
          <p:cNvSpPr/>
          <p:nvPr/>
        </p:nvSpPr>
        <p:spPr>
          <a:xfrm>
            <a:off x="5369443" y="1701209"/>
            <a:ext cx="1640902" cy="1520456"/>
          </a:xfrm>
          <a:prstGeom prst="rect">
            <a:avLst/>
          </a:prstGeom>
          <a:noFill/>
          <a:ln w="222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B7797DF5-F184-69B0-F2CF-3FD4F4871FCF}"/>
              </a:ext>
            </a:extLst>
          </p:cNvPr>
          <p:cNvSpPr txBox="1"/>
          <p:nvPr/>
        </p:nvSpPr>
        <p:spPr>
          <a:xfrm>
            <a:off x="7404500" y="2034607"/>
            <a:ext cx="1594884" cy="938719"/>
          </a:xfrm>
          <a:prstGeom prst="rect">
            <a:avLst/>
          </a:prstGeom>
          <a:noFill/>
          <a:ln w="19050">
            <a:solidFill>
              <a:srgbClr val="FF0000"/>
            </a:solidFill>
          </a:ln>
        </p:spPr>
        <p:txBody>
          <a:bodyPr wrap="square" rtlCol="0">
            <a:spAutoFit/>
          </a:bodyPr>
          <a:lstStyle/>
          <a:p>
            <a:r>
              <a:rPr lang="en-US" sz="1100" b="1" dirty="0"/>
              <a:t>View</a:t>
            </a:r>
            <a:r>
              <a:rPr lang="en-US" sz="1100" dirty="0"/>
              <a:t>: Manages the presentation layer. It displays data to the user and defines how the UI looks.</a:t>
            </a:r>
          </a:p>
        </p:txBody>
      </p:sp>
      <p:sp>
        <p:nvSpPr>
          <p:cNvPr id="8" name="Rectangle 7">
            <a:extLst>
              <a:ext uri="{FF2B5EF4-FFF2-40B4-BE49-F238E27FC236}">
                <a16:creationId xmlns:a16="http://schemas.microsoft.com/office/drawing/2014/main" id="{56B0EA4E-39B2-A16D-AD6C-C13504F320B4}"/>
              </a:ext>
            </a:extLst>
          </p:cNvPr>
          <p:cNvSpPr/>
          <p:nvPr/>
        </p:nvSpPr>
        <p:spPr>
          <a:xfrm>
            <a:off x="1910865" y="1701209"/>
            <a:ext cx="1863694" cy="1605517"/>
          </a:xfrm>
          <a:prstGeom prst="rect">
            <a:avLst/>
          </a:prstGeom>
          <a:noFill/>
          <a:ln w="2222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57B9BCF8-9617-E1A4-0C29-E262D6DB5DFE}"/>
              </a:ext>
            </a:extLst>
          </p:cNvPr>
          <p:cNvSpPr txBox="1"/>
          <p:nvPr/>
        </p:nvSpPr>
        <p:spPr>
          <a:xfrm>
            <a:off x="3577951" y="5580076"/>
            <a:ext cx="2613932" cy="769441"/>
          </a:xfrm>
          <a:prstGeom prst="rect">
            <a:avLst/>
          </a:prstGeom>
          <a:noFill/>
          <a:ln w="19050">
            <a:solidFill>
              <a:srgbClr val="92D050"/>
            </a:solidFill>
          </a:ln>
        </p:spPr>
        <p:txBody>
          <a:bodyPr wrap="square" rtlCol="0">
            <a:spAutoFit/>
          </a:bodyPr>
          <a:lstStyle/>
          <a:p>
            <a:r>
              <a:rPr lang="en-US" sz="1100" b="1" dirty="0"/>
              <a:t>Controller</a:t>
            </a:r>
            <a:r>
              <a:rPr lang="en-US" sz="1100" dirty="0"/>
              <a:t>: Acts as an intermediary between the Model and View. It handles user input, updates the Model, and refreshes the View.</a:t>
            </a:r>
            <a:endParaRPr lang="en-SG" sz="1100" dirty="0"/>
          </a:p>
        </p:txBody>
      </p:sp>
      <p:sp>
        <p:nvSpPr>
          <p:cNvPr id="10" name="Rectangle 9">
            <a:extLst>
              <a:ext uri="{FF2B5EF4-FFF2-40B4-BE49-F238E27FC236}">
                <a16:creationId xmlns:a16="http://schemas.microsoft.com/office/drawing/2014/main" id="{A3DBD350-E19B-548B-79DB-0ACEA2EDEE2C}"/>
              </a:ext>
            </a:extLst>
          </p:cNvPr>
          <p:cNvSpPr/>
          <p:nvPr/>
        </p:nvSpPr>
        <p:spPr>
          <a:xfrm>
            <a:off x="3975090" y="3780300"/>
            <a:ext cx="1819654" cy="1408390"/>
          </a:xfrm>
          <a:prstGeom prst="rect">
            <a:avLst/>
          </a:prstGeom>
          <a:noFill/>
          <a:ln w="22225">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3" name="TextBox 2">
            <a:extLst>
              <a:ext uri="{FF2B5EF4-FFF2-40B4-BE49-F238E27FC236}">
                <a16:creationId xmlns:a16="http://schemas.microsoft.com/office/drawing/2014/main" id="{7399B8AE-38CD-B744-6007-CAD281659C41}"/>
              </a:ext>
            </a:extLst>
          </p:cNvPr>
          <p:cNvSpPr txBox="1"/>
          <p:nvPr/>
        </p:nvSpPr>
        <p:spPr>
          <a:xfrm>
            <a:off x="144616" y="2024946"/>
            <a:ext cx="1509823" cy="938719"/>
          </a:xfrm>
          <a:prstGeom prst="rect">
            <a:avLst/>
          </a:prstGeom>
          <a:noFill/>
          <a:ln w="19050">
            <a:solidFill>
              <a:srgbClr val="0070C0"/>
            </a:solidFill>
          </a:ln>
        </p:spPr>
        <p:txBody>
          <a:bodyPr wrap="square" rtlCol="0">
            <a:spAutoFit/>
          </a:bodyPr>
          <a:lstStyle/>
          <a:p>
            <a:r>
              <a:rPr lang="en-US" sz="1100" b="1" dirty="0"/>
              <a:t>Model</a:t>
            </a:r>
            <a:r>
              <a:rPr lang="en-US" sz="1100" dirty="0"/>
              <a:t>: Handles the data and business logic. It’s responsible for retrieving, storing, and processing data.</a:t>
            </a:r>
          </a:p>
        </p:txBody>
      </p:sp>
    </p:spTree>
    <p:extLst>
      <p:ext uri="{BB962C8B-B14F-4D97-AF65-F5344CB8AC3E}">
        <p14:creationId xmlns:p14="http://schemas.microsoft.com/office/powerpoint/2010/main" val="548780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6B66D4-7531-9094-CDFB-ACCD02B492CE}"/>
              </a:ext>
            </a:extLst>
          </p:cNvPr>
          <p:cNvSpPr>
            <a:spLocks noGrp="1"/>
          </p:cNvSpPr>
          <p:nvPr>
            <p:ph type="body" sz="quarter" idx="14"/>
          </p:nvPr>
        </p:nvSpPr>
        <p:spPr>
          <a:xfrm>
            <a:off x="547526" y="1593024"/>
            <a:ext cx="4913474" cy="4572296"/>
          </a:xfrm>
        </p:spPr>
        <p:txBody>
          <a:bodyPr>
            <a:normAutofit lnSpcReduction="10000"/>
          </a:bodyPr>
          <a:lstStyle/>
          <a:p>
            <a:r>
              <a:rPr lang="en-SG" dirty="0"/>
              <a:t>Currently in </a:t>
            </a:r>
            <a:r>
              <a:rPr lang="en-SG" b="1" dirty="0" err="1"/>
              <a:t>StudentApp</a:t>
            </a:r>
            <a:r>
              <a:rPr lang="en-SG" dirty="0"/>
              <a:t>, </a:t>
            </a:r>
          </a:p>
          <a:p>
            <a:endParaRPr lang="en-SG" dirty="0"/>
          </a:p>
          <a:p>
            <a:pPr lvl="1"/>
            <a:r>
              <a:rPr lang="en-SG" dirty="0"/>
              <a:t>EJS files are already separated in the </a:t>
            </a:r>
            <a:r>
              <a:rPr lang="en-SG" b="1" dirty="0"/>
              <a:t>views</a:t>
            </a:r>
            <a:r>
              <a:rPr lang="en-SG" dirty="0"/>
              <a:t> folder</a:t>
            </a:r>
          </a:p>
          <a:p>
            <a:pPr lvl="1"/>
            <a:endParaRPr lang="en-SG" dirty="0"/>
          </a:p>
          <a:p>
            <a:pPr lvl="1"/>
            <a:r>
              <a:rPr lang="en-SG" b="1" dirty="0"/>
              <a:t>app.js</a:t>
            </a:r>
            <a:r>
              <a:rPr lang="en-SG" dirty="0"/>
              <a:t> contains the database credentials, handles input, data, business logic </a:t>
            </a:r>
          </a:p>
          <a:p>
            <a:pPr lvl="1"/>
            <a:endParaRPr lang="en-SG" dirty="0"/>
          </a:p>
          <a:p>
            <a:r>
              <a:rPr lang="en-SG" dirty="0"/>
              <a:t>As the project grows larger, it can become difficult to manage. </a:t>
            </a:r>
          </a:p>
          <a:p>
            <a:endParaRPr lang="en-SG" dirty="0"/>
          </a:p>
          <a:p>
            <a:r>
              <a:rPr lang="en-US" dirty="0"/>
              <a:t>Including credentials directly in </a:t>
            </a:r>
            <a:r>
              <a:rPr lang="en-US" b="1" dirty="0"/>
              <a:t>app.js </a:t>
            </a:r>
            <a:r>
              <a:rPr lang="en-US" dirty="0"/>
              <a:t>introduces potential security vulnerabilities.</a:t>
            </a:r>
            <a:endParaRPr lang="en-SG" dirty="0"/>
          </a:p>
          <a:p>
            <a:endParaRPr lang="en-SG" dirty="0"/>
          </a:p>
        </p:txBody>
      </p:sp>
      <p:sp>
        <p:nvSpPr>
          <p:cNvPr id="2" name="Title 1">
            <a:extLst>
              <a:ext uri="{FF2B5EF4-FFF2-40B4-BE49-F238E27FC236}">
                <a16:creationId xmlns:a16="http://schemas.microsoft.com/office/drawing/2014/main" id="{1598CF91-4830-E388-4707-CBCE43C5B17D}"/>
              </a:ext>
            </a:extLst>
          </p:cNvPr>
          <p:cNvSpPr>
            <a:spLocks noGrp="1"/>
          </p:cNvSpPr>
          <p:nvPr>
            <p:ph type="title"/>
          </p:nvPr>
        </p:nvSpPr>
        <p:spPr/>
        <p:txBody>
          <a:bodyPr/>
          <a:lstStyle/>
          <a:p>
            <a:r>
              <a:rPr lang="en-SG" dirty="0"/>
              <a:t>Separation of Concerns </a:t>
            </a:r>
          </a:p>
        </p:txBody>
      </p:sp>
      <p:pic>
        <p:nvPicPr>
          <p:cNvPr id="4" name="Picture 3">
            <a:extLst>
              <a:ext uri="{FF2B5EF4-FFF2-40B4-BE49-F238E27FC236}">
                <a16:creationId xmlns:a16="http://schemas.microsoft.com/office/drawing/2014/main" id="{47D79F11-53E3-E779-93C3-CAD2C20C8987}"/>
              </a:ext>
            </a:extLst>
          </p:cNvPr>
          <p:cNvPicPr>
            <a:picLocks noChangeAspect="1"/>
          </p:cNvPicPr>
          <p:nvPr/>
        </p:nvPicPr>
        <p:blipFill>
          <a:blip r:embed="rId3"/>
          <a:stretch>
            <a:fillRect/>
          </a:stretch>
        </p:blipFill>
        <p:spPr>
          <a:xfrm>
            <a:off x="5728006" y="1798970"/>
            <a:ext cx="2217457" cy="3547931"/>
          </a:xfrm>
          <a:prstGeom prst="rect">
            <a:avLst/>
          </a:prstGeom>
        </p:spPr>
      </p:pic>
    </p:spTree>
    <p:extLst>
      <p:ext uri="{BB962C8B-B14F-4D97-AF65-F5344CB8AC3E}">
        <p14:creationId xmlns:p14="http://schemas.microsoft.com/office/powerpoint/2010/main" val="868429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910C70-CC44-C30C-3CC7-2C0D12600E14}"/>
              </a:ext>
            </a:extLst>
          </p:cNvPr>
          <p:cNvSpPr>
            <a:spLocks noGrp="1"/>
          </p:cNvSpPr>
          <p:nvPr>
            <p:ph type="body" sz="quarter" idx="14"/>
          </p:nvPr>
        </p:nvSpPr>
        <p:spPr/>
        <p:txBody>
          <a:bodyPr/>
          <a:lstStyle/>
          <a:p>
            <a:pPr marL="0" indent="0">
              <a:buNone/>
            </a:pPr>
            <a:r>
              <a:rPr lang="en-SG" dirty="0"/>
              <a:t>We will be creating the following files/folders in </a:t>
            </a:r>
            <a:r>
              <a:rPr lang="en-SG" b="1" dirty="0" err="1"/>
              <a:t>StudentApp</a:t>
            </a:r>
            <a:r>
              <a:rPr lang="en-SG" b="1" dirty="0"/>
              <a:t> </a:t>
            </a:r>
            <a:r>
              <a:rPr lang="en-SG" dirty="0"/>
              <a:t>to implement the MVC framework</a:t>
            </a:r>
          </a:p>
        </p:txBody>
      </p:sp>
      <p:sp>
        <p:nvSpPr>
          <p:cNvPr id="3" name="Title 2">
            <a:extLst>
              <a:ext uri="{FF2B5EF4-FFF2-40B4-BE49-F238E27FC236}">
                <a16:creationId xmlns:a16="http://schemas.microsoft.com/office/drawing/2014/main" id="{6D9B1AD1-3806-54BD-117E-5D74FC325B4B}"/>
              </a:ext>
            </a:extLst>
          </p:cNvPr>
          <p:cNvSpPr>
            <a:spLocks noGrp="1"/>
          </p:cNvSpPr>
          <p:nvPr>
            <p:ph type="title"/>
          </p:nvPr>
        </p:nvSpPr>
        <p:spPr/>
        <p:txBody>
          <a:bodyPr/>
          <a:lstStyle/>
          <a:p>
            <a:r>
              <a:rPr lang="en-SG" dirty="0"/>
              <a:t>Separation of Concerns </a:t>
            </a:r>
          </a:p>
        </p:txBody>
      </p:sp>
      <p:graphicFrame>
        <p:nvGraphicFramePr>
          <p:cNvPr id="4" name="Table 3">
            <a:extLst>
              <a:ext uri="{FF2B5EF4-FFF2-40B4-BE49-F238E27FC236}">
                <a16:creationId xmlns:a16="http://schemas.microsoft.com/office/drawing/2014/main" id="{B48AC357-38DE-37FB-B5B6-F9A0620A489C}"/>
              </a:ext>
            </a:extLst>
          </p:cNvPr>
          <p:cNvGraphicFramePr>
            <a:graphicFrameLocks noGrp="1"/>
          </p:cNvGraphicFramePr>
          <p:nvPr>
            <p:extLst>
              <p:ext uri="{D42A27DB-BD31-4B8C-83A1-F6EECF244321}">
                <p14:modId xmlns:p14="http://schemas.microsoft.com/office/powerpoint/2010/main" val="2455801224"/>
              </p:ext>
            </p:extLst>
          </p:nvPr>
        </p:nvGraphicFramePr>
        <p:xfrm>
          <a:off x="721990" y="2328851"/>
          <a:ext cx="7685568" cy="3916680"/>
        </p:xfrm>
        <a:graphic>
          <a:graphicData uri="http://schemas.openxmlformats.org/drawingml/2006/table">
            <a:tbl>
              <a:tblPr firstRow="1" bandRow="1">
                <a:tableStyleId>{5940675A-B579-460E-94D1-54222C63F5DA}</a:tableStyleId>
              </a:tblPr>
              <a:tblGrid>
                <a:gridCol w="2308289">
                  <a:extLst>
                    <a:ext uri="{9D8B030D-6E8A-4147-A177-3AD203B41FA5}">
                      <a16:colId xmlns:a16="http://schemas.microsoft.com/office/drawing/2014/main" val="1365300932"/>
                    </a:ext>
                  </a:extLst>
                </a:gridCol>
                <a:gridCol w="5377279">
                  <a:extLst>
                    <a:ext uri="{9D8B030D-6E8A-4147-A177-3AD203B41FA5}">
                      <a16:colId xmlns:a16="http://schemas.microsoft.com/office/drawing/2014/main" val="2587330166"/>
                    </a:ext>
                  </a:extLst>
                </a:gridCol>
              </a:tblGrid>
              <a:tr h="370840">
                <a:tc>
                  <a:txBody>
                    <a:bodyPr/>
                    <a:lstStyle/>
                    <a:p>
                      <a:pPr algn="ctr"/>
                      <a:r>
                        <a:rPr lang="en-SG" sz="1600" b="1" dirty="0"/>
                        <a:t>File/Folder</a:t>
                      </a:r>
                    </a:p>
                  </a:txBody>
                  <a:tcPr anchor="ctr"/>
                </a:tc>
                <a:tc>
                  <a:txBody>
                    <a:bodyPr/>
                    <a:lstStyle/>
                    <a:p>
                      <a:pPr algn="ctr"/>
                      <a:r>
                        <a:rPr lang="en-SG" sz="1600" b="1" dirty="0"/>
                        <a:t>Description</a:t>
                      </a:r>
                    </a:p>
                  </a:txBody>
                  <a:tcPr anchor="ctr"/>
                </a:tc>
                <a:extLst>
                  <a:ext uri="{0D108BD9-81ED-4DB2-BD59-A6C34878D82A}">
                    <a16:rowId xmlns:a16="http://schemas.microsoft.com/office/drawing/2014/main" val="2702180309"/>
                  </a:ext>
                </a:extLst>
              </a:tr>
              <a:tr h="370840">
                <a:tc>
                  <a:txBody>
                    <a:bodyPr/>
                    <a:lstStyle/>
                    <a:p>
                      <a:pPr algn="ctr"/>
                      <a:r>
                        <a:rPr lang="en-SG" sz="1600" b="0" dirty="0"/>
                        <a:t>.env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600" dirty="0"/>
                        <a:t>Environment configuration file to store database credentials. </a:t>
                      </a:r>
                    </a:p>
                  </a:txBody>
                  <a:tcPr/>
                </a:tc>
                <a:extLst>
                  <a:ext uri="{0D108BD9-81ED-4DB2-BD59-A6C34878D82A}">
                    <a16:rowId xmlns:a16="http://schemas.microsoft.com/office/drawing/2014/main" val="2549067068"/>
                  </a:ext>
                </a:extLst>
              </a:tr>
              <a:tr h="370840">
                <a:tc>
                  <a:txBody>
                    <a:bodyPr/>
                    <a:lstStyle/>
                    <a:p>
                      <a:pPr algn="ctr"/>
                      <a:r>
                        <a:rPr lang="en-SG" sz="1600" b="0" dirty="0"/>
                        <a:t>db.js </a:t>
                      </a:r>
                    </a:p>
                  </a:txBody>
                  <a:tcPr anchor="ctr"/>
                </a:tc>
                <a:tc>
                  <a:txBody>
                    <a:bodyPr/>
                    <a:lstStyle/>
                    <a:p>
                      <a:r>
                        <a:rPr lang="en-US" sz="1600" dirty="0"/>
                        <a:t>Contains the </a:t>
                      </a:r>
                      <a:r>
                        <a:rPr lang="en-US" sz="1600" b="1" dirty="0"/>
                        <a:t>logic to connect to the database</a:t>
                      </a:r>
                      <a:r>
                        <a:rPr lang="en-US" sz="1600" dirty="0"/>
                        <a:t> using the values from </a:t>
                      </a:r>
                      <a:r>
                        <a:rPr lang="en-US" sz="1600" b="1" kern="1200" dirty="0">
                          <a:solidFill>
                            <a:schemeClr val="tx1"/>
                          </a:solidFill>
                          <a:latin typeface="+mn-lt"/>
                          <a:ea typeface="+mn-ea"/>
                          <a:cs typeface="+mn-cs"/>
                        </a:rPr>
                        <a:t>.env</a:t>
                      </a:r>
                      <a:r>
                        <a:rPr lang="en-US" sz="1600" dirty="0"/>
                        <a:t>. </a:t>
                      </a:r>
                      <a:endParaRPr lang="en-SG" sz="1600" dirty="0"/>
                    </a:p>
                  </a:txBody>
                  <a:tcPr/>
                </a:tc>
                <a:extLst>
                  <a:ext uri="{0D108BD9-81ED-4DB2-BD59-A6C34878D82A}">
                    <a16:rowId xmlns:a16="http://schemas.microsoft.com/office/drawing/2014/main" val="4055988115"/>
                  </a:ext>
                </a:extLst>
              </a:tr>
              <a:tr h="370840">
                <a:tc>
                  <a:txBody>
                    <a:bodyPr/>
                    <a:lstStyle/>
                    <a:p>
                      <a:pPr algn="ctr"/>
                      <a:r>
                        <a:rPr lang="en-SG" sz="1600" b="0" dirty="0"/>
                        <a:t>controllers</a:t>
                      </a:r>
                    </a:p>
                  </a:txBody>
                  <a:tcPr anchor="ctr"/>
                </a:tc>
                <a:tc>
                  <a:txBody>
                    <a:bodyPr/>
                    <a:lstStyle/>
                    <a:p>
                      <a:r>
                        <a:rPr lang="en-SG" sz="1600" dirty="0"/>
                        <a:t>Folder to store controllers</a:t>
                      </a:r>
                    </a:p>
                  </a:txBody>
                  <a:tcPr/>
                </a:tc>
                <a:extLst>
                  <a:ext uri="{0D108BD9-81ED-4DB2-BD59-A6C34878D82A}">
                    <a16:rowId xmlns:a16="http://schemas.microsoft.com/office/drawing/2014/main" val="1476517881"/>
                  </a:ext>
                </a:extLst>
              </a:tr>
              <a:tr h="370840">
                <a:tc>
                  <a:txBody>
                    <a:bodyPr/>
                    <a:lstStyle/>
                    <a:p>
                      <a:pPr algn="ctr"/>
                      <a:r>
                        <a:rPr lang="en-SG" sz="1600" b="0" dirty="0"/>
                        <a:t>models</a:t>
                      </a:r>
                    </a:p>
                  </a:txBody>
                  <a:tcPr anchor="ctr"/>
                </a:tc>
                <a:tc>
                  <a:txBody>
                    <a:bodyPr/>
                    <a:lstStyle/>
                    <a:p>
                      <a:r>
                        <a:rPr lang="en-SG" sz="1600" dirty="0"/>
                        <a:t>Folder to store models</a:t>
                      </a:r>
                    </a:p>
                  </a:txBody>
                  <a:tcPr/>
                </a:tc>
                <a:extLst>
                  <a:ext uri="{0D108BD9-81ED-4DB2-BD59-A6C34878D82A}">
                    <a16:rowId xmlns:a16="http://schemas.microsoft.com/office/drawing/2014/main" val="2467724459"/>
                  </a:ext>
                </a:extLst>
              </a:tr>
              <a:tr h="370840">
                <a:tc>
                  <a:txBody>
                    <a:bodyPr/>
                    <a:lstStyle/>
                    <a:p>
                      <a:pPr algn="ctr"/>
                      <a:r>
                        <a:rPr lang="en-SG" sz="1600" b="0" dirty="0"/>
                        <a:t>StudentController.js</a:t>
                      </a:r>
                    </a:p>
                  </a:txBody>
                  <a:tcPr anchor="ctr"/>
                </a:tc>
                <a:tc>
                  <a:txBody>
                    <a:bodyPr/>
                    <a:lstStyle/>
                    <a:p>
                      <a:r>
                        <a:rPr lang="en-US" sz="1600" dirty="0"/>
                        <a:t>Student controller to handle any input, update the student model, and refresh the related views.</a:t>
                      </a:r>
                      <a:endParaRPr lang="en-SG" sz="1600" dirty="0"/>
                    </a:p>
                  </a:txBody>
                  <a:tcPr/>
                </a:tc>
                <a:extLst>
                  <a:ext uri="{0D108BD9-81ED-4DB2-BD59-A6C34878D82A}">
                    <a16:rowId xmlns:a16="http://schemas.microsoft.com/office/drawing/2014/main" val="652802603"/>
                  </a:ext>
                </a:extLst>
              </a:tr>
              <a:tr h="370840">
                <a:tc>
                  <a:txBody>
                    <a:bodyPr/>
                    <a:lstStyle/>
                    <a:p>
                      <a:pPr algn="ctr"/>
                      <a:r>
                        <a:rPr lang="en-SG" sz="1600" b="0" dirty="0"/>
                        <a:t>Student.js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Student model to handle the data and business logic. It’s responsible for retrieving, storing, and processing student data</a:t>
                      </a:r>
                      <a:endParaRPr lang="en-SG" sz="1600" dirty="0"/>
                    </a:p>
                    <a:p>
                      <a:endParaRPr lang="en-SG" sz="1600" dirty="0"/>
                    </a:p>
                  </a:txBody>
                  <a:tcPr/>
                </a:tc>
                <a:extLst>
                  <a:ext uri="{0D108BD9-81ED-4DB2-BD59-A6C34878D82A}">
                    <a16:rowId xmlns:a16="http://schemas.microsoft.com/office/drawing/2014/main" val="9218510"/>
                  </a:ext>
                </a:extLst>
              </a:tr>
            </a:tbl>
          </a:graphicData>
        </a:graphic>
      </p:graphicFrame>
    </p:spTree>
    <p:extLst>
      <p:ext uri="{BB962C8B-B14F-4D97-AF65-F5344CB8AC3E}">
        <p14:creationId xmlns:p14="http://schemas.microsoft.com/office/powerpoint/2010/main" val="2558126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2E747C-0FEC-3465-36BC-0F19A1D98337}"/>
              </a:ext>
            </a:extLst>
          </p:cNvPr>
          <p:cNvSpPr>
            <a:spLocks noGrp="1"/>
          </p:cNvSpPr>
          <p:nvPr>
            <p:ph type="body" sz="quarter" idx="14"/>
          </p:nvPr>
        </p:nvSpPr>
        <p:spPr>
          <a:xfrm>
            <a:off x="547526" y="1593024"/>
            <a:ext cx="6052972" cy="4572296"/>
          </a:xfrm>
        </p:spPr>
        <p:txBody>
          <a:bodyPr/>
          <a:lstStyle/>
          <a:p>
            <a:r>
              <a:rPr lang="en-SG" sz="1800" dirty="0"/>
              <a:t>Make a copy of the existing </a:t>
            </a:r>
            <a:r>
              <a:rPr lang="en-SG" sz="1800" b="1" dirty="0" err="1"/>
              <a:t>StudentApp</a:t>
            </a:r>
            <a:r>
              <a:rPr lang="en-SG" sz="1800" dirty="0"/>
              <a:t> project and rename it to </a:t>
            </a:r>
            <a:r>
              <a:rPr lang="en-SG" sz="1800" b="1" dirty="0" err="1"/>
              <a:t>StudentAppMVC</a:t>
            </a:r>
            <a:endParaRPr lang="en-SG" sz="1800" b="1" dirty="0"/>
          </a:p>
          <a:p>
            <a:endParaRPr lang="en-SG" sz="1800" b="1" dirty="0"/>
          </a:p>
          <a:p>
            <a:r>
              <a:rPr lang="en-SG" sz="1800" dirty="0"/>
              <a:t>In </a:t>
            </a:r>
            <a:r>
              <a:rPr lang="en-SG" sz="1800" b="1" dirty="0" err="1"/>
              <a:t>StudentAppMVC</a:t>
            </a:r>
            <a:r>
              <a:rPr lang="en-SG" sz="1800" dirty="0"/>
              <a:t>, </a:t>
            </a:r>
          </a:p>
          <a:p>
            <a:pPr marL="800100" lvl="1" indent="-342900">
              <a:buFont typeface="+mj-lt"/>
              <a:buAutoNum type="arabicPeriod"/>
            </a:pPr>
            <a:r>
              <a:rPr lang="en-SG" sz="1600" dirty="0"/>
              <a:t>Create a file named </a:t>
            </a:r>
            <a:r>
              <a:rPr lang="en-SG" sz="1600" b="1" dirty="0"/>
              <a:t>db.js</a:t>
            </a:r>
          </a:p>
          <a:p>
            <a:pPr marL="800100" lvl="1" indent="-342900">
              <a:buFont typeface="+mj-lt"/>
              <a:buAutoNum type="arabicPeriod"/>
            </a:pPr>
            <a:r>
              <a:rPr lang="en-SG" sz="1600" dirty="0"/>
              <a:t>Create a file </a:t>
            </a:r>
            <a:r>
              <a:rPr lang="en-SG" dirty="0"/>
              <a:t>named</a:t>
            </a:r>
            <a:r>
              <a:rPr lang="en-SG" sz="1600" dirty="0"/>
              <a:t> </a:t>
            </a:r>
            <a:r>
              <a:rPr lang="en-SG" sz="1600" b="1" dirty="0"/>
              <a:t>.env</a:t>
            </a:r>
          </a:p>
          <a:p>
            <a:pPr marL="800100" lvl="1" indent="-342900">
              <a:buFont typeface="+mj-lt"/>
              <a:buAutoNum type="arabicPeriod"/>
            </a:pPr>
            <a:r>
              <a:rPr lang="en-SG" sz="1600" dirty="0"/>
              <a:t>Create a folder named </a:t>
            </a:r>
            <a:r>
              <a:rPr lang="en-SG" sz="1600" b="1" dirty="0"/>
              <a:t>controllers</a:t>
            </a:r>
          </a:p>
          <a:p>
            <a:pPr marL="800100" lvl="1" indent="-342900">
              <a:buFont typeface="+mj-lt"/>
              <a:buAutoNum type="arabicPeriod"/>
            </a:pPr>
            <a:r>
              <a:rPr lang="en-SG" sz="1600" dirty="0"/>
              <a:t>In </a:t>
            </a:r>
            <a:r>
              <a:rPr lang="en-SG" sz="1600" b="1" dirty="0"/>
              <a:t>controllers</a:t>
            </a:r>
            <a:r>
              <a:rPr lang="en-SG" sz="1600" dirty="0"/>
              <a:t>, create a file named </a:t>
            </a:r>
            <a:r>
              <a:rPr lang="en-SG" sz="1600" b="1" dirty="0"/>
              <a:t>StudentController.js</a:t>
            </a:r>
          </a:p>
          <a:p>
            <a:pPr marL="800100" lvl="1" indent="-342900">
              <a:buFont typeface="+mj-lt"/>
              <a:buAutoNum type="arabicPeriod"/>
            </a:pPr>
            <a:r>
              <a:rPr lang="en-SG" sz="1600" dirty="0"/>
              <a:t>Create a folder named </a:t>
            </a:r>
            <a:r>
              <a:rPr lang="en-SG" sz="1600" b="1" dirty="0"/>
              <a:t>models</a:t>
            </a:r>
          </a:p>
          <a:p>
            <a:pPr marL="800100" lvl="1" indent="-342900">
              <a:buFont typeface="+mj-lt"/>
              <a:buAutoNum type="arabicPeriod"/>
            </a:pPr>
            <a:r>
              <a:rPr lang="en-SG" sz="1600" dirty="0"/>
              <a:t>In </a:t>
            </a:r>
            <a:r>
              <a:rPr lang="en-SG" sz="1600" b="1" dirty="0"/>
              <a:t>models</a:t>
            </a:r>
            <a:r>
              <a:rPr lang="en-SG" sz="1600" dirty="0"/>
              <a:t>, create a file named </a:t>
            </a:r>
            <a:r>
              <a:rPr lang="en-SG" sz="1600" b="1" dirty="0"/>
              <a:t>Student.js</a:t>
            </a:r>
          </a:p>
          <a:p>
            <a:pPr lvl="1">
              <a:buFont typeface="Arial" panose="020B0604020202020204" pitchFamily="34" charset="0"/>
              <a:buChar char="•"/>
            </a:pPr>
            <a:endParaRPr lang="en-SG" b="1" dirty="0"/>
          </a:p>
          <a:p>
            <a:r>
              <a:rPr lang="en-SG" dirty="0"/>
              <a:t>Screenshot your </a:t>
            </a:r>
            <a:r>
              <a:rPr lang="en-SG" b="1" dirty="0" err="1"/>
              <a:t>StudentAppMVC</a:t>
            </a:r>
            <a:r>
              <a:rPr lang="en-SG" dirty="0"/>
              <a:t> project structure and paste in your worksheet.</a:t>
            </a:r>
          </a:p>
          <a:p>
            <a:pPr lvl="1">
              <a:buFont typeface="Arial" panose="020B0604020202020204" pitchFamily="34" charset="0"/>
              <a:buChar char="•"/>
            </a:pPr>
            <a:endParaRPr lang="en-SG" b="1" dirty="0"/>
          </a:p>
          <a:p>
            <a:pPr>
              <a:buFont typeface="Arial" panose="020B0604020202020204" pitchFamily="34" charset="0"/>
              <a:buChar char="•"/>
            </a:pPr>
            <a:endParaRPr lang="en-SG" sz="1800" dirty="0"/>
          </a:p>
        </p:txBody>
      </p:sp>
      <p:sp>
        <p:nvSpPr>
          <p:cNvPr id="2" name="Title 1">
            <a:extLst>
              <a:ext uri="{FF2B5EF4-FFF2-40B4-BE49-F238E27FC236}">
                <a16:creationId xmlns:a16="http://schemas.microsoft.com/office/drawing/2014/main" id="{15E18EEF-9AEC-D490-367F-E8CFD2E7776F}"/>
              </a:ext>
            </a:extLst>
          </p:cNvPr>
          <p:cNvSpPr>
            <a:spLocks noGrp="1"/>
          </p:cNvSpPr>
          <p:nvPr>
            <p:ph type="title"/>
          </p:nvPr>
        </p:nvSpPr>
        <p:spPr/>
        <p:txBody>
          <a:bodyPr/>
          <a:lstStyle/>
          <a:p>
            <a:r>
              <a:rPr lang="en-SG" dirty="0"/>
              <a:t>Exercise 1 - </a:t>
            </a:r>
            <a:r>
              <a:rPr lang="en-SG" dirty="0" err="1"/>
              <a:t>StudentAppMVC</a:t>
            </a:r>
            <a:endParaRPr lang="en-SG" dirty="0"/>
          </a:p>
        </p:txBody>
      </p:sp>
      <p:sp>
        <p:nvSpPr>
          <p:cNvPr id="12" name="Text Placeholder 2">
            <a:extLst>
              <a:ext uri="{FF2B5EF4-FFF2-40B4-BE49-F238E27FC236}">
                <a16:creationId xmlns:a16="http://schemas.microsoft.com/office/drawing/2014/main" id="{8DA1380F-B011-EA62-A2A5-90167EA983DA}"/>
              </a:ext>
            </a:extLst>
          </p:cNvPr>
          <p:cNvSpPr txBox="1">
            <a:spLocks/>
          </p:cNvSpPr>
          <p:nvPr/>
        </p:nvSpPr>
        <p:spPr>
          <a:xfrm>
            <a:off x="6548306" y="5451776"/>
            <a:ext cx="2009553" cy="760022"/>
          </a:xfrm>
          <a:prstGeom prst="rect">
            <a:avLst/>
          </a:prstGeom>
        </p:spPr>
        <p:txBody>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None/>
            </a:pPr>
            <a:r>
              <a:rPr lang="en-SG" sz="1200" dirty="0">
                <a:solidFill>
                  <a:srgbClr val="0070C0"/>
                </a:solidFill>
              </a:rPr>
              <a:t>Your project structure should look similar to the screenshot here</a:t>
            </a:r>
          </a:p>
        </p:txBody>
      </p:sp>
      <p:grpSp>
        <p:nvGrpSpPr>
          <p:cNvPr id="8" name="Group 7">
            <a:extLst>
              <a:ext uri="{FF2B5EF4-FFF2-40B4-BE49-F238E27FC236}">
                <a16:creationId xmlns:a16="http://schemas.microsoft.com/office/drawing/2014/main" id="{766B6EFB-446B-7E09-76F9-22A1FC7640A6}"/>
              </a:ext>
            </a:extLst>
          </p:cNvPr>
          <p:cNvGrpSpPr/>
          <p:nvPr/>
        </p:nvGrpSpPr>
        <p:grpSpPr>
          <a:xfrm>
            <a:off x="6600498" y="1878431"/>
            <a:ext cx="1882772" cy="3386545"/>
            <a:chOff x="6789892" y="2307234"/>
            <a:chExt cx="1882772" cy="3386545"/>
          </a:xfrm>
        </p:grpSpPr>
        <p:pic>
          <p:nvPicPr>
            <p:cNvPr id="5" name="Picture 4">
              <a:extLst>
                <a:ext uri="{FF2B5EF4-FFF2-40B4-BE49-F238E27FC236}">
                  <a16:creationId xmlns:a16="http://schemas.microsoft.com/office/drawing/2014/main" id="{CE45A849-01AB-8419-E94B-5DE78253C1B7}"/>
                </a:ext>
              </a:extLst>
            </p:cNvPr>
            <p:cNvPicPr>
              <a:picLocks noChangeAspect="1"/>
            </p:cNvPicPr>
            <p:nvPr/>
          </p:nvPicPr>
          <p:blipFill>
            <a:blip r:embed="rId2"/>
            <a:stretch>
              <a:fillRect/>
            </a:stretch>
          </p:blipFill>
          <p:spPr>
            <a:xfrm>
              <a:off x="6789892" y="2307234"/>
              <a:ext cx="1882772" cy="3386545"/>
            </a:xfrm>
            <a:prstGeom prst="rect">
              <a:avLst/>
            </a:prstGeom>
          </p:spPr>
        </p:pic>
        <p:sp>
          <p:nvSpPr>
            <p:cNvPr id="13" name="Rectangle 12">
              <a:extLst>
                <a:ext uri="{FF2B5EF4-FFF2-40B4-BE49-F238E27FC236}">
                  <a16:creationId xmlns:a16="http://schemas.microsoft.com/office/drawing/2014/main" id="{47C03810-CB07-4E9B-FD4A-B70146C13C47}"/>
                </a:ext>
              </a:extLst>
            </p:cNvPr>
            <p:cNvSpPr/>
            <p:nvPr/>
          </p:nvSpPr>
          <p:spPr>
            <a:xfrm>
              <a:off x="6851831" y="3098365"/>
              <a:ext cx="1190847" cy="47694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14" name="Rectangle 13">
              <a:extLst>
                <a:ext uri="{FF2B5EF4-FFF2-40B4-BE49-F238E27FC236}">
                  <a16:creationId xmlns:a16="http://schemas.microsoft.com/office/drawing/2014/main" id="{DE1EB2A2-5B5B-BA47-1FC2-5266311E62F3}"/>
                </a:ext>
              </a:extLst>
            </p:cNvPr>
            <p:cNvSpPr/>
            <p:nvPr/>
          </p:nvSpPr>
          <p:spPr>
            <a:xfrm>
              <a:off x="6851831" y="2563163"/>
              <a:ext cx="1781292" cy="47694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6" name="Rectangle 5">
              <a:extLst>
                <a:ext uri="{FF2B5EF4-FFF2-40B4-BE49-F238E27FC236}">
                  <a16:creationId xmlns:a16="http://schemas.microsoft.com/office/drawing/2014/main" id="{BF8C95CD-BE2C-B405-53DD-3A79F15DAD4A}"/>
                </a:ext>
              </a:extLst>
            </p:cNvPr>
            <p:cNvSpPr/>
            <p:nvPr/>
          </p:nvSpPr>
          <p:spPr>
            <a:xfrm>
              <a:off x="6835780" y="4384900"/>
              <a:ext cx="643123" cy="26465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CA03FC5C-FA67-3A67-F073-0928991CD088}"/>
                </a:ext>
              </a:extLst>
            </p:cNvPr>
            <p:cNvSpPr/>
            <p:nvPr/>
          </p:nvSpPr>
          <p:spPr>
            <a:xfrm>
              <a:off x="6828242" y="4901111"/>
              <a:ext cx="643125" cy="26465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1158930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96FB-7E61-0232-CBA9-399263977CF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E6223FA-2C0E-90BE-84B4-7FBE990EBA1A}"/>
              </a:ext>
            </a:extLst>
          </p:cNvPr>
          <p:cNvSpPr>
            <a:spLocks noGrp="1"/>
          </p:cNvSpPr>
          <p:nvPr>
            <p:ph type="body" sz="quarter" idx="14"/>
          </p:nvPr>
        </p:nvSpPr>
        <p:spPr/>
        <p:txBody>
          <a:bodyPr/>
          <a:lstStyle/>
          <a:p>
            <a:r>
              <a:rPr lang="en-US" b="1" dirty="0"/>
              <a:t>.env</a:t>
            </a:r>
            <a:r>
              <a:rPr lang="en-US" dirty="0"/>
              <a:t> stores </a:t>
            </a:r>
            <a:r>
              <a:rPr lang="en-US" b="1" dirty="0"/>
              <a:t>environment-specific variables</a:t>
            </a:r>
            <a:r>
              <a:rPr lang="en-US" dirty="0"/>
              <a:t> such as:</a:t>
            </a:r>
          </a:p>
          <a:p>
            <a:pPr lvl="1"/>
            <a:r>
              <a:rPr lang="en-US" dirty="0"/>
              <a:t>Database connection strings</a:t>
            </a:r>
          </a:p>
          <a:p>
            <a:pPr lvl="1"/>
            <a:r>
              <a:rPr lang="en-US" dirty="0"/>
              <a:t>API keys</a:t>
            </a:r>
          </a:p>
          <a:p>
            <a:pPr lvl="1"/>
            <a:r>
              <a:rPr lang="en-US" dirty="0"/>
              <a:t>Port numbers</a:t>
            </a:r>
          </a:p>
          <a:p>
            <a:pPr lvl="1"/>
            <a:r>
              <a:rPr lang="en-US" dirty="0"/>
              <a:t>Feature flags</a:t>
            </a:r>
          </a:p>
          <a:p>
            <a:pPr lvl="1"/>
            <a:r>
              <a:rPr lang="en-US" dirty="0"/>
              <a:t>Secrets or tokens</a:t>
            </a:r>
          </a:p>
          <a:p>
            <a:pPr lvl="1"/>
            <a:endParaRPr lang="en-US" dirty="0"/>
          </a:p>
          <a:p>
            <a:r>
              <a:rPr lang="en-US" dirty="0"/>
              <a:t>These variables are loaded into your application at runtime, typically using a library like </a:t>
            </a:r>
            <a:r>
              <a:rPr lang="en-US" b="1" dirty="0" err="1"/>
              <a:t>dotenv</a:t>
            </a:r>
            <a:r>
              <a:rPr lang="en-US" dirty="0"/>
              <a:t> in Node.js</a:t>
            </a:r>
          </a:p>
        </p:txBody>
      </p:sp>
      <p:sp>
        <p:nvSpPr>
          <p:cNvPr id="3" name="Title 2">
            <a:extLst>
              <a:ext uri="{FF2B5EF4-FFF2-40B4-BE49-F238E27FC236}">
                <a16:creationId xmlns:a16="http://schemas.microsoft.com/office/drawing/2014/main" id="{ED76FB48-D27C-317A-6B25-4403512B9438}"/>
              </a:ext>
            </a:extLst>
          </p:cNvPr>
          <p:cNvSpPr>
            <a:spLocks noGrp="1"/>
          </p:cNvSpPr>
          <p:nvPr>
            <p:ph type="title"/>
          </p:nvPr>
        </p:nvSpPr>
        <p:spPr/>
        <p:txBody>
          <a:bodyPr/>
          <a:lstStyle/>
          <a:p>
            <a:r>
              <a:rPr lang="en-SG" dirty="0"/>
              <a:t>Environment Configuration file</a:t>
            </a:r>
          </a:p>
        </p:txBody>
      </p:sp>
    </p:spTree>
    <p:extLst>
      <p:ext uri="{BB962C8B-B14F-4D97-AF65-F5344CB8AC3E}">
        <p14:creationId xmlns:p14="http://schemas.microsoft.com/office/powerpoint/2010/main" val="3460913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831434-0B75-1FEB-665A-B966DAD5B34D}"/>
              </a:ext>
            </a:extLst>
          </p:cNvPr>
          <p:cNvSpPr>
            <a:spLocks noGrp="1"/>
          </p:cNvSpPr>
          <p:nvPr>
            <p:ph type="body" sz="quarter" idx="14"/>
          </p:nvPr>
        </p:nvSpPr>
        <p:spPr/>
        <p:txBody>
          <a:bodyPr/>
          <a:lstStyle/>
          <a:p>
            <a:r>
              <a:rPr lang="en-US" dirty="0"/>
              <a:t>Copy the code below and paste it into </a:t>
            </a:r>
            <a:r>
              <a:rPr lang="en-US" b="1" dirty="0"/>
              <a:t>.env </a:t>
            </a:r>
            <a:r>
              <a:rPr lang="en-US" dirty="0"/>
              <a:t>file. </a:t>
            </a:r>
          </a:p>
          <a:p>
            <a:endParaRPr lang="en-SG" dirty="0"/>
          </a:p>
          <a:p>
            <a:endParaRPr lang="en-SG" dirty="0"/>
          </a:p>
          <a:p>
            <a:endParaRPr lang="en-SG" dirty="0"/>
          </a:p>
          <a:p>
            <a:endParaRPr lang="en-SG" dirty="0"/>
          </a:p>
          <a:p>
            <a:endParaRPr lang="en-SG" dirty="0"/>
          </a:p>
          <a:p>
            <a:endParaRPr lang="en-SG" dirty="0"/>
          </a:p>
          <a:p>
            <a:endParaRPr lang="en-SG" dirty="0"/>
          </a:p>
          <a:p>
            <a:r>
              <a:rPr lang="en-SG" dirty="0"/>
              <a:t>Should </a:t>
            </a:r>
            <a:r>
              <a:rPr lang="en-SG" b="1" dirty="0"/>
              <a:t>.env </a:t>
            </a:r>
            <a:r>
              <a:rPr lang="en-SG" dirty="0"/>
              <a:t>file be uploaded to the cloud?</a:t>
            </a:r>
          </a:p>
          <a:p>
            <a:endParaRPr lang="en-SG" dirty="0"/>
          </a:p>
        </p:txBody>
      </p:sp>
      <p:sp>
        <p:nvSpPr>
          <p:cNvPr id="3" name="Title 2">
            <a:extLst>
              <a:ext uri="{FF2B5EF4-FFF2-40B4-BE49-F238E27FC236}">
                <a16:creationId xmlns:a16="http://schemas.microsoft.com/office/drawing/2014/main" id="{BBC89AF9-90D7-DF97-3A16-260828D79D9A}"/>
              </a:ext>
            </a:extLst>
          </p:cNvPr>
          <p:cNvSpPr>
            <a:spLocks noGrp="1"/>
          </p:cNvSpPr>
          <p:nvPr>
            <p:ph type="title"/>
          </p:nvPr>
        </p:nvSpPr>
        <p:spPr/>
        <p:txBody>
          <a:bodyPr/>
          <a:lstStyle/>
          <a:p>
            <a:r>
              <a:rPr lang="en-SG" dirty="0"/>
              <a:t>Exercise 2 - .env</a:t>
            </a:r>
          </a:p>
        </p:txBody>
      </p:sp>
      <p:pic>
        <p:nvPicPr>
          <p:cNvPr id="8" name="Picture 7" descr="A cat with a question mark on its head&#10;&#10;AI-generated content may be incorrect.">
            <a:extLst>
              <a:ext uri="{FF2B5EF4-FFF2-40B4-BE49-F238E27FC236}">
                <a16:creationId xmlns:a16="http://schemas.microsoft.com/office/drawing/2014/main" id="{92795A9D-9072-1B80-D0DD-A626B4417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5855" y="3628373"/>
            <a:ext cx="3094740" cy="3028896"/>
          </a:xfrm>
          <a:prstGeom prst="rect">
            <a:avLst/>
          </a:prstGeom>
          <a:effectLst>
            <a:softEdge rad="635000"/>
          </a:effectLst>
        </p:spPr>
      </p:pic>
      <p:sp>
        <p:nvSpPr>
          <p:cNvPr id="4" name="TextBox 3">
            <a:extLst>
              <a:ext uri="{FF2B5EF4-FFF2-40B4-BE49-F238E27FC236}">
                <a16:creationId xmlns:a16="http://schemas.microsoft.com/office/drawing/2014/main" id="{C7D14DBA-1101-CD4F-3F57-20C1165E1B1F}"/>
              </a:ext>
            </a:extLst>
          </p:cNvPr>
          <p:cNvSpPr txBox="1"/>
          <p:nvPr/>
        </p:nvSpPr>
        <p:spPr>
          <a:xfrm>
            <a:off x="799557" y="2328409"/>
            <a:ext cx="3603872" cy="1200329"/>
          </a:xfrm>
          <a:prstGeom prst="rect">
            <a:avLst/>
          </a:prstGeom>
          <a:noFill/>
          <a:ln>
            <a:solidFill>
              <a:schemeClr val="tx1"/>
            </a:solidFill>
          </a:ln>
        </p:spPr>
        <p:txBody>
          <a:bodyPr wrap="none" rtlCol="0">
            <a:spAutoFit/>
          </a:bodyPr>
          <a:lstStyle/>
          <a:p>
            <a:r>
              <a:rPr lang="en-SG" dirty="0">
                <a:solidFill>
                  <a:srgbClr val="0070C0"/>
                </a:solidFill>
                <a:latin typeface="Consolas" panose="020B0609020204030204" pitchFamily="49" charset="0"/>
              </a:rPr>
              <a:t>DB_HOST=localhost</a:t>
            </a:r>
          </a:p>
          <a:p>
            <a:r>
              <a:rPr lang="en-SG" dirty="0">
                <a:solidFill>
                  <a:srgbClr val="0070C0"/>
                </a:solidFill>
                <a:latin typeface="Consolas" panose="020B0609020204030204" pitchFamily="49" charset="0"/>
              </a:rPr>
              <a:t>DB_USER=root</a:t>
            </a:r>
          </a:p>
          <a:p>
            <a:r>
              <a:rPr lang="en-SG" dirty="0">
                <a:solidFill>
                  <a:srgbClr val="0070C0"/>
                </a:solidFill>
                <a:latin typeface="Consolas" panose="020B0609020204030204" pitchFamily="49" charset="0"/>
              </a:rPr>
              <a:t>DB_PASSWORD=YOUR_PASSWORD</a:t>
            </a:r>
          </a:p>
          <a:p>
            <a:r>
              <a:rPr lang="en-SG" dirty="0">
                <a:solidFill>
                  <a:srgbClr val="0070C0"/>
                </a:solidFill>
                <a:latin typeface="Consolas" panose="020B0609020204030204" pitchFamily="49" charset="0"/>
              </a:rPr>
              <a:t>DB_NAME=c237_studentlistapp</a:t>
            </a:r>
          </a:p>
        </p:txBody>
      </p:sp>
      <p:sp>
        <p:nvSpPr>
          <p:cNvPr id="5" name="TextBox 4">
            <a:extLst>
              <a:ext uri="{FF2B5EF4-FFF2-40B4-BE49-F238E27FC236}">
                <a16:creationId xmlns:a16="http://schemas.microsoft.com/office/drawing/2014/main" id="{ABA5CB95-8408-7734-8D63-1FA5FBFC0D4F}"/>
              </a:ext>
            </a:extLst>
          </p:cNvPr>
          <p:cNvSpPr txBox="1"/>
          <p:nvPr/>
        </p:nvSpPr>
        <p:spPr>
          <a:xfrm>
            <a:off x="799557" y="3805415"/>
            <a:ext cx="3943362" cy="646331"/>
          </a:xfrm>
          <a:prstGeom prst="rect">
            <a:avLst/>
          </a:prstGeom>
          <a:noFill/>
        </p:spPr>
        <p:txBody>
          <a:bodyPr wrap="square" rtlCol="0">
            <a:spAutoFit/>
          </a:bodyPr>
          <a:lstStyle/>
          <a:p>
            <a:r>
              <a:rPr lang="en-US" dirty="0">
                <a:solidFill>
                  <a:srgbClr val="0070C0"/>
                </a:solidFill>
              </a:rPr>
              <a:t>Remember to replace the database password with your own.</a:t>
            </a:r>
            <a:endParaRPr lang="en-SG" dirty="0">
              <a:solidFill>
                <a:srgbClr val="0070C0"/>
              </a:solidFill>
            </a:endParaRPr>
          </a:p>
        </p:txBody>
      </p:sp>
    </p:spTree>
    <p:extLst>
      <p:ext uri="{BB962C8B-B14F-4D97-AF65-F5344CB8AC3E}">
        <p14:creationId xmlns:p14="http://schemas.microsoft.com/office/powerpoint/2010/main" val="158405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7E4B24-8A77-EDEE-2040-801C94AA2E28}"/>
              </a:ext>
            </a:extLst>
          </p:cNvPr>
          <p:cNvSpPr>
            <a:spLocks noGrp="1"/>
          </p:cNvSpPr>
          <p:nvPr>
            <p:ph type="body" sz="quarter" idx="14"/>
          </p:nvPr>
        </p:nvSpPr>
        <p:spPr>
          <a:xfrm>
            <a:off x="547525" y="1593024"/>
            <a:ext cx="7448159" cy="4572296"/>
          </a:xfrm>
        </p:spPr>
        <p:txBody>
          <a:bodyPr/>
          <a:lstStyle/>
          <a:p>
            <a:r>
              <a:rPr lang="en-SG" dirty="0"/>
              <a:t>Paste the code here to </a:t>
            </a:r>
            <a:r>
              <a:rPr lang="en-SG" b="1" dirty="0"/>
              <a:t>db.js</a:t>
            </a:r>
          </a:p>
          <a:p>
            <a:endParaRPr lang="en-SG" b="1" dirty="0"/>
          </a:p>
        </p:txBody>
      </p:sp>
      <p:sp>
        <p:nvSpPr>
          <p:cNvPr id="2" name="Title 1">
            <a:extLst>
              <a:ext uri="{FF2B5EF4-FFF2-40B4-BE49-F238E27FC236}">
                <a16:creationId xmlns:a16="http://schemas.microsoft.com/office/drawing/2014/main" id="{0DD9F01D-618C-EAB1-F0B0-182648E1B05F}"/>
              </a:ext>
            </a:extLst>
          </p:cNvPr>
          <p:cNvSpPr>
            <a:spLocks noGrp="1"/>
          </p:cNvSpPr>
          <p:nvPr>
            <p:ph type="title"/>
          </p:nvPr>
        </p:nvSpPr>
        <p:spPr>
          <a:xfrm>
            <a:off x="547524" y="692680"/>
            <a:ext cx="7448159" cy="623667"/>
          </a:xfrm>
        </p:spPr>
        <p:txBody>
          <a:bodyPr>
            <a:normAutofit fontScale="90000"/>
          </a:bodyPr>
          <a:lstStyle/>
          <a:p>
            <a:r>
              <a:rPr lang="en-SG" dirty="0"/>
              <a:t>Exercise 3 - Database Connection</a:t>
            </a:r>
          </a:p>
        </p:txBody>
      </p:sp>
      <p:sp>
        <p:nvSpPr>
          <p:cNvPr id="4" name="TextBox 3">
            <a:extLst>
              <a:ext uri="{FF2B5EF4-FFF2-40B4-BE49-F238E27FC236}">
                <a16:creationId xmlns:a16="http://schemas.microsoft.com/office/drawing/2014/main" id="{E6113BBF-7E6B-D0B7-5E57-23626E8C7BC1}"/>
              </a:ext>
            </a:extLst>
          </p:cNvPr>
          <p:cNvSpPr txBox="1"/>
          <p:nvPr/>
        </p:nvSpPr>
        <p:spPr>
          <a:xfrm>
            <a:off x="930154" y="2236343"/>
            <a:ext cx="5163850" cy="3970318"/>
          </a:xfrm>
          <a:prstGeom prst="rect">
            <a:avLst/>
          </a:prstGeom>
          <a:noFill/>
          <a:ln>
            <a:solidFill>
              <a:schemeClr val="tx1"/>
            </a:solidFill>
          </a:ln>
        </p:spPr>
        <p:txBody>
          <a:bodyPr wrap="square" rtlCol="0">
            <a:spAutoFit/>
          </a:bodyPr>
          <a:lstStyle/>
          <a:p>
            <a:r>
              <a:rPr lang="en-SG" sz="1200" dirty="0">
                <a:solidFill>
                  <a:srgbClr val="0070C0"/>
                </a:solidFill>
                <a:latin typeface="Consolas" panose="020B0609020204030204" pitchFamily="49" charset="0"/>
              </a:rPr>
              <a:t>const </a:t>
            </a:r>
            <a:r>
              <a:rPr lang="en-SG" sz="1200" dirty="0" err="1">
                <a:solidFill>
                  <a:srgbClr val="0070C0"/>
                </a:solidFill>
                <a:latin typeface="Consolas" panose="020B0609020204030204" pitchFamily="49" charset="0"/>
              </a:rPr>
              <a:t>mysql</a:t>
            </a:r>
            <a:r>
              <a:rPr lang="en-SG" sz="1200" dirty="0">
                <a:solidFill>
                  <a:srgbClr val="0070C0"/>
                </a:solidFill>
                <a:latin typeface="Consolas" panose="020B0609020204030204" pitchFamily="49" charset="0"/>
              </a:rPr>
              <a:t> = require('mysql2');</a:t>
            </a:r>
          </a:p>
          <a:p>
            <a:r>
              <a:rPr lang="en-SG" sz="1200" dirty="0">
                <a:solidFill>
                  <a:srgbClr val="0070C0"/>
                </a:solidFill>
                <a:latin typeface="Consolas" panose="020B0609020204030204" pitchFamily="49" charset="0"/>
              </a:rPr>
              <a:t>require('</a:t>
            </a:r>
            <a:r>
              <a:rPr lang="en-SG" sz="1200" dirty="0" err="1">
                <a:solidFill>
                  <a:srgbClr val="0070C0"/>
                </a:solidFill>
                <a:latin typeface="Consolas" panose="020B0609020204030204" pitchFamily="49" charset="0"/>
              </a:rPr>
              <a:t>dotenv</a:t>
            </a:r>
            <a:r>
              <a:rPr lang="en-SG" sz="1200" dirty="0">
                <a:solidFill>
                  <a:srgbClr val="0070C0"/>
                </a:solidFill>
                <a:latin typeface="Consolas" panose="020B0609020204030204" pitchFamily="49" charset="0"/>
              </a:rPr>
              <a:t>').config(); // Load variables from .env</a:t>
            </a:r>
          </a:p>
          <a:p>
            <a:endParaRPr lang="en-SG" sz="1200" dirty="0">
              <a:solidFill>
                <a:srgbClr val="0070C0"/>
              </a:solidFill>
              <a:latin typeface="Consolas" panose="020B0609020204030204" pitchFamily="49" charset="0"/>
            </a:endParaRPr>
          </a:p>
          <a:p>
            <a:r>
              <a:rPr lang="en-SG" sz="1200" dirty="0">
                <a:solidFill>
                  <a:srgbClr val="0070C0"/>
                </a:solidFill>
                <a:latin typeface="Consolas" panose="020B0609020204030204" pitchFamily="49" charset="0"/>
              </a:rPr>
              <a:t>//Database connection details</a:t>
            </a:r>
          </a:p>
          <a:p>
            <a:r>
              <a:rPr lang="en-SG" sz="1200" dirty="0">
                <a:solidFill>
                  <a:srgbClr val="0070C0"/>
                </a:solidFill>
                <a:latin typeface="Consolas" panose="020B0609020204030204" pitchFamily="49" charset="0"/>
              </a:rPr>
              <a:t>const db = </a:t>
            </a:r>
            <a:r>
              <a:rPr lang="en-SG" sz="1200" dirty="0" err="1">
                <a:solidFill>
                  <a:srgbClr val="0070C0"/>
                </a:solidFill>
                <a:latin typeface="Consolas" panose="020B0609020204030204" pitchFamily="49" charset="0"/>
              </a:rPr>
              <a:t>mysql.createConnection</a:t>
            </a:r>
            <a:r>
              <a:rPr lang="en-SG" sz="1200" dirty="0">
                <a:solidFill>
                  <a:srgbClr val="0070C0"/>
                </a:solidFill>
                <a:latin typeface="Consolas" panose="020B0609020204030204" pitchFamily="49" charset="0"/>
              </a:rPr>
              <a:t>({</a:t>
            </a:r>
          </a:p>
          <a:p>
            <a:r>
              <a:rPr lang="en-SG" sz="1200" dirty="0">
                <a:solidFill>
                  <a:srgbClr val="0070C0"/>
                </a:solidFill>
                <a:latin typeface="Consolas" panose="020B0609020204030204" pitchFamily="49" charset="0"/>
              </a:rPr>
              <a:t>    host: </a:t>
            </a:r>
            <a:r>
              <a:rPr lang="en-SG" sz="1200" dirty="0" err="1">
                <a:solidFill>
                  <a:srgbClr val="0070C0"/>
                </a:solidFill>
                <a:latin typeface="Consolas" panose="020B0609020204030204" pitchFamily="49" charset="0"/>
              </a:rPr>
              <a:t>process.env.DB_HOST</a:t>
            </a:r>
            <a:r>
              <a:rPr lang="en-SG" sz="1200" dirty="0">
                <a:solidFill>
                  <a:srgbClr val="0070C0"/>
                </a:solidFill>
                <a:latin typeface="Consolas" panose="020B0609020204030204" pitchFamily="49" charset="0"/>
              </a:rPr>
              <a:t>,</a:t>
            </a:r>
          </a:p>
          <a:p>
            <a:r>
              <a:rPr lang="en-SG" sz="1200" dirty="0">
                <a:solidFill>
                  <a:srgbClr val="0070C0"/>
                </a:solidFill>
                <a:latin typeface="Consolas" panose="020B0609020204030204" pitchFamily="49" charset="0"/>
              </a:rPr>
              <a:t>    user: </a:t>
            </a:r>
            <a:r>
              <a:rPr lang="en-SG" sz="1200" dirty="0" err="1">
                <a:solidFill>
                  <a:srgbClr val="0070C0"/>
                </a:solidFill>
                <a:latin typeface="Consolas" panose="020B0609020204030204" pitchFamily="49" charset="0"/>
              </a:rPr>
              <a:t>process.env.DB_USER</a:t>
            </a:r>
            <a:r>
              <a:rPr lang="en-SG" sz="1200" dirty="0">
                <a:solidFill>
                  <a:srgbClr val="0070C0"/>
                </a:solidFill>
                <a:latin typeface="Consolas" panose="020B0609020204030204" pitchFamily="49" charset="0"/>
              </a:rPr>
              <a:t>,</a:t>
            </a:r>
          </a:p>
          <a:p>
            <a:r>
              <a:rPr lang="en-SG" sz="1200" dirty="0">
                <a:solidFill>
                  <a:srgbClr val="0070C0"/>
                </a:solidFill>
                <a:latin typeface="Consolas" panose="020B0609020204030204" pitchFamily="49" charset="0"/>
              </a:rPr>
              <a:t>    password: </a:t>
            </a:r>
            <a:r>
              <a:rPr lang="en-SG" sz="1200" dirty="0" err="1">
                <a:solidFill>
                  <a:srgbClr val="0070C0"/>
                </a:solidFill>
                <a:latin typeface="Consolas" panose="020B0609020204030204" pitchFamily="49" charset="0"/>
              </a:rPr>
              <a:t>process.env.DB_PASSWORD</a:t>
            </a:r>
            <a:r>
              <a:rPr lang="en-SG" sz="1200" dirty="0">
                <a:solidFill>
                  <a:srgbClr val="0070C0"/>
                </a:solidFill>
                <a:latin typeface="Consolas" panose="020B0609020204030204" pitchFamily="49" charset="0"/>
              </a:rPr>
              <a:t>,</a:t>
            </a:r>
          </a:p>
          <a:p>
            <a:r>
              <a:rPr lang="en-SG" sz="1200" dirty="0">
                <a:solidFill>
                  <a:srgbClr val="0070C0"/>
                </a:solidFill>
                <a:latin typeface="Consolas" panose="020B0609020204030204" pitchFamily="49" charset="0"/>
              </a:rPr>
              <a:t>    database: </a:t>
            </a:r>
            <a:r>
              <a:rPr lang="en-SG" sz="1200" dirty="0" err="1">
                <a:solidFill>
                  <a:srgbClr val="0070C0"/>
                </a:solidFill>
                <a:latin typeface="Consolas" panose="020B0609020204030204" pitchFamily="49" charset="0"/>
              </a:rPr>
              <a:t>process.env.DB_NAME</a:t>
            </a:r>
            <a:endParaRPr lang="en-SG" sz="1200" dirty="0">
              <a:solidFill>
                <a:srgbClr val="0070C0"/>
              </a:solidFill>
              <a:latin typeface="Consolas" panose="020B0609020204030204" pitchFamily="49" charset="0"/>
            </a:endParaRPr>
          </a:p>
          <a:p>
            <a:r>
              <a:rPr lang="en-SG" sz="1200" dirty="0">
                <a:solidFill>
                  <a:srgbClr val="0070C0"/>
                </a:solidFill>
                <a:latin typeface="Consolas" panose="020B0609020204030204" pitchFamily="49" charset="0"/>
              </a:rPr>
              <a:t>});</a:t>
            </a:r>
          </a:p>
          <a:p>
            <a:endParaRPr lang="en-SG" sz="1200" dirty="0">
              <a:solidFill>
                <a:srgbClr val="0070C0"/>
              </a:solidFill>
              <a:latin typeface="Consolas" panose="020B0609020204030204" pitchFamily="49" charset="0"/>
            </a:endParaRPr>
          </a:p>
          <a:p>
            <a:r>
              <a:rPr lang="en-SG" sz="1200" dirty="0">
                <a:solidFill>
                  <a:srgbClr val="0070C0"/>
                </a:solidFill>
                <a:latin typeface="Consolas" panose="020B0609020204030204" pitchFamily="49" charset="0"/>
              </a:rPr>
              <a:t>//Connecting to database</a:t>
            </a:r>
          </a:p>
          <a:p>
            <a:r>
              <a:rPr lang="en-SG" sz="1200" dirty="0">
                <a:solidFill>
                  <a:srgbClr val="0070C0"/>
                </a:solidFill>
                <a:latin typeface="Consolas" panose="020B0609020204030204" pitchFamily="49" charset="0"/>
              </a:rPr>
              <a:t>db.connect((err) =&gt; {</a:t>
            </a:r>
          </a:p>
          <a:p>
            <a:r>
              <a:rPr lang="en-SG" sz="1200" dirty="0">
                <a:solidFill>
                  <a:srgbClr val="0070C0"/>
                </a:solidFill>
                <a:latin typeface="Consolas" panose="020B0609020204030204" pitchFamily="49" charset="0"/>
              </a:rPr>
              <a:t>    if (err) {</a:t>
            </a:r>
          </a:p>
          <a:p>
            <a:r>
              <a:rPr lang="en-SG" sz="1200" dirty="0">
                <a:solidFill>
                  <a:srgbClr val="0070C0"/>
                </a:solidFill>
                <a:latin typeface="Consolas" panose="020B0609020204030204" pitchFamily="49" charset="0"/>
              </a:rPr>
              <a:t>        </a:t>
            </a:r>
            <a:r>
              <a:rPr lang="en-SG" sz="1200" dirty="0" err="1">
                <a:solidFill>
                  <a:srgbClr val="0070C0"/>
                </a:solidFill>
                <a:latin typeface="Consolas" panose="020B0609020204030204" pitchFamily="49" charset="0"/>
              </a:rPr>
              <a:t>console.error</a:t>
            </a:r>
            <a:r>
              <a:rPr lang="en-SG" sz="1200" dirty="0">
                <a:solidFill>
                  <a:srgbClr val="0070C0"/>
                </a:solidFill>
                <a:latin typeface="Consolas" panose="020B0609020204030204" pitchFamily="49" charset="0"/>
              </a:rPr>
              <a:t>('Error connecting to MySQL:', err);</a:t>
            </a:r>
          </a:p>
          <a:p>
            <a:r>
              <a:rPr lang="en-SG" sz="1200" dirty="0">
                <a:solidFill>
                  <a:srgbClr val="0070C0"/>
                </a:solidFill>
                <a:latin typeface="Consolas" panose="020B0609020204030204" pitchFamily="49" charset="0"/>
              </a:rPr>
              <a:t>        return;</a:t>
            </a:r>
          </a:p>
          <a:p>
            <a:r>
              <a:rPr lang="en-SG" sz="1200" dirty="0">
                <a:solidFill>
                  <a:srgbClr val="0070C0"/>
                </a:solidFill>
                <a:latin typeface="Consolas" panose="020B0609020204030204" pitchFamily="49" charset="0"/>
              </a:rPr>
              <a:t>    }</a:t>
            </a:r>
          </a:p>
          <a:p>
            <a:r>
              <a:rPr lang="en-SG" sz="1200" dirty="0">
                <a:solidFill>
                  <a:srgbClr val="0070C0"/>
                </a:solidFill>
                <a:latin typeface="Consolas" panose="020B0609020204030204" pitchFamily="49" charset="0"/>
              </a:rPr>
              <a:t>    console.log('Connected to MySQL database');</a:t>
            </a:r>
          </a:p>
          <a:p>
            <a:r>
              <a:rPr lang="en-SG" sz="1200" dirty="0">
                <a:solidFill>
                  <a:srgbClr val="0070C0"/>
                </a:solidFill>
                <a:latin typeface="Consolas" panose="020B0609020204030204" pitchFamily="49" charset="0"/>
              </a:rPr>
              <a:t>});</a:t>
            </a:r>
          </a:p>
          <a:p>
            <a:endParaRPr lang="en-SG" sz="1200" dirty="0">
              <a:solidFill>
                <a:srgbClr val="0070C0"/>
              </a:solidFill>
              <a:latin typeface="Consolas" panose="020B0609020204030204" pitchFamily="49" charset="0"/>
            </a:endParaRPr>
          </a:p>
          <a:p>
            <a:r>
              <a:rPr lang="en-SG" sz="1200" dirty="0" err="1">
                <a:solidFill>
                  <a:srgbClr val="0070C0"/>
                </a:solidFill>
                <a:latin typeface="Consolas" panose="020B0609020204030204" pitchFamily="49" charset="0"/>
              </a:rPr>
              <a:t>module.exports</a:t>
            </a:r>
            <a:r>
              <a:rPr lang="en-SG" sz="1200" dirty="0">
                <a:solidFill>
                  <a:srgbClr val="0070C0"/>
                </a:solidFill>
                <a:latin typeface="Consolas" panose="020B0609020204030204" pitchFamily="49" charset="0"/>
              </a:rPr>
              <a:t> = db;</a:t>
            </a:r>
          </a:p>
        </p:txBody>
      </p:sp>
      <p:sp>
        <p:nvSpPr>
          <p:cNvPr id="5" name="TextBox 4">
            <a:extLst>
              <a:ext uri="{FF2B5EF4-FFF2-40B4-BE49-F238E27FC236}">
                <a16:creationId xmlns:a16="http://schemas.microsoft.com/office/drawing/2014/main" id="{9B1EA3FB-21FB-8E52-0093-3C2E2747F54A}"/>
              </a:ext>
            </a:extLst>
          </p:cNvPr>
          <p:cNvSpPr txBox="1"/>
          <p:nvPr/>
        </p:nvSpPr>
        <p:spPr>
          <a:xfrm>
            <a:off x="6282848" y="3059668"/>
            <a:ext cx="2775825" cy="738664"/>
          </a:xfrm>
          <a:prstGeom prst="rect">
            <a:avLst/>
          </a:prstGeom>
          <a:noFill/>
        </p:spPr>
        <p:txBody>
          <a:bodyPr wrap="square" rtlCol="0">
            <a:spAutoFit/>
          </a:bodyPr>
          <a:lstStyle/>
          <a:p>
            <a:pPr algn="ctr"/>
            <a:r>
              <a:rPr lang="en-US" sz="1400" dirty="0">
                <a:solidFill>
                  <a:schemeClr val="accent6"/>
                </a:solidFill>
              </a:rPr>
              <a:t>As we are using environment variables, we now do not put the actual database credentials here</a:t>
            </a:r>
            <a:endParaRPr lang="en-SG" sz="1400" dirty="0">
              <a:solidFill>
                <a:schemeClr val="accent6"/>
              </a:solidFill>
            </a:endParaRPr>
          </a:p>
        </p:txBody>
      </p:sp>
    </p:spTree>
    <p:extLst>
      <p:ext uri="{BB962C8B-B14F-4D97-AF65-F5344CB8AC3E}">
        <p14:creationId xmlns:p14="http://schemas.microsoft.com/office/powerpoint/2010/main" val="2122638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19D829-EF93-AD1E-F5BC-48B17D9706B9}"/>
              </a:ext>
            </a:extLst>
          </p:cNvPr>
          <p:cNvSpPr>
            <a:spLocks noGrp="1"/>
          </p:cNvSpPr>
          <p:nvPr>
            <p:ph type="body" sz="quarter" idx="14"/>
          </p:nvPr>
        </p:nvSpPr>
        <p:spPr>
          <a:xfrm>
            <a:off x="547525" y="1593024"/>
            <a:ext cx="3694275" cy="4572296"/>
          </a:xfrm>
        </p:spPr>
        <p:txBody>
          <a:bodyPr/>
          <a:lstStyle/>
          <a:p>
            <a:r>
              <a:rPr lang="en-SG" dirty="0"/>
              <a:t>We will be using Copilot in VS Code to assist us in creating the model and controller.</a:t>
            </a:r>
          </a:p>
          <a:p>
            <a:endParaRPr lang="en-SG" dirty="0"/>
          </a:p>
          <a:p>
            <a:r>
              <a:rPr lang="en-SG" dirty="0">
                <a:highlight>
                  <a:srgbClr val="FFFF00"/>
                </a:highlight>
              </a:rPr>
              <a:t>You will need to be logged in to GitHub in </a:t>
            </a:r>
            <a:r>
              <a:rPr lang="en-SG" dirty="0" err="1">
                <a:highlight>
                  <a:srgbClr val="FFFF00"/>
                </a:highlight>
              </a:rPr>
              <a:t>VSCode</a:t>
            </a:r>
            <a:endParaRPr lang="en-SG" dirty="0">
              <a:highlight>
                <a:srgbClr val="FFFF00"/>
              </a:highlight>
            </a:endParaRPr>
          </a:p>
          <a:p>
            <a:endParaRPr lang="en-SG" dirty="0"/>
          </a:p>
          <a:p>
            <a:r>
              <a:rPr lang="en-SG" dirty="0"/>
              <a:t>Right-click on </a:t>
            </a:r>
            <a:r>
              <a:rPr lang="en-SG" b="1" dirty="0"/>
              <a:t>Student.js</a:t>
            </a:r>
          </a:p>
          <a:p>
            <a:endParaRPr lang="en-SG" dirty="0"/>
          </a:p>
          <a:p>
            <a:r>
              <a:rPr lang="en-SG" dirty="0"/>
              <a:t>Select “Add File to Chat”</a:t>
            </a:r>
          </a:p>
        </p:txBody>
      </p:sp>
      <p:sp>
        <p:nvSpPr>
          <p:cNvPr id="3" name="Title 2">
            <a:extLst>
              <a:ext uri="{FF2B5EF4-FFF2-40B4-BE49-F238E27FC236}">
                <a16:creationId xmlns:a16="http://schemas.microsoft.com/office/drawing/2014/main" id="{B58BC271-6D94-EBFF-B083-84711B54A88E}"/>
              </a:ext>
            </a:extLst>
          </p:cNvPr>
          <p:cNvSpPr>
            <a:spLocks noGrp="1"/>
          </p:cNvSpPr>
          <p:nvPr>
            <p:ph type="title"/>
          </p:nvPr>
        </p:nvSpPr>
        <p:spPr/>
        <p:txBody>
          <a:bodyPr/>
          <a:lstStyle/>
          <a:p>
            <a:r>
              <a:rPr lang="en-SG" dirty="0"/>
              <a:t>Copilot in </a:t>
            </a:r>
            <a:r>
              <a:rPr lang="en-SG" dirty="0" err="1"/>
              <a:t>VSCode</a:t>
            </a:r>
            <a:endParaRPr lang="en-SG" dirty="0"/>
          </a:p>
        </p:txBody>
      </p:sp>
      <p:pic>
        <p:nvPicPr>
          <p:cNvPr id="8" name="Picture 7">
            <a:extLst>
              <a:ext uri="{FF2B5EF4-FFF2-40B4-BE49-F238E27FC236}">
                <a16:creationId xmlns:a16="http://schemas.microsoft.com/office/drawing/2014/main" id="{061C49DD-D523-1AFB-6AAF-3B29F9FF07F3}"/>
              </a:ext>
            </a:extLst>
          </p:cNvPr>
          <p:cNvPicPr>
            <a:picLocks noChangeAspect="1"/>
          </p:cNvPicPr>
          <p:nvPr/>
        </p:nvPicPr>
        <p:blipFill>
          <a:blip r:embed="rId3"/>
          <a:stretch>
            <a:fillRect/>
          </a:stretch>
        </p:blipFill>
        <p:spPr>
          <a:xfrm>
            <a:off x="4902202" y="1748371"/>
            <a:ext cx="3583932" cy="4642531"/>
          </a:xfrm>
          <a:prstGeom prst="rect">
            <a:avLst/>
          </a:prstGeom>
        </p:spPr>
      </p:pic>
    </p:spTree>
    <p:extLst>
      <p:ext uri="{BB962C8B-B14F-4D97-AF65-F5344CB8AC3E}">
        <p14:creationId xmlns:p14="http://schemas.microsoft.com/office/powerpoint/2010/main" val="599774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CA4413-61C9-95AA-2FA7-831569F9008E}"/>
              </a:ext>
            </a:extLst>
          </p:cNvPr>
          <p:cNvSpPr>
            <a:spLocks noGrp="1"/>
          </p:cNvSpPr>
          <p:nvPr>
            <p:ph type="body" sz="quarter" idx="14"/>
          </p:nvPr>
        </p:nvSpPr>
        <p:spPr/>
        <p:txBody>
          <a:bodyPr/>
          <a:lstStyle/>
          <a:p>
            <a:r>
              <a:rPr lang="en-SG" dirty="0"/>
              <a:t>You will see a chat box appear similar to below </a:t>
            </a:r>
          </a:p>
        </p:txBody>
      </p:sp>
      <p:sp>
        <p:nvSpPr>
          <p:cNvPr id="3" name="Title 2">
            <a:extLst>
              <a:ext uri="{FF2B5EF4-FFF2-40B4-BE49-F238E27FC236}">
                <a16:creationId xmlns:a16="http://schemas.microsoft.com/office/drawing/2014/main" id="{EE686015-D7C0-B084-706F-F6958F507AD8}"/>
              </a:ext>
            </a:extLst>
          </p:cNvPr>
          <p:cNvSpPr>
            <a:spLocks noGrp="1"/>
          </p:cNvSpPr>
          <p:nvPr>
            <p:ph type="title"/>
          </p:nvPr>
        </p:nvSpPr>
        <p:spPr/>
        <p:txBody>
          <a:bodyPr/>
          <a:lstStyle/>
          <a:p>
            <a:r>
              <a:rPr lang="en-SG" dirty="0"/>
              <a:t>Copilot in </a:t>
            </a:r>
            <a:r>
              <a:rPr lang="en-SG" dirty="0" err="1"/>
              <a:t>VSCode</a:t>
            </a:r>
            <a:endParaRPr lang="en-SG" dirty="0"/>
          </a:p>
        </p:txBody>
      </p:sp>
      <p:pic>
        <p:nvPicPr>
          <p:cNvPr id="7" name="Picture 6">
            <a:extLst>
              <a:ext uri="{FF2B5EF4-FFF2-40B4-BE49-F238E27FC236}">
                <a16:creationId xmlns:a16="http://schemas.microsoft.com/office/drawing/2014/main" id="{F46F819C-098F-4FBC-6460-6593B1E8D809}"/>
              </a:ext>
            </a:extLst>
          </p:cNvPr>
          <p:cNvPicPr>
            <a:picLocks noChangeAspect="1"/>
          </p:cNvPicPr>
          <p:nvPr/>
        </p:nvPicPr>
        <p:blipFill>
          <a:blip r:embed="rId2"/>
          <a:stretch>
            <a:fillRect/>
          </a:stretch>
        </p:blipFill>
        <p:spPr>
          <a:xfrm>
            <a:off x="1597605" y="2392325"/>
            <a:ext cx="5253296" cy="3955312"/>
          </a:xfrm>
          <a:prstGeom prst="rect">
            <a:avLst/>
          </a:prstGeom>
        </p:spPr>
      </p:pic>
    </p:spTree>
    <p:extLst>
      <p:ext uri="{BB962C8B-B14F-4D97-AF65-F5344CB8AC3E}">
        <p14:creationId xmlns:p14="http://schemas.microsoft.com/office/powerpoint/2010/main" val="622839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732929-EE89-CCAD-A14B-CE13996D79E8}"/>
              </a:ext>
            </a:extLst>
          </p:cNvPr>
          <p:cNvSpPr>
            <a:spLocks noGrp="1"/>
          </p:cNvSpPr>
          <p:nvPr>
            <p:ph type="body" sz="quarter" idx="14"/>
          </p:nvPr>
        </p:nvSpPr>
        <p:spPr>
          <a:xfrm>
            <a:off x="547526" y="1593024"/>
            <a:ext cx="6019530" cy="4572296"/>
          </a:xfrm>
        </p:spPr>
        <p:txBody>
          <a:bodyPr/>
          <a:lstStyle/>
          <a:p>
            <a:r>
              <a:rPr lang="en-US" sz="1600" b="1" dirty="0"/>
              <a:t>Agent Mode</a:t>
            </a:r>
          </a:p>
          <a:p>
            <a:pPr lvl="1"/>
            <a:r>
              <a:rPr lang="en-US" sz="1400" b="1" dirty="0"/>
              <a:t>Purpose</a:t>
            </a:r>
            <a:r>
              <a:rPr lang="en-US" sz="1400" dirty="0"/>
              <a:t>: Engage with an AI assistant or agent.</a:t>
            </a:r>
          </a:p>
          <a:p>
            <a:pPr lvl="1"/>
            <a:r>
              <a:rPr lang="en-US" sz="1400" b="1" dirty="0"/>
              <a:t>Functionality</a:t>
            </a:r>
            <a:r>
              <a:rPr lang="en-US" sz="1400" dirty="0"/>
              <a:t>: You can ask questions, get help, or receive suggestions from the AI.</a:t>
            </a:r>
          </a:p>
          <a:p>
            <a:pPr lvl="1"/>
            <a:r>
              <a:rPr lang="en-US" sz="1400" b="1" dirty="0"/>
              <a:t>Use Case</a:t>
            </a:r>
            <a:r>
              <a:rPr lang="en-US" sz="1400" dirty="0"/>
              <a:t>: Ideal for conversational tasks, guidance, or automation.</a:t>
            </a:r>
          </a:p>
          <a:p>
            <a:pPr lvl="1"/>
            <a:endParaRPr lang="en-US" sz="1600" dirty="0"/>
          </a:p>
          <a:p>
            <a:r>
              <a:rPr lang="en-US" sz="1600" b="1" dirty="0"/>
              <a:t>Ask Mode</a:t>
            </a:r>
          </a:p>
          <a:p>
            <a:pPr lvl="1"/>
            <a:r>
              <a:rPr lang="en-US" sz="1400" b="1" dirty="0"/>
              <a:t>Purpose</a:t>
            </a:r>
            <a:r>
              <a:rPr lang="en-US" sz="1400" dirty="0"/>
              <a:t>: Ask questions or make requests </a:t>
            </a:r>
            <a:r>
              <a:rPr lang="en-US" sz="1400" b="1" dirty="0"/>
              <a:t>in context</a:t>
            </a:r>
            <a:r>
              <a:rPr lang="en-US" sz="1400" dirty="0"/>
              <a:t>.</a:t>
            </a:r>
          </a:p>
          <a:p>
            <a:pPr lvl="1"/>
            <a:r>
              <a:rPr lang="en-US" sz="1400" b="1" dirty="0"/>
              <a:t>Functionality</a:t>
            </a:r>
            <a:r>
              <a:rPr lang="en-US" sz="1400" dirty="0"/>
              <a:t>: The AI interprets your input based on the surrounding content (e.g., a document or code).</a:t>
            </a:r>
          </a:p>
          <a:p>
            <a:pPr lvl="1"/>
            <a:r>
              <a:rPr lang="en-US" sz="1400" b="1" dirty="0"/>
              <a:t>Use Case</a:t>
            </a:r>
            <a:r>
              <a:rPr lang="en-US" sz="1400" dirty="0"/>
              <a:t>: Great for clarifying, summarizing, or modifying specific parts of a document or interface.</a:t>
            </a:r>
          </a:p>
          <a:p>
            <a:pPr lvl="1"/>
            <a:endParaRPr lang="en-US" sz="1600" dirty="0"/>
          </a:p>
          <a:p>
            <a:r>
              <a:rPr lang="en-US" sz="1600" b="1" dirty="0"/>
              <a:t>Edit Mode</a:t>
            </a:r>
          </a:p>
          <a:p>
            <a:pPr lvl="1"/>
            <a:r>
              <a:rPr lang="en-US" sz="1400" b="1" dirty="0"/>
              <a:t>Purpose</a:t>
            </a:r>
            <a:r>
              <a:rPr lang="en-US" sz="1400" dirty="0"/>
              <a:t>: Directly modify content.</a:t>
            </a:r>
          </a:p>
          <a:p>
            <a:pPr lvl="1"/>
            <a:r>
              <a:rPr lang="en-US" sz="1400" b="1" dirty="0"/>
              <a:t>Functionality</a:t>
            </a:r>
            <a:r>
              <a:rPr lang="en-US" sz="1400" dirty="0"/>
              <a:t>: You can make changes manually or instruct the AI to rewrite or restructure something.</a:t>
            </a:r>
          </a:p>
          <a:p>
            <a:pPr lvl="1"/>
            <a:r>
              <a:rPr lang="en-US" sz="1400" b="1" dirty="0"/>
              <a:t>Use Case</a:t>
            </a:r>
            <a:r>
              <a:rPr lang="en-US" sz="1400" dirty="0"/>
              <a:t>: Best for refining text, correcting errors, or rephrasing.</a:t>
            </a:r>
          </a:p>
          <a:p>
            <a:endParaRPr lang="en-SG" sz="1600" dirty="0"/>
          </a:p>
        </p:txBody>
      </p:sp>
      <p:sp>
        <p:nvSpPr>
          <p:cNvPr id="3" name="Title 2">
            <a:extLst>
              <a:ext uri="{FF2B5EF4-FFF2-40B4-BE49-F238E27FC236}">
                <a16:creationId xmlns:a16="http://schemas.microsoft.com/office/drawing/2014/main" id="{B6DD0230-B9DB-476B-477C-8980ECCD6724}"/>
              </a:ext>
            </a:extLst>
          </p:cNvPr>
          <p:cNvSpPr>
            <a:spLocks noGrp="1"/>
          </p:cNvSpPr>
          <p:nvPr>
            <p:ph type="title"/>
          </p:nvPr>
        </p:nvSpPr>
        <p:spPr/>
        <p:txBody>
          <a:bodyPr/>
          <a:lstStyle/>
          <a:p>
            <a:r>
              <a:rPr lang="en-SG" dirty="0"/>
              <a:t>Copilot in </a:t>
            </a:r>
            <a:r>
              <a:rPr lang="en-SG" dirty="0" err="1"/>
              <a:t>VSCode</a:t>
            </a:r>
            <a:r>
              <a:rPr lang="en-SG" dirty="0"/>
              <a:t> - Modes</a:t>
            </a:r>
          </a:p>
        </p:txBody>
      </p:sp>
      <p:pic>
        <p:nvPicPr>
          <p:cNvPr id="7" name="Picture 6">
            <a:extLst>
              <a:ext uri="{FF2B5EF4-FFF2-40B4-BE49-F238E27FC236}">
                <a16:creationId xmlns:a16="http://schemas.microsoft.com/office/drawing/2014/main" id="{8BEA4CE6-1DF4-F14B-4019-72576BFC1CE8}"/>
              </a:ext>
            </a:extLst>
          </p:cNvPr>
          <p:cNvPicPr>
            <a:picLocks noChangeAspect="1"/>
          </p:cNvPicPr>
          <p:nvPr/>
        </p:nvPicPr>
        <p:blipFill>
          <a:blip r:embed="rId3"/>
          <a:srcRect r="54184"/>
          <a:stretch>
            <a:fillRect/>
          </a:stretch>
        </p:blipFill>
        <p:spPr>
          <a:xfrm>
            <a:off x="6111317" y="2909454"/>
            <a:ext cx="2392636" cy="1642440"/>
          </a:xfrm>
          <a:prstGeom prst="rect">
            <a:avLst/>
          </a:prstGeom>
        </p:spPr>
      </p:pic>
      <p:sp>
        <p:nvSpPr>
          <p:cNvPr id="4" name="TextBox 3">
            <a:extLst>
              <a:ext uri="{FF2B5EF4-FFF2-40B4-BE49-F238E27FC236}">
                <a16:creationId xmlns:a16="http://schemas.microsoft.com/office/drawing/2014/main" id="{0C7FDF97-AA43-C63B-15CD-94BF5B62E591}"/>
              </a:ext>
            </a:extLst>
          </p:cNvPr>
          <p:cNvSpPr txBox="1"/>
          <p:nvPr/>
        </p:nvSpPr>
        <p:spPr>
          <a:xfrm>
            <a:off x="5877556" y="4835387"/>
            <a:ext cx="3075058" cy="523220"/>
          </a:xfrm>
          <a:prstGeom prst="rect">
            <a:avLst/>
          </a:prstGeom>
          <a:noFill/>
        </p:spPr>
        <p:txBody>
          <a:bodyPr wrap="square" rtlCol="0">
            <a:spAutoFit/>
          </a:bodyPr>
          <a:lstStyle/>
          <a:p>
            <a:r>
              <a:rPr lang="en-SG" sz="1400" dirty="0">
                <a:solidFill>
                  <a:srgbClr val="0070C0"/>
                </a:solidFill>
              </a:rPr>
              <a:t>For the purpose of the exercise, we will be using the </a:t>
            </a:r>
            <a:r>
              <a:rPr lang="en-SG" sz="1400" b="1" dirty="0">
                <a:solidFill>
                  <a:srgbClr val="0070C0"/>
                </a:solidFill>
              </a:rPr>
              <a:t>Ask</a:t>
            </a:r>
            <a:r>
              <a:rPr lang="en-SG" sz="1400" dirty="0">
                <a:solidFill>
                  <a:srgbClr val="0070C0"/>
                </a:solidFill>
              </a:rPr>
              <a:t> mode for now.</a:t>
            </a:r>
          </a:p>
        </p:txBody>
      </p:sp>
    </p:spTree>
    <p:extLst>
      <p:ext uri="{BB962C8B-B14F-4D97-AF65-F5344CB8AC3E}">
        <p14:creationId xmlns:p14="http://schemas.microsoft.com/office/powerpoint/2010/main" val="2551576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DB2CF-AA39-17F4-A347-0F8CF4B29885}"/>
              </a:ext>
            </a:extLst>
          </p:cNvPr>
          <p:cNvSpPr>
            <a:spLocks noGrp="1"/>
          </p:cNvSpPr>
          <p:nvPr>
            <p:ph type="body" sz="quarter" idx="14"/>
          </p:nvPr>
        </p:nvSpPr>
        <p:spPr/>
        <p:txBody>
          <a:bodyPr/>
          <a:lstStyle/>
          <a:p>
            <a:r>
              <a:rPr lang="en-US" dirty="0"/>
              <a:t>To enhance the quality of results, it's important to provide relevant context. For this exercise, that means including details from the </a:t>
            </a:r>
            <a:r>
              <a:rPr lang="en-US" b="1" dirty="0" err="1"/>
              <a:t>StudentAppMVC</a:t>
            </a:r>
            <a:r>
              <a:rPr lang="en-US" dirty="0"/>
              <a:t> project.</a:t>
            </a:r>
          </a:p>
          <a:p>
            <a:pPr lvl="1">
              <a:lnSpc>
                <a:spcPct val="150000"/>
              </a:lnSpc>
            </a:pPr>
            <a:r>
              <a:rPr lang="en-SG" dirty="0"/>
              <a:t>Click on       to add context</a:t>
            </a:r>
          </a:p>
          <a:p>
            <a:pPr lvl="1">
              <a:lnSpc>
                <a:spcPct val="150000"/>
              </a:lnSpc>
            </a:pPr>
            <a:r>
              <a:rPr lang="en-SG" dirty="0"/>
              <a:t>Select </a:t>
            </a:r>
            <a:r>
              <a:rPr lang="en-SG" b="1" dirty="0"/>
              <a:t>Files and Folders</a:t>
            </a:r>
          </a:p>
          <a:p>
            <a:pPr lvl="1">
              <a:lnSpc>
                <a:spcPct val="150000"/>
              </a:lnSpc>
            </a:pPr>
            <a:r>
              <a:rPr lang="en-SG" dirty="0"/>
              <a:t>Select </a:t>
            </a:r>
            <a:r>
              <a:rPr lang="en-SG" b="1" dirty="0" err="1"/>
              <a:t>StudentAppMVC</a:t>
            </a:r>
            <a:endParaRPr lang="en-SG" b="1" dirty="0"/>
          </a:p>
          <a:p>
            <a:pPr>
              <a:lnSpc>
                <a:spcPct val="100000"/>
              </a:lnSpc>
            </a:pPr>
            <a:r>
              <a:rPr lang="en-SG" dirty="0"/>
              <a:t>Once added, you should see the </a:t>
            </a:r>
            <a:r>
              <a:rPr lang="en-SG" b="1" dirty="0" err="1"/>
              <a:t>StudentAppMVC</a:t>
            </a:r>
            <a:r>
              <a:rPr lang="en-SG" dirty="0"/>
              <a:t> project added as shown below. (</a:t>
            </a:r>
            <a:r>
              <a:rPr lang="en-SG" b="1" dirty="0"/>
              <a:t>Student.js </a:t>
            </a:r>
            <a:r>
              <a:rPr lang="en-SG" dirty="0"/>
              <a:t>was added earlier when we did </a:t>
            </a:r>
            <a:r>
              <a:rPr lang="en-SG" b="1" dirty="0"/>
              <a:t>Add File to Chat</a:t>
            </a:r>
            <a:r>
              <a:rPr lang="en-SG" dirty="0"/>
              <a:t>)</a:t>
            </a:r>
          </a:p>
        </p:txBody>
      </p:sp>
      <p:sp>
        <p:nvSpPr>
          <p:cNvPr id="3" name="Title 2">
            <a:extLst>
              <a:ext uri="{FF2B5EF4-FFF2-40B4-BE49-F238E27FC236}">
                <a16:creationId xmlns:a16="http://schemas.microsoft.com/office/drawing/2014/main" id="{6C5D2958-E08A-1BB2-6087-4D84CA7BE440}"/>
              </a:ext>
            </a:extLst>
          </p:cNvPr>
          <p:cNvSpPr>
            <a:spLocks noGrp="1"/>
          </p:cNvSpPr>
          <p:nvPr>
            <p:ph type="title"/>
          </p:nvPr>
        </p:nvSpPr>
        <p:spPr/>
        <p:txBody>
          <a:bodyPr/>
          <a:lstStyle/>
          <a:p>
            <a:r>
              <a:rPr lang="en-SG" dirty="0"/>
              <a:t>Adding Context</a:t>
            </a:r>
          </a:p>
        </p:txBody>
      </p:sp>
      <p:pic>
        <p:nvPicPr>
          <p:cNvPr id="9" name="Picture 8">
            <a:extLst>
              <a:ext uri="{FF2B5EF4-FFF2-40B4-BE49-F238E27FC236}">
                <a16:creationId xmlns:a16="http://schemas.microsoft.com/office/drawing/2014/main" id="{6EFEA3F5-7A1D-8ACE-B5E0-55F4DB4FD56F}"/>
              </a:ext>
            </a:extLst>
          </p:cNvPr>
          <p:cNvPicPr>
            <a:picLocks noChangeAspect="1"/>
          </p:cNvPicPr>
          <p:nvPr/>
        </p:nvPicPr>
        <p:blipFill>
          <a:blip r:embed="rId2"/>
          <a:stretch>
            <a:fillRect/>
          </a:stretch>
        </p:blipFill>
        <p:spPr>
          <a:xfrm>
            <a:off x="2473374" y="4927649"/>
            <a:ext cx="4197251" cy="1514348"/>
          </a:xfrm>
          <a:prstGeom prst="rect">
            <a:avLst/>
          </a:prstGeom>
        </p:spPr>
      </p:pic>
      <p:pic>
        <p:nvPicPr>
          <p:cNvPr id="14" name="Picture 13">
            <a:extLst>
              <a:ext uri="{FF2B5EF4-FFF2-40B4-BE49-F238E27FC236}">
                <a16:creationId xmlns:a16="http://schemas.microsoft.com/office/drawing/2014/main" id="{BB937C87-E3D6-1AA9-27BA-8BDC3E6A780A}"/>
              </a:ext>
            </a:extLst>
          </p:cNvPr>
          <p:cNvPicPr>
            <a:picLocks noChangeAspect="1"/>
          </p:cNvPicPr>
          <p:nvPr/>
        </p:nvPicPr>
        <p:blipFill>
          <a:blip r:embed="rId3"/>
          <a:stretch>
            <a:fillRect/>
          </a:stretch>
        </p:blipFill>
        <p:spPr>
          <a:xfrm>
            <a:off x="2184398" y="2600245"/>
            <a:ext cx="314402" cy="300112"/>
          </a:xfrm>
          <a:prstGeom prst="rect">
            <a:avLst/>
          </a:prstGeom>
        </p:spPr>
      </p:pic>
      <p:sp>
        <p:nvSpPr>
          <p:cNvPr id="15" name="Rectangle 14">
            <a:extLst>
              <a:ext uri="{FF2B5EF4-FFF2-40B4-BE49-F238E27FC236}">
                <a16:creationId xmlns:a16="http://schemas.microsoft.com/office/drawing/2014/main" id="{BB6B08A6-04F2-A420-C89D-DA1307629F84}"/>
              </a:ext>
            </a:extLst>
          </p:cNvPr>
          <p:cNvSpPr/>
          <p:nvPr/>
        </p:nvSpPr>
        <p:spPr>
          <a:xfrm>
            <a:off x="2785730" y="4986669"/>
            <a:ext cx="2955851" cy="3083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703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F5ECA7-0292-B21C-5F62-3B92A98704D3}"/>
              </a:ext>
            </a:extLst>
          </p:cNvPr>
          <p:cNvSpPr>
            <a:spLocks noGrp="1"/>
          </p:cNvSpPr>
          <p:nvPr>
            <p:ph type="body" sz="quarter" idx="14"/>
          </p:nvPr>
        </p:nvSpPr>
        <p:spPr/>
        <p:txBody>
          <a:bodyPr/>
          <a:lstStyle/>
          <a:p>
            <a:r>
              <a:rPr lang="en-SG" dirty="0"/>
              <a:t>Enter the prompt below into the </a:t>
            </a:r>
            <a:r>
              <a:rPr lang="en-SG" dirty="0" err="1"/>
              <a:t>chatbox</a:t>
            </a:r>
            <a:r>
              <a:rPr lang="en-SG" dirty="0"/>
              <a:t> to generate code for </a:t>
            </a:r>
            <a:r>
              <a:rPr lang="en-SG" b="1" dirty="0"/>
              <a:t>Student.js </a:t>
            </a:r>
            <a:r>
              <a:rPr lang="en-SG" dirty="0"/>
              <a:t>model.</a:t>
            </a:r>
          </a:p>
          <a:p>
            <a:endParaRPr lang="en-SG" dirty="0"/>
          </a:p>
          <a:p>
            <a:endParaRPr lang="en-SG" dirty="0"/>
          </a:p>
        </p:txBody>
      </p:sp>
      <p:sp>
        <p:nvSpPr>
          <p:cNvPr id="3" name="Title 2">
            <a:extLst>
              <a:ext uri="{FF2B5EF4-FFF2-40B4-BE49-F238E27FC236}">
                <a16:creationId xmlns:a16="http://schemas.microsoft.com/office/drawing/2014/main" id="{32D029D2-83B6-56DF-7010-17D45D83E031}"/>
              </a:ext>
            </a:extLst>
          </p:cNvPr>
          <p:cNvSpPr>
            <a:spLocks noGrp="1"/>
          </p:cNvSpPr>
          <p:nvPr>
            <p:ph type="title"/>
          </p:nvPr>
        </p:nvSpPr>
        <p:spPr/>
        <p:txBody>
          <a:bodyPr/>
          <a:lstStyle/>
          <a:p>
            <a:r>
              <a:rPr lang="en-SG" dirty="0"/>
              <a:t>Copilot in </a:t>
            </a:r>
            <a:r>
              <a:rPr lang="en-SG" dirty="0" err="1"/>
              <a:t>VSCode</a:t>
            </a:r>
            <a:r>
              <a:rPr lang="en-SG" dirty="0"/>
              <a:t> - Model</a:t>
            </a:r>
          </a:p>
        </p:txBody>
      </p:sp>
      <p:sp>
        <p:nvSpPr>
          <p:cNvPr id="6" name="TextBox 5">
            <a:extLst>
              <a:ext uri="{FF2B5EF4-FFF2-40B4-BE49-F238E27FC236}">
                <a16:creationId xmlns:a16="http://schemas.microsoft.com/office/drawing/2014/main" id="{F6FE36AD-0965-1150-4B9A-B68138D32A5C}"/>
              </a:ext>
            </a:extLst>
          </p:cNvPr>
          <p:cNvSpPr txBox="1"/>
          <p:nvPr/>
        </p:nvSpPr>
        <p:spPr>
          <a:xfrm>
            <a:off x="705156" y="2394098"/>
            <a:ext cx="7719236" cy="2308324"/>
          </a:xfrm>
          <a:prstGeom prst="rect">
            <a:avLst/>
          </a:prstGeom>
          <a:noFill/>
        </p:spPr>
        <p:txBody>
          <a:bodyPr wrap="square" rtlCol="0">
            <a:spAutoFit/>
          </a:bodyPr>
          <a:lstStyle/>
          <a:p>
            <a:r>
              <a:rPr lang="en-US" sz="1600" dirty="0">
                <a:solidFill>
                  <a:srgbClr val="0070C0"/>
                </a:solidFill>
              </a:rPr>
              <a:t>Generate a function-based student model for Node.js using the MVC pattern. The model should export an object with methods for common database operations (get all students, get student by ID, add, update, delete). Each method should accept parameters and a callback, and use a MySQL connection from </a:t>
            </a:r>
            <a:r>
              <a:rPr lang="en-US" sz="1600" dirty="0">
                <a:solidFill>
                  <a:srgbClr val="467886"/>
                </a:solidFill>
                <a:hlinkClick r:id="rId2">
                  <a:extLst>
                    <a:ext uri="{A12FA001-AC4F-418D-AE19-62706E023703}">
                      <ahyp:hlinkClr xmlns:ahyp="http://schemas.microsoft.com/office/drawing/2018/hyperlinkcolor" val="tx"/>
                    </a:ext>
                  </a:extLst>
                </a:hlinkClick>
              </a:rPr>
              <a:t>require(‘../</a:t>
            </a:r>
            <a:r>
              <a:rPr lang="en-US" sz="1600" dirty="0" err="1">
                <a:solidFill>
                  <a:srgbClr val="467886"/>
                </a:solidFill>
                <a:hlinkClick r:id="rId2">
                  <a:extLst>
                    <a:ext uri="{A12FA001-AC4F-418D-AE19-62706E023703}">
                      <ahyp:hlinkClr xmlns:ahyp="http://schemas.microsoft.com/office/drawing/2018/hyperlinkcolor" val="tx"/>
                    </a:ext>
                  </a:extLst>
                </a:hlinkClick>
              </a:rPr>
              <a:t>db</a:t>
            </a:r>
            <a:r>
              <a:rPr lang="en-US" sz="1600" dirty="0">
                <a:solidFill>
                  <a:srgbClr val="0070C0"/>
                </a:solidFill>
                <a:hlinkClick r:id="rId2">
                  <a:extLst>
                    <a:ext uri="{A12FA001-AC4F-418D-AE19-62706E023703}">
                      <ahyp:hlinkClr xmlns:ahyp="http://schemas.microsoft.com/office/drawing/2018/hyperlinkcolor" val="tx"/>
                    </a:ext>
                  </a:extLst>
                </a:hlinkClick>
              </a:rPr>
              <a:t>’)</a:t>
            </a:r>
            <a:r>
              <a:rPr lang="en-US" sz="1600" dirty="0">
                <a:solidFill>
                  <a:srgbClr val="0070C0"/>
                </a:solidFill>
              </a:rPr>
              <a:t>. </a:t>
            </a:r>
          </a:p>
          <a:p>
            <a:endParaRPr lang="en-US" sz="1600" dirty="0">
              <a:solidFill>
                <a:srgbClr val="0070C0"/>
              </a:solidFill>
            </a:endParaRPr>
          </a:p>
          <a:p>
            <a:r>
              <a:rPr lang="en-US" sz="1600" dirty="0">
                <a:solidFill>
                  <a:srgbClr val="0070C0"/>
                </a:solidFill>
              </a:rPr>
              <a:t>Use SQL queries that match a students table with fields like </a:t>
            </a:r>
            <a:r>
              <a:rPr lang="en-US" sz="1600" dirty="0" err="1">
                <a:solidFill>
                  <a:srgbClr val="0070C0"/>
                </a:solidFill>
              </a:rPr>
              <a:t>studentId</a:t>
            </a:r>
            <a:r>
              <a:rPr lang="en-US" sz="1600" dirty="0">
                <a:solidFill>
                  <a:srgbClr val="0070C0"/>
                </a:solidFill>
              </a:rPr>
              <a:t>, name, dob, contact, and image.</a:t>
            </a:r>
          </a:p>
          <a:p>
            <a:br>
              <a:rPr lang="en-US" sz="1600" dirty="0">
                <a:solidFill>
                  <a:srgbClr val="0070C0"/>
                </a:solidFill>
              </a:rPr>
            </a:br>
            <a:endParaRPr lang="en-SG" sz="1600" dirty="0">
              <a:solidFill>
                <a:srgbClr val="0070C0"/>
              </a:solidFill>
            </a:endParaRPr>
          </a:p>
        </p:txBody>
      </p:sp>
      <p:sp>
        <p:nvSpPr>
          <p:cNvPr id="7" name="TextBox 6">
            <a:extLst>
              <a:ext uri="{FF2B5EF4-FFF2-40B4-BE49-F238E27FC236}">
                <a16:creationId xmlns:a16="http://schemas.microsoft.com/office/drawing/2014/main" id="{8883EE18-B80D-5484-0B33-98D49F03874E}"/>
              </a:ext>
            </a:extLst>
          </p:cNvPr>
          <p:cNvSpPr txBox="1"/>
          <p:nvPr/>
        </p:nvSpPr>
        <p:spPr>
          <a:xfrm>
            <a:off x="1013614" y="5190747"/>
            <a:ext cx="3822797" cy="646331"/>
          </a:xfrm>
          <a:prstGeom prst="rect">
            <a:avLst/>
          </a:prstGeom>
          <a:noFill/>
        </p:spPr>
        <p:txBody>
          <a:bodyPr wrap="square" rtlCol="0">
            <a:spAutoFit/>
          </a:bodyPr>
          <a:lstStyle/>
          <a:p>
            <a:r>
              <a:rPr lang="en-SG" sz="1200" dirty="0">
                <a:solidFill>
                  <a:srgbClr val="FF0000"/>
                </a:solidFill>
              </a:rPr>
              <a:t>Note:</a:t>
            </a:r>
          </a:p>
          <a:p>
            <a:r>
              <a:rPr lang="en-SG" sz="1200" dirty="0">
                <a:solidFill>
                  <a:srgbClr val="FF0000"/>
                </a:solidFill>
              </a:rPr>
              <a:t>The outcome may differ depending on the model used. Also, we are using the Ask mode. </a:t>
            </a:r>
          </a:p>
        </p:txBody>
      </p:sp>
      <p:pic>
        <p:nvPicPr>
          <p:cNvPr id="8" name="Picture 7">
            <a:extLst>
              <a:ext uri="{FF2B5EF4-FFF2-40B4-BE49-F238E27FC236}">
                <a16:creationId xmlns:a16="http://schemas.microsoft.com/office/drawing/2014/main" id="{14BF5BD0-A72B-30F6-AD5E-825D27D3401F}"/>
              </a:ext>
            </a:extLst>
          </p:cNvPr>
          <p:cNvPicPr>
            <a:picLocks noChangeAspect="1"/>
          </p:cNvPicPr>
          <p:nvPr/>
        </p:nvPicPr>
        <p:blipFill>
          <a:blip r:embed="rId3"/>
          <a:stretch>
            <a:fillRect/>
          </a:stretch>
        </p:blipFill>
        <p:spPr>
          <a:xfrm>
            <a:off x="4946749" y="4625247"/>
            <a:ext cx="4197251" cy="1514348"/>
          </a:xfrm>
          <a:prstGeom prst="rect">
            <a:avLst/>
          </a:prstGeom>
        </p:spPr>
      </p:pic>
      <p:sp>
        <p:nvSpPr>
          <p:cNvPr id="5" name="TextBox 4">
            <a:extLst>
              <a:ext uri="{FF2B5EF4-FFF2-40B4-BE49-F238E27FC236}">
                <a16:creationId xmlns:a16="http://schemas.microsoft.com/office/drawing/2014/main" id="{66AF9D03-FF88-F141-820F-9FC93B9ED7E2}"/>
              </a:ext>
            </a:extLst>
          </p:cNvPr>
          <p:cNvSpPr txBox="1"/>
          <p:nvPr/>
        </p:nvSpPr>
        <p:spPr>
          <a:xfrm>
            <a:off x="4946749" y="5318141"/>
            <a:ext cx="1613539" cy="391545"/>
          </a:xfrm>
          <a:prstGeom prst="rect">
            <a:avLst/>
          </a:prstGeom>
          <a:noFill/>
          <a:ln w="28575">
            <a:solidFill>
              <a:srgbClr val="FF0000"/>
            </a:solidFill>
          </a:ln>
        </p:spPr>
        <p:txBody>
          <a:bodyPr wrap="square" rtlCol="0">
            <a:spAutoFit/>
          </a:bodyPr>
          <a:lstStyle/>
          <a:p>
            <a:endParaRPr lang="en-SG" dirty="0"/>
          </a:p>
        </p:txBody>
      </p:sp>
    </p:spTree>
    <p:extLst>
      <p:ext uri="{BB962C8B-B14F-4D97-AF65-F5344CB8AC3E}">
        <p14:creationId xmlns:p14="http://schemas.microsoft.com/office/powerpoint/2010/main" val="897222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87C6EA-4C30-C8BA-19BA-B947B86E696B}"/>
              </a:ext>
            </a:extLst>
          </p:cNvPr>
          <p:cNvSpPr>
            <a:spLocks noGrp="1"/>
          </p:cNvSpPr>
          <p:nvPr>
            <p:ph type="body" sz="quarter" idx="14"/>
          </p:nvPr>
        </p:nvSpPr>
        <p:spPr>
          <a:xfrm>
            <a:off x="245307" y="1593024"/>
            <a:ext cx="3486721" cy="4572296"/>
          </a:xfrm>
        </p:spPr>
        <p:txBody>
          <a:bodyPr/>
          <a:lstStyle/>
          <a:p>
            <a:r>
              <a:rPr lang="en-SG" sz="1600" dirty="0"/>
              <a:t>Review the code</a:t>
            </a:r>
          </a:p>
          <a:p>
            <a:r>
              <a:rPr lang="en-SG" sz="1600" dirty="0"/>
              <a:t>Check that </a:t>
            </a:r>
            <a:r>
              <a:rPr lang="en-SG" sz="1600" b="1" dirty="0"/>
              <a:t>Student.js </a:t>
            </a:r>
            <a:r>
              <a:rPr lang="en-SG" sz="1600" dirty="0"/>
              <a:t>is open</a:t>
            </a:r>
          </a:p>
          <a:p>
            <a:r>
              <a:rPr lang="en-SG" sz="1600" dirty="0"/>
              <a:t>Click “</a:t>
            </a:r>
            <a:r>
              <a:rPr lang="en-SG" sz="1600" b="1" dirty="0"/>
              <a:t>Insert At Cursor</a:t>
            </a:r>
            <a:r>
              <a:rPr lang="en-SG" sz="1600" dirty="0"/>
              <a:t>”</a:t>
            </a:r>
          </a:p>
          <a:p>
            <a:r>
              <a:rPr lang="en-SG" sz="1600" dirty="0"/>
              <a:t>The code will appear in </a:t>
            </a:r>
            <a:r>
              <a:rPr lang="en-SG" sz="1600" b="1" dirty="0"/>
              <a:t>Student.js</a:t>
            </a:r>
          </a:p>
          <a:p>
            <a:r>
              <a:rPr lang="en-SG" sz="1600" dirty="0"/>
              <a:t>Save </a:t>
            </a:r>
            <a:r>
              <a:rPr lang="en-SG" sz="1600" b="1" dirty="0"/>
              <a:t>Student.js</a:t>
            </a:r>
          </a:p>
        </p:txBody>
      </p:sp>
      <p:sp>
        <p:nvSpPr>
          <p:cNvPr id="3" name="Title 2">
            <a:extLst>
              <a:ext uri="{FF2B5EF4-FFF2-40B4-BE49-F238E27FC236}">
                <a16:creationId xmlns:a16="http://schemas.microsoft.com/office/drawing/2014/main" id="{7A82074F-266D-1362-E579-A5D8875F060D}"/>
              </a:ext>
            </a:extLst>
          </p:cNvPr>
          <p:cNvSpPr>
            <a:spLocks noGrp="1"/>
          </p:cNvSpPr>
          <p:nvPr>
            <p:ph type="title"/>
          </p:nvPr>
        </p:nvSpPr>
        <p:spPr/>
        <p:txBody>
          <a:bodyPr/>
          <a:lstStyle/>
          <a:p>
            <a:r>
              <a:rPr lang="en-SG" dirty="0"/>
              <a:t>Model</a:t>
            </a:r>
          </a:p>
        </p:txBody>
      </p:sp>
      <p:pic>
        <p:nvPicPr>
          <p:cNvPr id="5" name="Picture 4">
            <a:extLst>
              <a:ext uri="{FF2B5EF4-FFF2-40B4-BE49-F238E27FC236}">
                <a16:creationId xmlns:a16="http://schemas.microsoft.com/office/drawing/2014/main" id="{9778F957-0A15-5E22-0BC8-937AFA76C317}"/>
              </a:ext>
            </a:extLst>
          </p:cNvPr>
          <p:cNvPicPr>
            <a:picLocks noChangeAspect="1"/>
          </p:cNvPicPr>
          <p:nvPr/>
        </p:nvPicPr>
        <p:blipFill>
          <a:blip r:embed="rId2"/>
          <a:stretch>
            <a:fillRect/>
          </a:stretch>
        </p:blipFill>
        <p:spPr>
          <a:xfrm>
            <a:off x="3512911" y="1507733"/>
            <a:ext cx="5300722" cy="4306185"/>
          </a:xfrm>
          <a:prstGeom prst="rect">
            <a:avLst/>
          </a:prstGeom>
        </p:spPr>
      </p:pic>
      <p:sp>
        <p:nvSpPr>
          <p:cNvPr id="4" name="TextBox 3">
            <a:extLst>
              <a:ext uri="{FF2B5EF4-FFF2-40B4-BE49-F238E27FC236}">
                <a16:creationId xmlns:a16="http://schemas.microsoft.com/office/drawing/2014/main" id="{2E4D34C2-4620-9188-3D60-48998F6316D7}"/>
              </a:ext>
            </a:extLst>
          </p:cNvPr>
          <p:cNvSpPr txBox="1"/>
          <p:nvPr/>
        </p:nvSpPr>
        <p:spPr>
          <a:xfrm>
            <a:off x="7836195" y="1766866"/>
            <a:ext cx="1062498" cy="391545"/>
          </a:xfrm>
          <a:prstGeom prst="rect">
            <a:avLst/>
          </a:prstGeom>
          <a:noFill/>
          <a:ln w="28575">
            <a:solidFill>
              <a:srgbClr val="FF0000"/>
            </a:solidFill>
          </a:ln>
        </p:spPr>
        <p:txBody>
          <a:bodyPr wrap="square" rtlCol="0">
            <a:spAutoFit/>
          </a:bodyPr>
          <a:lstStyle/>
          <a:p>
            <a:endParaRPr lang="en-SG" dirty="0"/>
          </a:p>
        </p:txBody>
      </p:sp>
    </p:spTree>
    <p:extLst>
      <p:ext uri="{BB962C8B-B14F-4D97-AF65-F5344CB8AC3E}">
        <p14:creationId xmlns:p14="http://schemas.microsoft.com/office/powerpoint/2010/main" val="2541474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60AF89-7C24-2AA9-CC1F-F90EEF38AE04}"/>
              </a:ext>
            </a:extLst>
          </p:cNvPr>
          <p:cNvSpPr>
            <a:spLocks noGrp="1"/>
          </p:cNvSpPr>
          <p:nvPr>
            <p:ph type="body" sz="quarter" idx="14"/>
          </p:nvPr>
        </p:nvSpPr>
        <p:spPr/>
        <p:txBody>
          <a:bodyPr/>
          <a:lstStyle/>
          <a:p>
            <a:r>
              <a:rPr lang="en-SG" dirty="0"/>
              <a:t>Enter the prompt below into the </a:t>
            </a:r>
            <a:r>
              <a:rPr lang="en-SG" dirty="0" err="1"/>
              <a:t>chatbox</a:t>
            </a:r>
            <a:r>
              <a:rPr lang="en-SG" dirty="0"/>
              <a:t> to generate the code for </a:t>
            </a:r>
            <a:r>
              <a:rPr lang="en-SG" b="1" dirty="0"/>
              <a:t>StudentController.js</a:t>
            </a:r>
          </a:p>
        </p:txBody>
      </p:sp>
      <p:sp>
        <p:nvSpPr>
          <p:cNvPr id="3" name="Title 2">
            <a:extLst>
              <a:ext uri="{FF2B5EF4-FFF2-40B4-BE49-F238E27FC236}">
                <a16:creationId xmlns:a16="http://schemas.microsoft.com/office/drawing/2014/main" id="{B196E627-2977-6A87-74B3-9734FC8F4278}"/>
              </a:ext>
            </a:extLst>
          </p:cNvPr>
          <p:cNvSpPr>
            <a:spLocks noGrp="1"/>
          </p:cNvSpPr>
          <p:nvPr>
            <p:ph type="title"/>
          </p:nvPr>
        </p:nvSpPr>
        <p:spPr/>
        <p:txBody>
          <a:bodyPr/>
          <a:lstStyle/>
          <a:p>
            <a:r>
              <a:rPr lang="en-SG" dirty="0"/>
              <a:t>Controller</a:t>
            </a:r>
          </a:p>
        </p:txBody>
      </p:sp>
      <p:sp>
        <p:nvSpPr>
          <p:cNvPr id="4" name="TextBox 3">
            <a:extLst>
              <a:ext uri="{FF2B5EF4-FFF2-40B4-BE49-F238E27FC236}">
                <a16:creationId xmlns:a16="http://schemas.microsoft.com/office/drawing/2014/main" id="{AE08161B-EFE1-6672-29AC-5CCC362995EF}"/>
              </a:ext>
            </a:extLst>
          </p:cNvPr>
          <p:cNvSpPr txBox="1"/>
          <p:nvPr/>
        </p:nvSpPr>
        <p:spPr>
          <a:xfrm>
            <a:off x="723736" y="2413337"/>
            <a:ext cx="7682075" cy="1569660"/>
          </a:xfrm>
          <a:prstGeom prst="rect">
            <a:avLst/>
          </a:prstGeom>
          <a:noFill/>
        </p:spPr>
        <p:txBody>
          <a:bodyPr wrap="square" rtlCol="0">
            <a:spAutoFit/>
          </a:bodyPr>
          <a:lstStyle/>
          <a:p>
            <a:r>
              <a:rPr lang="en-US" sz="1600" dirty="0">
                <a:solidFill>
                  <a:srgbClr val="0070C0"/>
                </a:solidFill>
              </a:rPr>
              <a:t>Generate a function-based student controller for Node.js using the MVC pattern. The controller should export an object with methods for common operations: list all students, get student by ID, add, update, and delete a student. Each method should accept the standard Express req and res objects, call the corresponding method from the student model (imported from ../models/Student), and handle the response or error appropriately. </a:t>
            </a:r>
            <a:endParaRPr lang="en-SG" sz="1600" dirty="0">
              <a:solidFill>
                <a:srgbClr val="0070C0"/>
              </a:solidFill>
            </a:endParaRPr>
          </a:p>
        </p:txBody>
      </p:sp>
      <p:sp>
        <p:nvSpPr>
          <p:cNvPr id="5" name="TextBox 4">
            <a:extLst>
              <a:ext uri="{FF2B5EF4-FFF2-40B4-BE49-F238E27FC236}">
                <a16:creationId xmlns:a16="http://schemas.microsoft.com/office/drawing/2014/main" id="{E7B562DA-3927-2169-3402-5A90DB4842FB}"/>
              </a:ext>
            </a:extLst>
          </p:cNvPr>
          <p:cNvSpPr txBox="1"/>
          <p:nvPr/>
        </p:nvSpPr>
        <p:spPr>
          <a:xfrm>
            <a:off x="723736" y="4803310"/>
            <a:ext cx="5253426" cy="307777"/>
          </a:xfrm>
          <a:prstGeom prst="rect">
            <a:avLst/>
          </a:prstGeom>
          <a:noFill/>
        </p:spPr>
        <p:txBody>
          <a:bodyPr wrap="none" rtlCol="0">
            <a:spAutoFit/>
          </a:bodyPr>
          <a:lstStyle/>
          <a:p>
            <a:r>
              <a:rPr lang="en-SG" sz="1400" dirty="0">
                <a:solidFill>
                  <a:srgbClr val="FF0000"/>
                </a:solidFill>
              </a:rPr>
              <a:t>Note: You may need to add </a:t>
            </a:r>
            <a:r>
              <a:rPr lang="en-SG" sz="1400" b="1" dirty="0" err="1">
                <a:solidFill>
                  <a:srgbClr val="FF0000"/>
                </a:solidFill>
              </a:rPr>
              <a:t>StudentAppMVC</a:t>
            </a:r>
            <a:r>
              <a:rPr lang="en-SG" sz="1400" dirty="0">
                <a:solidFill>
                  <a:srgbClr val="FF0000"/>
                </a:solidFill>
              </a:rPr>
              <a:t> to the context again.</a:t>
            </a:r>
          </a:p>
        </p:txBody>
      </p:sp>
    </p:spTree>
    <p:extLst>
      <p:ext uri="{BB962C8B-B14F-4D97-AF65-F5344CB8AC3E}">
        <p14:creationId xmlns:p14="http://schemas.microsoft.com/office/powerpoint/2010/main" val="1468144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C2760-C57B-3EC0-BD86-C2ECA3225A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8D3FA9-6BC0-E82F-6B5F-8ACE3D5205E3}"/>
              </a:ext>
            </a:extLst>
          </p:cNvPr>
          <p:cNvSpPr>
            <a:spLocks noGrp="1"/>
          </p:cNvSpPr>
          <p:nvPr>
            <p:ph type="body" sz="quarter" idx="14"/>
          </p:nvPr>
        </p:nvSpPr>
        <p:spPr>
          <a:xfrm>
            <a:off x="344326" y="1593024"/>
            <a:ext cx="3364074" cy="4572296"/>
          </a:xfrm>
        </p:spPr>
        <p:txBody>
          <a:bodyPr/>
          <a:lstStyle/>
          <a:p>
            <a:r>
              <a:rPr lang="en-SG" sz="1800" dirty="0"/>
              <a:t>Review the code</a:t>
            </a:r>
          </a:p>
          <a:p>
            <a:endParaRPr lang="en-SG" sz="1800" dirty="0"/>
          </a:p>
          <a:p>
            <a:r>
              <a:rPr lang="en-SG" sz="1800" dirty="0"/>
              <a:t>Check that </a:t>
            </a:r>
            <a:r>
              <a:rPr lang="en-SG" sz="1800" b="1" dirty="0"/>
              <a:t>StudentController.js </a:t>
            </a:r>
            <a:r>
              <a:rPr lang="en-SG" sz="1800" dirty="0"/>
              <a:t>is open</a:t>
            </a:r>
          </a:p>
          <a:p>
            <a:endParaRPr lang="en-SG" sz="1800" dirty="0"/>
          </a:p>
          <a:p>
            <a:r>
              <a:rPr lang="en-SG" sz="1800" dirty="0"/>
              <a:t>Click “</a:t>
            </a:r>
            <a:r>
              <a:rPr lang="en-SG" sz="1800" b="1" dirty="0"/>
              <a:t>Insert At Cursor</a:t>
            </a:r>
            <a:r>
              <a:rPr lang="en-SG" sz="1800" dirty="0"/>
              <a:t>”</a:t>
            </a:r>
          </a:p>
          <a:p>
            <a:endParaRPr lang="en-SG" sz="1800" dirty="0"/>
          </a:p>
          <a:p>
            <a:r>
              <a:rPr lang="en-SG" sz="1800" dirty="0"/>
              <a:t>The code will appear in </a:t>
            </a:r>
            <a:r>
              <a:rPr lang="en-SG" sz="1800" b="1" dirty="0"/>
              <a:t>StudentController.js</a:t>
            </a:r>
          </a:p>
          <a:p>
            <a:endParaRPr lang="en-SG" sz="1800" b="1" dirty="0"/>
          </a:p>
          <a:p>
            <a:r>
              <a:rPr lang="en-SG" sz="1800" dirty="0"/>
              <a:t>Save </a:t>
            </a:r>
            <a:r>
              <a:rPr lang="en-SG" sz="1800" b="1" dirty="0"/>
              <a:t>StudentController.js</a:t>
            </a:r>
          </a:p>
        </p:txBody>
      </p:sp>
      <p:sp>
        <p:nvSpPr>
          <p:cNvPr id="3" name="Title 2">
            <a:extLst>
              <a:ext uri="{FF2B5EF4-FFF2-40B4-BE49-F238E27FC236}">
                <a16:creationId xmlns:a16="http://schemas.microsoft.com/office/drawing/2014/main" id="{7711AEB7-32C8-8AAD-0D98-0CB827AC5FBE}"/>
              </a:ext>
            </a:extLst>
          </p:cNvPr>
          <p:cNvSpPr>
            <a:spLocks noGrp="1"/>
          </p:cNvSpPr>
          <p:nvPr>
            <p:ph type="title"/>
          </p:nvPr>
        </p:nvSpPr>
        <p:spPr/>
        <p:txBody>
          <a:bodyPr/>
          <a:lstStyle/>
          <a:p>
            <a:r>
              <a:rPr lang="en-SG" dirty="0"/>
              <a:t>Controller</a:t>
            </a:r>
          </a:p>
        </p:txBody>
      </p:sp>
      <p:pic>
        <p:nvPicPr>
          <p:cNvPr id="6" name="Picture 5">
            <a:extLst>
              <a:ext uri="{FF2B5EF4-FFF2-40B4-BE49-F238E27FC236}">
                <a16:creationId xmlns:a16="http://schemas.microsoft.com/office/drawing/2014/main" id="{BEA61956-15BC-AF36-57AD-7FA9BF62B5C8}"/>
              </a:ext>
            </a:extLst>
          </p:cNvPr>
          <p:cNvPicPr>
            <a:picLocks noChangeAspect="1"/>
          </p:cNvPicPr>
          <p:nvPr/>
        </p:nvPicPr>
        <p:blipFill>
          <a:blip r:embed="rId2"/>
          <a:srcRect l="16017"/>
          <a:stretch>
            <a:fillRect/>
          </a:stretch>
        </p:blipFill>
        <p:spPr>
          <a:xfrm>
            <a:off x="3708400" y="1316347"/>
            <a:ext cx="5285207" cy="4597636"/>
          </a:xfrm>
          <a:prstGeom prst="rect">
            <a:avLst/>
          </a:prstGeom>
        </p:spPr>
      </p:pic>
    </p:spTree>
    <p:extLst>
      <p:ext uri="{BB962C8B-B14F-4D97-AF65-F5344CB8AC3E}">
        <p14:creationId xmlns:p14="http://schemas.microsoft.com/office/powerpoint/2010/main" val="482527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6F4785-0B86-C81F-07D0-8F7CE3A1DED5}"/>
              </a:ext>
            </a:extLst>
          </p:cNvPr>
          <p:cNvSpPr>
            <a:spLocks noGrp="1"/>
          </p:cNvSpPr>
          <p:nvPr>
            <p:ph type="body" sz="quarter" idx="14"/>
          </p:nvPr>
        </p:nvSpPr>
        <p:spPr/>
        <p:txBody>
          <a:bodyPr/>
          <a:lstStyle/>
          <a:p>
            <a:r>
              <a:rPr lang="en-SG" dirty="0"/>
              <a:t>Enter the prompt below into the </a:t>
            </a:r>
            <a:r>
              <a:rPr lang="en-SG" dirty="0" err="1"/>
              <a:t>chatbox</a:t>
            </a:r>
            <a:r>
              <a:rPr lang="en-SG" dirty="0"/>
              <a:t> to refactor </a:t>
            </a:r>
            <a:r>
              <a:rPr lang="en-SG" b="1" dirty="0"/>
              <a:t>app.js</a:t>
            </a:r>
          </a:p>
        </p:txBody>
      </p:sp>
      <p:sp>
        <p:nvSpPr>
          <p:cNvPr id="3" name="Title 2">
            <a:extLst>
              <a:ext uri="{FF2B5EF4-FFF2-40B4-BE49-F238E27FC236}">
                <a16:creationId xmlns:a16="http://schemas.microsoft.com/office/drawing/2014/main" id="{EAFF1395-6ECA-A214-49EE-BF3F8B6EDBBD}"/>
              </a:ext>
            </a:extLst>
          </p:cNvPr>
          <p:cNvSpPr>
            <a:spLocks noGrp="1"/>
          </p:cNvSpPr>
          <p:nvPr>
            <p:ph type="title"/>
          </p:nvPr>
        </p:nvSpPr>
        <p:spPr/>
        <p:txBody>
          <a:bodyPr/>
          <a:lstStyle/>
          <a:p>
            <a:r>
              <a:rPr lang="en-SG" dirty="0"/>
              <a:t>app.js</a:t>
            </a:r>
          </a:p>
        </p:txBody>
      </p:sp>
      <p:sp>
        <p:nvSpPr>
          <p:cNvPr id="4" name="TextBox 3">
            <a:extLst>
              <a:ext uri="{FF2B5EF4-FFF2-40B4-BE49-F238E27FC236}">
                <a16:creationId xmlns:a16="http://schemas.microsoft.com/office/drawing/2014/main" id="{01F4FDAF-6FD7-B54A-56D3-ABC3C97443C7}"/>
              </a:ext>
            </a:extLst>
          </p:cNvPr>
          <p:cNvSpPr txBox="1"/>
          <p:nvPr/>
        </p:nvSpPr>
        <p:spPr>
          <a:xfrm>
            <a:off x="547524" y="2424223"/>
            <a:ext cx="8048951" cy="3077766"/>
          </a:xfrm>
          <a:prstGeom prst="rect">
            <a:avLst/>
          </a:prstGeom>
          <a:noFill/>
        </p:spPr>
        <p:txBody>
          <a:bodyPr wrap="square" rtlCol="0">
            <a:spAutoFit/>
          </a:bodyPr>
          <a:lstStyle/>
          <a:p>
            <a:r>
              <a:rPr lang="en-US" sz="1600" dirty="0">
                <a:solidFill>
                  <a:srgbClr val="0070C0"/>
                </a:solidFill>
              </a:rPr>
              <a:t>Update app.js to use the MVC pattern with the function-based student controller and model.</a:t>
            </a:r>
          </a:p>
          <a:p>
            <a:endParaRPr lang="en-US" sz="1600" dirty="0">
              <a:solidFill>
                <a:srgbClr val="0070C0"/>
              </a:solidFill>
            </a:endParaRPr>
          </a:p>
          <a:p>
            <a:r>
              <a:rPr lang="en-US" sz="1600" dirty="0">
                <a:solidFill>
                  <a:srgbClr val="0070C0"/>
                </a:solidFill>
              </a:rPr>
              <a:t>Import the student controller from ./controllers/</a:t>
            </a:r>
            <a:r>
              <a:rPr lang="en-US" sz="1600" dirty="0" err="1">
                <a:solidFill>
                  <a:srgbClr val="0070C0"/>
                </a:solidFill>
              </a:rPr>
              <a:t>studentControllers</a:t>
            </a:r>
            <a:r>
              <a:rPr lang="en-US" sz="1600" dirty="0">
                <a:solidFill>
                  <a:srgbClr val="0070C0"/>
                </a:solidFill>
              </a:rPr>
              <a:t>.</a:t>
            </a:r>
          </a:p>
          <a:p>
            <a:r>
              <a:rPr lang="en-US" sz="1600" dirty="0">
                <a:solidFill>
                  <a:srgbClr val="0070C0"/>
                </a:solidFill>
              </a:rPr>
              <a:t>Replace all direct SQL queries and database logic in the route handlers with calls to the corresponding controller methods.</a:t>
            </a:r>
          </a:p>
          <a:p>
            <a:r>
              <a:rPr lang="en-US" sz="1600" dirty="0">
                <a:solidFill>
                  <a:srgbClr val="0070C0"/>
                </a:solidFill>
              </a:rPr>
              <a:t>Use the controller methods for listing all students, getting a student by ID, adding, updating, and deleting students.</a:t>
            </a:r>
          </a:p>
          <a:p>
            <a:r>
              <a:rPr lang="en-US" sz="1600" dirty="0">
                <a:solidFill>
                  <a:srgbClr val="0070C0"/>
                </a:solidFill>
              </a:rPr>
              <a:t>Ensure the routes use the correct HTTP methods and paths, and that file uploads (with </a:t>
            </a:r>
            <a:r>
              <a:rPr lang="en-US" sz="1600" dirty="0" err="1">
                <a:solidFill>
                  <a:srgbClr val="0070C0"/>
                </a:solidFill>
              </a:rPr>
              <a:t>multer</a:t>
            </a:r>
            <a:r>
              <a:rPr lang="en-US" sz="1600" dirty="0">
                <a:solidFill>
                  <a:srgbClr val="0070C0"/>
                </a:solidFill>
              </a:rPr>
              <a:t>) are handled for add and update operations.</a:t>
            </a:r>
          </a:p>
          <a:p>
            <a:r>
              <a:rPr lang="en-US" sz="1600" dirty="0">
                <a:solidFill>
                  <a:srgbClr val="0070C0"/>
                </a:solidFill>
              </a:rPr>
              <a:t>The controller methods should handle rendering views or redirecting as appropriate.</a:t>
            </a:r>
          </a:p>
          <a:p>
            <a:r>
              <a:rPr lang="en-US" sz="1600" dirty="0">
                <a:solidFill>
                  <a:srgbClr val="0070C0"/>
                </a:solidFill>
              </a:rPr>
              <a:t>Remove any unused direct database connection code from app.js.</a:t>
            </a:r>
            <a:endParaRPr lang="en-SG" sz="1600" dirty="0">
              <a:solidFill>
                <a:srgbClr val="0070C0"/>
              </a:solidFill>
            </a:endParaRPr>
          </a:p>
        </p:txBody>
      </p:sp>
      <p:sp>
        <p:nvSpPr>
          <p:cNvPr id="5" name="TextBox 4">
            <a:extLst>
              <a:ext uri="{FF2B5EF4-FFF2-40B4-BE49-F238E27FC236}">
                <a16:creationId xmlns:a16="http://schemas.microsoft.com/office/drawing/2014/main" id="{FDC7A0E4-3C72-99A8-E504-1A01D7717C90}"/>
              </a:ext>
            </a:extLst>
          </p:cNvPr>
          <p:cNvSpPr txBox="1"/>
          <p:nvPr/>
        </p:nvSpPr>
        <p:spPr>
          <a:xfrm>
            <a:off x="561976" y="6134220"/>
            <a:ext cx="5253426" cy="307777"/>
          </a:xfrm>
          <a:prstGeom prst="rect">
            <a:avLst/>
          </a:prstGeom>
          <a:noFill/>
        </p:spPr>
        <p:txBody>
          <a:bodyPr wrap="none" rtlCol="0">
            <a:spAutoFit/>
          </a:bodyPr>
          <a:lstStyle/>
          <a:p>
            <a:r>
              <a:rPr lang="en-SG" sz="1400" dirty="0">
                <a:solidFill>
                  <a:srgbClr val="FF0000"/>
                </a:solidFill>
              </a:rPr>
              <a:t>Note: You may need to add </a:t>
            </a:r>
            <a:r>
              <a:rPr lang="en-SG" sz="1400" b="1" dirty="0" err="1">
                <a:solidFill>
                  <a:srgbClr val="FF0000"/>
                </a:solidFill>
              </a:rPr>
              <a:t>StudentAppMVC</a:t>
            </a:r>
            <a:r>
              <a:rPr lang="en-SG" sz="1400" dirty="0">
                <a:solidFill>
                  <a:srgbClr val="FF0000"/>
                </a:solidFill>
              </a:rPr>
              <a:t> to the context again.</a:t>
            </a:r>
          </a:p>
        </p:txBody>
      </p:sp>
    </p:spTree>
    <p:extLst>
      <p:ext uri="{BB962C8B-B14F-4D97-AF65-F5344CB8AC3E}">
        <p14:creationId xmlns:p14="http://schemas.microsoft.com/office/powerpoint/2010/main" val="3263330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727070-628E-3CC8-C46B-17A311457C4D}"/>
              </a:ext>
            </a:extLst>
          </p:cNvPr>
          <p:cNvSpPr>
            <a:spLocks noGrp="1"/>
          </p:cNvSpPr>
          <p:nvPr>
            <p:ph type="body" sz="quarter" idx="14"/>
          </p:nvPr>
        </p:nvSpPr>
        <p:spPr/>
        <p:txBody>
          <a:bodyPr/>
          <a:lstStyle/>
          <a:p>
            <a:r>
              <a:rPr lang="en-SG" dirty="0"/>
              <a:t>Review the code</a:t>
            </a:r>
          </a:p>
          <a:p>
            <a:r>
              <a:rPr lang="en-SG" dirty="0"/>
              <a:t>Click on </a:t>
            </a:r>
            <a:r>
              <a:rPr lang="en-SG" b="1" dirty="0"/>
              <a:t>Apply to </a:t>
            </a:r>
            <a:r>
              <a:rPr lang="en-SG" b="1" dirty="0" err="1"/>
              <a:t>StudentMVC</a:t>
            </a:r>
            <a:r>
              <a:rPr lang="en-SG" b="1" dirty="0"/>
              <a:t>/app.js</a:t>
            </a:r>
          </a:p>
        </p:txBody>
      </p:sp>
      <p:sp>
        <p:nvSpPr>
          <p:cNvPr id="3" name="Title 2">
            <a:extLst>
              <a:ext uri="{FF2B5EF4-FFF2-40B4-BE49-F238E27FC236}">
                <a16:creationId xmlns:a16="http://schemas.microsoft.com/office/drawing/2014/main" id="{D0BF642B-791D-3942-FDA2-14AF42B8BBDD}"/>
              </a:ext>
            </a:extLst>
          </p:cNvPr>
          <p:cNvSpPr>
            <a:spLocks noGrp="1"/>
          </p:cNvSpPr>
          <p:nvPr>
            <p:ph type="title"/>
          </p:nvPr>
        </p:nvSpPr>
        <p:spPr/>
        <p:txBody>
          <a:bodyPr/>
          <a:lstStyle/>
          <a:p>
            <a:r>
              <a:rPr lang="en-SG" dirty="0"/>
              <a:t>app.js</a:t>
            </a:r>
          </a:p>
        </p:txBody>
      </p:sp>
      <p:pic>
        <p:nvPicPr>
          <p:cNvPr id="5" name="Picture 4">
            <a:extLst>
              <a:ext uri="{FF2B5EF4-FFF2-40B4-BE49-F238E27FC236}">
                <a16:creationId xmlns:a16="http://schemas.microsoft.com/office/drawing/2014/main" id="{4D68C7FA-BA10-B326-E61D-32BEAF635591}"/>
              </a:ext>
            </a:extLst>
          </p:cNvPr>
          <p:cNvPicPr>
            <a:picLocks noChangeAspect="1"/>
          </p:cNvPicPr>
          <p:nvPr/>
        </p:nvPicPr>
        <p:blipFill>
          <a:blip r:embed="rId2"/>
          <a:stretch>
            <a:fillRect/>
          </a:stretch>
        </p:blipFill>
        <p:spPr>
          <a:xfrm>
            <a:off x="1031359" y="2442567"/>
            <a:ext cx="6992938" cy="4266577"/>
          </a:xfrm>
          <a:prstGeom prst="rect">
            <a:avLst/>
          </a:prstGeom>
        </p:spPr>
      </p:pic>
      <p:sp>
        <p:nvSpPr>
          <p:cNvPr id="4" name="TextBox 3">
            <a:extLst>
              <a:ext uri="{FF2B5EF4-FFF2-40B4-BE49-F238E27FC236}">
                <a16:creationId xmlns:a16="http://schemas.microsoft.com/office/drawing/2014/main" id="{A09EDF6F-3F8D-12D4-93A7-FDE1E6D96D30}"/>
              </a:ext>
            </a:extLst>
          </p:cNvPr>
          <p:cNvSpPr txBox="1"/>
          <p:nvPr/>
        </p:nvSpPr>
        <p:spPr>
          <a:xfrm>
            <a:off x="6700687" y="4765247"/>
            <a:ext cx="1440134" cy="338381"/>
          </a:xfrm>
          <a:prstGeom prst="rect">
            <a:avLst/>
          </a:prstGeom>
          <a:noFill/>
          <a:ln w="28575">
            <a:solidFill>
              <a:srgbClr val="FF0000"/>
            </a:solidFill>
          </a:ln>
        </p:spPr>
        <p:txBody>
          <a:bodyPr wrap="square" rtlCol="0">
            <a:spAutoFit/>
          </a:bodyPr>
          <a:lstStyle/>
          <a:p>
            <a:endParaRPr lang="en-SG" dirty="0"/>
          </a:p>
        </p:txBody>
      </p:sp>
    </p:spTree>
    <p:extLst>
      <p:ext uri="{BB962C8B-B14F-4D97-AF65-F5344CB8AC3E}">
        <p14:creationId xmlns:p14="http://schemas.microsoft.com/office/powerpoint/2010/main" val="2620707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94CEF9-BBB3-E468-8E25-806093871324}"/>
              </a:ext>
            </a:extLst>
          </p:cNvPr>
          <p:cNvSpPr>
            <a:spLocks noGrp="1"/>
          </p:cNvSpPr>
          <p:nvPr>
            <p:ph type="body" sz="quarter" idx="14"/>
          </p:nvPr>
        </p:nvSpPr>
        <p:spPr>
          <a:xfrm>
            <a:off x="547525" y="1593024"/>
            <a:ext cx="3706975" cy="4572296"/>
          </a:xfrm>
        </p:spPr>
        <p:txBody>
          <a:bodyPr/>
          <a:lstStyle/>
          <a:p>
            <a:r>
              <a:rPr lang="en-SG" sz="1800" dirty="0"/>
              <a:t>The lines marked in red will be removed</a:t>
            </a:r>
          </a:p>
          <a:p>
            <a:endParaRPr lang="en-SG" sz="1800" dirty="0"/>
          </a:p>
          <a:p>
            <a:r>
              <a:rPr lang="en-SG" sz="1800" dirty="0"/>
              <a:t>The lines marked in green will be added</a:t>
            </a:r>
          </a:p>
          <a:p>
            <a:endParaRPr lang="en-SG" sz="1800" dirty="0"/>
          </a:p>
          <a:p>
            <a:r>
              <a:rPr lang="en-SG" sz="1800" dirty="0"/>
              <a:t>You will be asked to Keep or Undo.</a:t>
            </a:r>
          </a:p>
          <a:p>
            <a:endParaRPr lang="en-SG" sz="1800" dirty="0"/>
          </a:p>
          <a:p>
            <a:r>
              <a:rPr lang="en-SG" sz="1800" dirty="0"/>
              <a:t>Click </a:t>
            </a:r>
            <a:r>
              <a:rPr lang="en-SG" sz="1800" b="1" dirty="0"/>
              <a:t>Keep</a:t>
            </a:r>
            <a:r>
              <a:rPr lang="en-SG" sz="1800" dirty="0"/>
              <a:t>.</a:t>
            </a:r>
          </a:p>
          <a:p>
            <a:endParaRPr lang="en-SG" sz="1800" dirty="0"/>
          </a:p>
          <a:p>
            <a:r>
              <a:rPr lang="en-SG" sz="1800" dirty="0"/>
              <a:t>Save </a:t>
            </a:r>
            <a:r>
              <a:rPr lang="en-SG" sz="1800" b="1" dirty="0"/>
              <a:t>app.js</a:t>
            </a:r>
          </a:p>
        </p:txBody>
      </p:sp>
      <p:sp>
        <p:nvSpPr>
          <p:cNvPr id="3" name="Title 2">
            <a:extLst>
              <a:ext uri="{FF2B5EF4-FFF2-40B4-BE49-F238E27FC236}">
                <a16:creationId xmlns:a16="http://schemas.microsoft.com/office/drawing/2014/main" id="{03BBBD4B-9AD6-33C3-E7F3-87DC4300A029}"/>
              </a:ext>
            </a:extLst>
          </p:cNvPr>
          <p:cNvSpPr>
            <a:spLocks noGrp="1"/>
          </p:cNvSpPr>
          <p:nvPr>
            <p:ph type="title"/>
          </p:nvPr>
        </p:nvSpPr>
        <p:spPr/>
        <p:txBody>
          <a:bodyPr/>
          <a:lstStyle/>
          <a:p>
            <a:r>
              <a:rPr lang="en-SG" dirty="0"/>
              <a:t>app.js</a:t>
            </a:r>
          </a:p>
        </p:txBody>
      </p:sp>
      <p:pic>
        <p:nvPicPr>
          <p:cNvPr id="5" name="Picture 4">
            <a:extLst>
              <a:ext uri="{FF2B5EF4-FFF2-40B4-BE49-F238E27FC236}">
                <a16:creationId xmlns:a16="http://schemas.microsoft.com/office/drawing/2014/main" id="{4CFC1407-5E93-09AE-6C1A-04FEA6A17F59}"/>
              </a:ext>
            </a:extLst>
          </p:cNvPr>
          <p:cNvPicPr>
            <a:picLocks noChangeAspect="1"/>
          </p:cNvPicPr>
          <p:nvPr/>
        </p:nvPicPr>
        <p:blipFill>
          <a:blip r:embed="rId2"/>
          <a:stretch>
            <a:fillRect/>
          </a:stretch>
        </p:blipFill>
        <p:spPr>
          <a:xfrm>
            <a:off x="4145544" y="1478748"/>
            <a:ext cx="4711942" cy="4800847"/>
          </a:xfrm>
          <a:prstGeom prst="rect">
            <a:avLst/>
          </a:prstGeom>
        </p:spPr>
      </p:pic>
    </p:spTree>
    <p:extLst>
      <p:ext uri="{BB962C8B-B14F-4D97-AF65-F5344CB8AC3E}">
        <p14:creationId xmlns:p14="http://schemas.microsoft.com/office/powerpoint/2010/main" val="4289595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60221F-5479-61F6-2C8C-B7CAB0A0CD2D}"/>
              </a:ext>
            </a:extLst>
          </p:cNvPr>
          <p:cNvSpPr>
            <a:spLocks noGrp="1"/>
          </p:cNvSpPr>
          <p:nvPr>
            <p:ph type="body" sz="quarter" idx="14"/>
          </p:nvPr>
        </p:nvSpPr>
        <p:spPr/>
        <p:txBody>
          <a:bodyPr/>
          <a:lstStyle/>
          <a:p>
            <a:r>
              <a:rPr lang="en-SG" dirty="0"/>
              <a:t>Paste the prompt you used to generate the code for:</a:t>
            </a:r>
          </a:p>
          <a:p>
            <a:pPr marL="800100" lvl="1" indent="-342900">
              <a:buFont typeface="+mj-lt"/>
              <a:buAutoNum type="alphaLcParenR"/>
            </a:pPr>
            <a:r>
              <a:rPr lang="en-SG" dirty="0"/>
              <a:t>Student.js</a:t>
            </a:r>
          </a:p>
          <a:p>
            <a:pPr marL="800100" lvl="1" indent="-342900">
              <a:buFont typeface="+mj-lt"/>
              <a:buAutoNum type="alphaLcParenR"/>
            </a:pPr>
            <a:r>
              <a:rPr lang="en-SG" dirty="0"/>
              <a:t>StudentController.js</a:t>
            </a:r>
          </a:p>
          <a:p>
            <a:pPr marL="800100" lvl="1" indent="-342900">
              <a:buFont typeface="+mj-lt"/>
              <a:buAutoNum type="alphaLcParenR"/>
            </a:pPr>
            <a:r>
              <a:rPr lang="en-SG" dirty="0"/>
              <a:t>app.js</a:t>
            </a:r>
          </a:p>
          <a:p>
            <a:pPr lvl="1"/>
            <a:endParaRPr lang="en-SG" dirty="0"/>
          </a:p>
          <a:p>
            <a:r>
              <a:rPr lang="en-SG" dirty="0"/>
              <a:t>For each prompt, summarise the response you </a:t>
            </a:r>
            <a:r>
              <a:rPr lang="en-SG" dirty="0" err="1"/>
              <a:t>recieved</a:t>
            </a:r>
            <a:r>
              <a:rPr lang="en-SG" dirty="0"/>
              <a:t>.</a:t>
            </a:r>
          </a:p>
          <a:p>
            <a:endParaRPr lang="en-SG" dirty="0"/>
          </a:p>
          <a:p>
            <a:r>
              <a:rPr lang="en-US" dirty="0"/>
              <a:t>Was the response correct and aligned with your expectations?</a:t>
            </a:r>
            <a:endParaRPr lang="en-SG" dirty="0"/>
          </a:p>
        </p:txBody>
      </p:sp>
      <p:sp>
        <p:nvSpPr>
          <p:cNvPr id="3" name="Title 2">
            <a:extLst>
              <a:ext uri="{FF2B5EF4-FFF2-40B4-BE49-F238E27FC236}">
                <a16:creationId xmlns:a16="http://schemas.microsoft.com/office/drawing/2014/main" id="{B21DE61D-9B3C-FDBE-E4D2-1EF4F19E125F}"/>
              </a:ext>
            </a:extLst>
          </p:cNvPr>
          <p:cNvSpPr>
            <a:spLocks noGrp="1"/>
          </p:cNvSpPr>
          <p:nvPr>
            <p:ph type="title"/>
          </p:nvPr>
        </p:nvSpPr>
        <p:spPr/>
        <p:txBody>
          <a:bodyPr/>
          <a:lstStyle/>
          <a:p>
            <a:r>
              <a:rPr lang="en-SG" dirty="0"/>
              <a:t>Exercise 4</a:t>
            </a:r>
          </a:p>
        </p:txBody>
      </p:sp>
    </p:spTree>
    <p:extLst>
      <p:ext uri="{BB962C8B-B14F-4D97-AF65-F5344CB8AC3E}">
        <p14:creationId xmlns:p14="http://schemas.microsoft.com/office/powerpoint/2010/main" val="589214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C9D9FE-C117-03D8-C011-83F615AA7F09}"/>
              </a:ext>
            </a:extLst>
          </p:cNvPr>
          <p:cNvSpPr>
            <a:spLocks noGrp="1"/>
          </p:cNvSpPr>
          <p:nvPr>
            <p:ph type="body" sz="quarter" idx="14"/>
          </p:nvPr>
        </p:nvSpPr>
        <p:spPr/>
        <p:txBody>
          <a:bodyPr/>
          <a:lstStyle/>
          <a:p>
            <a:r>
              <a:rPr lang="en-SG" sz="1800" dirty="0"/>
              <a:t>In </a:t>
            </a:r>
            <a:r>
              <a:rPr lang="en-SG" sz="1800" b="1" dirty="0" err="1"/>
              <a:t>StudentAppMVC</a:t>
            </a:r>
            <a:r>
              <a:rPr lang="en-SG" sz="1800" dirty="0"/>
              <a:t>, right-click on </a:t>
            </a:r>
            <a:r>
              <a:rPr lang="en-SG" sz="1800" b="1" dirty="0"/>
              <a:t>app.js </a:t>
            </a:r>
          </a:p>
          <a:p>
            <a:endParaRPr lang="en-SG" sz="1800" dirty="0"/>
          </a:p>
          <a:p>
            <a:r>
              <a:rPr lang="en-SG" sz="1800" dirty="0"/>
              <a:t>Select </a:t>
            </a:r>
            <a:r>
              <a:rPr lang="en-SG" sz="1800" b="1" dirty="0"/>
              <a:t>Open in Integrated Terminal</a:t>
            </a:r>
          </a:p>
          <a:p>
            <a:endParaRPr lang="en-SG" sz="1800" dirty="0"/>
          </a:p>
          <a:p>
            <a:r>
              <a:rPr lang="en-SG" sz="1800" dirty="0"/>
              <a:t>Since we are using the </a:t>
            </a:r>
            <a:r>
              <a:rPr lang="en-SG" sz="1800" b="1" dirty="0"/>
              <a:t>.env</a:t>
            </a:r>
            <a:r>
              <a:rPr lang="en-SG" sz="1800" dirty="0"/>
              <a:t> file, we need to install the </a:t>
            </a:r>
            <a:r>
              <a:rPr lang="en-SG" sz="1800" dirty="0" err="1"/>
              <a:t>dotenv</a:t>
            </a:r>
            <a:r>
              <a:rPr lang="en-SG" sz="1800" dirty="0"/>
              <a:t> library</a:t>
            </a:r>
          </a:p>
          <a:p>
            <a:pPr lvl="1"/>
            <a:r>
              <a:rPr lang="en-SG" sz="1600" dirty="0" err="1">
                <a:solidFill>
                  <a:srgbClr val="0070C0"/>
                </a:solidFill>
                <a:latin typeface="Consolas" panose="020B0609020204030204" pitchFamily="49" charset="0"/>
              </a:rPr>
              <a:t>npm</a:t>
            </a:r>
            <a:r>
              <a:rPr lang="en-SG" sz="1600" dirty="0">
                <a:solidFill>
                  <a:srgbClr val="0070C0"/>
                </a:solidFill>
                <a:latin typeface="Consolas" panose="020B0609020204030204" pitchFamily="49" charset="0"/>
              </a:rPr>
              <a:t> install </a:t>
            </a:r>
            <a:r>
              <a:rPr lang="en-SG" sz="1600" dirty="0" err="1">
                <a:solidFill>
                  <a:srgbClr val="0070C0"/>
                </a:solidFill>
                <a:latin typeface="Consolas" panose="020B0609020204030204" pitchFamily="49" charset="0"/>
              </a:rPr>
              <a:t>dotenv</a:t>
            </a:r>
            <a:endParaRPr lang="en-SG" sz="1600" dirty="0">
              <a:solidFill>
                <a:srgbClr val="0070C0"/>
              </a:solidFill>
              <a:latin typeface="Consolas" panose="020B0609020204030204" pitchFamily="49" charset="0"/>
            </a:endParaRPr>
          </a:p>
          <a:p>
            <a:endParaRPr lang="en-SG" sz="1800" dirty="0"/>
          </a:p>
          <a:p>
            <a:r>
              <a:rPr lang="en-SG" sz="1800" dirty="0"/>
              <a:t>Run </a:t>
            </a:r>
            <a:r>
              <a:rPr lang="en-SG" sz="1800" b="1" dirty="0" err="1"/>
              <a:t>StudentAppMVC</a:t>
            </a:r>
            <a:endParaRPr lang="en-SG" sz="1800" b="1" dirty="0"/>
          </a:p>
          <a:p>
            <a:pPr lvl="1"/>
            <a:r>
              <a:rPr lang="en-SG" sz="1600" dirty="0">
                <a:solidFill>
                  <a:srgbClr val="0070C0"/>
                </a:solidFill>
                <a:latin typeface="Consolas" panose="020B0609020204030204" pitchFamily="49" charset="0"/>
              </a:rPr>
              <a:t>node app.js</a:t>
            </a:r>
          </a:p>
          <a:p>
            <a:pPr lvl="1"/>
            <a:r>
              <a:rPr lang="en-SG" sz="1600" dirty="0" err="1">
                <a:solidFill>
                  <a:srgbClr val="0070C0"/>
                </a:solidFill>
                <a:latin typeface="Consolas" panose="020B0609020204030204" pitchFamily="49" charset="0"/>
              </a:rPr>
              <a:t>npx</a:t>
            </a:r>
            <a:r>
              <a:rPr lang="en-SG" sz="1600" dirty="0">
                <a:solidFill>
                  <a:srgbClr val="0070C0"/>
                </a:solidFill>
                <a:latin typeface="Consolas" panose="020B0609020204030204" pitchFamily="49" charset="0"/>
              </a:rPr>
              <a:t> </a:t>
            </a:r>
            <a:r>
              <a:rPr lang="en-SG" sz="1600" dirty="0" err="1">
                <a:solidFill>
                  <a:srgbClr val="0070C0"/>
                </a:solidFill>
                <a:latin typeface="Consolas" panose="020B0609020204030204" pitchFamily="49" charset="0"/>
              </a:rPr>
              <a:t>nodemon</a:t>
            </a:r>
            <a:r>
              <a:rPr lang="en-SG" sz="1600" dirty="0">
                <a:solidFill>
                  <a:srgbClr val="0070C0"/>
                </a:solidFill>
                <a:latin typeface="Consolas" panose="020B0609020204030204" pitchFamily="49" charset="0"/>
              </a:rPr>
              <a:t> app.js</a:t>
            </a:r>
          </a:p>
          <a:p>
            <a:endParaRPr lang="en-SG" sz="1800" dirty="0"/>
          </a:p>
          <a:p>
            <a:r>
              <a:rPr lang="en-SG" sz="1800" dirty="0"/>
              <a:t>Go to your browser: </a:t>
            </a:r>
            <a:r>
              <a:rPr lang="en-SG" sz="1800" dirty="0">
                <a:hlinkClick r:id="rId2"/>
              </a:rPr>
              <a:t>http://localhost:3000/</a:t>
            </a:r>
            <a:r>
              <a:rPr lang="en-SG" sz="1800" dirty="0"/>
              <a:t> </a:t>
            </a:r>
          </a:p>
        </p:txBody>
      </p:sp>
      <p:sp>
        <p:nvSpPr>
          <p:cNvPr id="3" name="Title 2">
            <a:extLst>
              <a:ext uri="{FF2B5EF4-FFF2-40B4-BE49-F238E27FC236}">
                <a16:creationId xmlns:a16="http://schemas.microsoft.com/office/drawing/2014/main" id="{7D6042EB-4B37-4D54-D8C9-072C30B91F46}"/>
              </a:ext>
            </a:extLst>
          </p:cNvPr>
          <p:cNvSpPr>
            <a:spLocks noGrp="1"/>
          </p:cNvSpPr>
          <p:nvPr>
            <p:ph type="title"/>
          </p:nvPr>
        </p:nvSpPr>
        <p:spPr/>
        <p:txBody>
          <a:bodyPr/>
          <a:lstStyle/>
          <a:p>
            <a:r>
              <a:rPr lang="en-SG" dirty="0"/>
              <a:t>Test </a:t>
            </a:r>
            <a:r>
              <a:rPr lang="en-SG" dirty="0" err="1"/>
              <a:t>StudentAppMVC</a:t>
            </a:r>
            <a:endParaRPr lang="en-SG" dirty="0"/>
          </a:p>
        </p:txBody>
      </p:sp>
    </p:spTree>
    <p:extLst>
      <p:ext uri="{BB962C8B-B14F-4D97-AF65-F5344CB8AC3E}">
        <p14:creationId xmlns:p14="http://schemas.microsoft.com/office/powerpoint/2010/main" val="4132656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918FC8-B022-A616-FADC-F2DF39B6739E}"/>
              </a:ext>
            </a:extLst>
          </p:cNvPr>
          <p:cNvSpPr>
            <a:spLocks noGrp="1"/>
          </p:cNvSpPr>
          <p:nvPr>
            <p:ph type="body" sz="quarter" idx="14"/>
          </p:nvPr>
        </p:nvSpPr>
        <p:spPr/>
        <p:txBody>
          <a:bodyPr/>
          <a:lstStyle/>
          <a:p>
            <a:r>
              <a:rPr lang="en-SG" dirty="0"/>
              <a:t>Test that you are able to run </a:t>
            </a:r>
            <a:r>
              <a:rPr lang="en-SG" dirty="0" err="1"/>
              <a:t>StudentAppMVC</a:t>
            </a:r>
            <a:r>
              <a:rPr lang="en-SG" dirty="0"/>
              <a:t> and perform the functions*</a:t>
            </a:r>
          </a:p>
        </p:txBody>
      </p:sp>
      <p:sp>
        <p:nvSpPr>
          <p:cNvPr id="3" name="Title 2">
            <a:extLst>
              <a:ext uri="{FF2B5EF4-FFF2-40B4-BE49-F238E27FC236}">
                <a16:creationId xmlns:a16="http://schemas.microsoft.com/office/drawing/2014/main" id="{590FBE79-D7EC-4226-14B9-E237F781441F}"/>
              </a:ext>
            </a:extLst>
          </p:cNvPr>
          <p:cNvSpPr>
            <a:spLocks noGrp="1"/>
          </p:cNvSpPr>
          <p:nvPr>
            <p:ph type="title"/>
          </p:nvPr>
        </p:nvSpPr>
        <p:spPr/>
        <p:txBody>
          <a:bodyPr>
            <a:normAutofit fontScale="90000"/>
          </a:bodyPr>
          <a:lstStyle/>
          <a:p>
            <a:r>
              <a:rPr lang="en-SG" dirty="0"/>
              <a:t>Exercise 5 - Test </a:t>
            </a:r>
            <a:r>
              <a:rPr lang="en-SG" dirty="0" err="1"/>
              <a:t>StudentAppMVC</a:t>
            </a:r>
            <a:endParaRPr lang="en-SG" dirty="0"/>
          </a:p>
        </p:txBody>
      </p:sp>
      <p:graphicFrame>
        <p:nvGraphicFramePr>
          <p:cNvPr id="4" name="Table 3">
            <a:extLst>
              <a:ext uri="{FF2B5EF4-FFF2-40B4-BE49-F238E27FC236}">
                <a16:creationId xmlns:a16="http://schemas.microsoft.com/office/drawing/2014/main" id="{E4AB0D2B-F741-47E3-BE50-02E5B93B8447}"/>
              </a:ext>
            </a:extLst>
          </p:cNvPr>
          <p:cNvGraphicFramePr>
            <a:graphicFrameLocks noGrp="1"/>
          </p:cNvGraphicFramePr>
          <p:nvPr>
            <p:extLst>
              <p:ext uri="{D42A27DB-BD31-4B8C-83A1-F6EECF244321}">
                <p14:modId xmlns:p14="http://schemas.microsoft.com/office/powerpoint/2010/main" val="445419792"/>
              </p:ext>
            </p:extLst>
          </p:nvPr>
        </p:nvGraphicFramePr>
        <p:xfrm>
          <a:off x="425302" y="2630377"/>
          <a:ext cx="7538484" cy="2494280"/>
        </p:xfrm>
        <a:graphic>
          <a:graphicData uri="http://schemas.openxmlformats.org/drawingml/2006/table">
            <a:tbl>
              <a:tblPr firstRow="1" bandRow="1">
                <a:tableStyleId>{5940675A-B579-460E-94D1-54222C63F5DA}</a:tableStyleId>
              </a:tblPr>
              <a:tblGrid>
                <a:gridCol w="3769242">
                  <a:extLst>
                    <a:ext uri="{9D8B030D-6E8A-4147-A177-3AD203B41FA5}">
                      <a16:colId xmlns:a16="http://schemas.microsoft.com/office/drawing/2014/main" val="2686338132"/>
                    </a:ext>
                  </a:extLst>
                </a:gridCol>
                <a:gridCol w="3769242">
                  <a:extLst>
                    <a:ext uri="{9D8B030D-6E8A-4147-A177-3AD203B41FA5}">
                      <a16:colId xmlns:a16="http://schemas.microsoft.com/office/drawing/2014/main" val="2259401793"/>
                    </a:ext>
                  </a:extLst>
                </a:gridCol>
              </a:tblGrid>
              <a:tr h="370840">
                <a:tc>
                  <a:txBody>
                    <a:bodyPr/>
                    <a:lstStyle/>
                    <a:p>
                      <a:pPr algn="ctr"/>
                      <a:r>
                        <a:rPr lang="en-SG" b="1" dirty="0"/>
                        <a:t>Functions</a:t>
                      </a:r>
                    </a:p>
                  </a:txBody>
                  <a:tcPr/>
                </a:tc>
                <a:tc>
                  <a:txBody>
                    <a:bodyPr/>
                    <a:lstStyle/>
                    <a:p>
                      <a:pPr algn="ctr"/>
                      <a:r>
                        <a:rPr lang="en-SG" b="1" dirty="0"/>
                        <a:t>Working (Yes/No – If no, describe the issue)</a:t>
                      </a:r>
                    </a:p>
                  </a:txBody>
                  <a:tcPr/>
                </a:tc>
                <a:extLst>
                  <a:ext uri="{0D108BD9-81ED-4DB2-BD59-A6C34878D82A}">
                    <a16:rowId xmlns:a16="http://schemas.microsoft.com/office/drawing/2014/main" val="2395945819"/>
                  </a:ext>
                </a:extLst>
              </a:tr>
              <a:tr h="370840">
                <a:tc>
                  <a:txBody>
                    <a:bodyPr/>
                    <a:lstStyle/>
                    <a:p>
                      <a:pPr algn="ctr"/>
                      <a:r>
                        <a:rPr lang="en-SG" dirty="0"/>
                        <a:t>View all students</a:t>
                      </a:r>
                    </a:p>
                  </a:txBody>
                  <a:tcPr/>
                </a:tc>
                <a:tc>
                  <a:txBody>
                    <a:bodyPr/>
                    <a:lstStyle/>
                    <a:p>
                      <a:r>
                        <a:rPr lang="en-SG" dirty="0"/>
                        <a:t>yes</a:t>
                      </a:r>
                    </a:p>
                  </a:txBody>
                  <a:tcPr/>
                </a:tc>
                <a:extLst>
                  <a:ext uri="{0D108BD9-81ED-4DB2-BD59-A6C34878D82A}">
                    <a16:rowId xmlns:a16="http://schemas.microsoft.com/office/drawing/2014/main" val="2737703527"/>
                  </a:ext>
                </a:extLst>
              </a:tr>
              <a:tr h="370840">
                <a:tc>
                  <a:txBody>
                    <a:bodyPr/>
                    <a:lstStyle/>
                    <a:p>
                      <a:pPr algn="ctr"/>
                      <a:r>
                        <a:rPr lang="en-SG" dirty="0"/>
                        <a:t>View student by ID</a:t>
                      </a:r>
                    </a:p>
                  </a:txBody>
                  <a:tcPr/>
                </a:tc>
                <a:tc>
                  <a:txBody>
                    <a:bodyPr/>
                    <a:lstStyle/>
                    <a:p>
                      <a:r>
                        <a:rPr lang="en-SG" dirty="0"/>
                        <a:t>yes</a:t>
                      </a:r>
                    </a:p>
                  </a:txBody>
                  <a:tcPr/>
                </a:tc>
                <a:extLst>
                  <a:ext uri="{0D108BD9-81ED-4DB2-BD59-A6C34878D82A}">
                    <a16:rowId xmlns:a16="http://schemas.microsoft.com/office/drawing/2014/main" val="3592042715"/>
                  </a:ext>
                </a:extLst>
              </a:tr>
              <a:tr h="370840">
                <a:tc>
                  <a:txBody>
                    <a:bodyPr/>
                    <a:lstStyle/>
                    <a:p>
                      <a:pPr algn="ctr"/>
                      <a:r>
                        <a:rPr lang="en-SG" dirty="0"/>
                        <a:t>Add new student</a:t>
                      </a:r>
                    </a:p>
                  </a:txBody>
                  <a:tcPr/>
                </a:tc>
                <a:tc>
                  <a:txBody>
                    <a:bodyPr/>
                    <a:lstStyle/>
                    <a:p>
                      <a:r>
                        <a:rPr lang="en-SG" dirty="0"/>
                        <a:t>yes</a:t>
                      </a:r>
                    </a:p>
                  </a:txBody>
                  <a:tcPr/>
                </a:tc>
                <a:extLst>
                  <a:ext uri="{0D108BD9-81ED-4DB2-BD59-A6C34878D82A}">
                    <a16:rowId xmlns:a16="http://schemas.microsoft.com/office/drawing/2014/main" val="508726882"/>
                  </a:ext>
                </a:extLst>
              </a:tr>
              <a:tr h="370840">
                <a:tc>
                  <a:txBody>
                    <a:bodyPr/>
                    <a:lstStyle/>
                    <a:p>
                      <a:pPr algn="ctr"/>
                      <a:r>
                        <a:rPr lang="en-SG" dirty="0"/>
                        <a:t>Update student details</a:t>
                      </a:r>
                    </a:p>
                  </a:txBody>
                  <a:tcPr/>
                </a:tc>
                <a:tc>
                  <a:txBody>
                    <a:bodyPr/>
                    <a:lstStyle/>
                    <a:p>
                      <a:r>
                        <a:rPr lang="en-SG" dirty="0"/>
                        <a:t>yes</a:t>
                      </a:r>
                    </a:p>
                  </a:txBody>
                  <a:tcPr/>
                </a:tc>
                <a:extLst>
                  <a:ext uri="{0D108BD9-81ED-4DB2-BD59-A6C34878D82A}">
                    <a16:rowId xmlns:a16="http://schemas.microsoft.com/office/drawing/2014/main" val="115002123"/>
                  </a:ext>
                </a:extLst>
              </a:tr>
              <a:tr h="370840">
                <a:tc>
                  <a:txBody>
                    <a:bodyPr/>
                    <a:lstStyle/>
                    <a:p>
                      <a:pPr algn="ctr"/>
                      <a:r>
                        <a:rPr lang="en-SG" dirty="0"/>
                        <a:t>Delete student</a:t>
                      </a:r>
                    </a:p>
                  </a:txBody>
                  <a:tcPr/>
                </a:tc>
                <a:tc>
                  <a:txBody>
                    <a:bodyPr/>
                    <a:lstStyle/>
                    <a:p>
                      <a:r>
                        <a:rPr lang="en-SG"/>
                        <a:t>yes</a:t>
                      </a:r>
                      <a:endParaRPr lang="en-SG" dirty="0"/>
                    </a:p>
                  </a:txBody>
                  <a:tcPr/>
                </a:tc>
                <a:extLst>
                  <a:ext uri="{0D108BD9-81ED-4DB2-BD59-A6C34878D82A}">
                    <a16:rowId xmlns:a16="http://schemas.microsoft.com/office/drawing/2014/main" val="2663607042"/>
                  </a:ext>
                </a:extLst>
              </a:tr>
            </a:tbl>
          </a:graphicData>
        </a:graphic>
      </p:graphicFrame>
      <p:sp>
        <p:nvSpPr>
          <p:cNvPr id="5" name="TextBox 4">
            <a:extLst>
              <a:ext uri="{FF2B5EF4-FFF2-40B4-BE49-F238E27FC236}">
                <a16:creationId xmlns:a16="http://schemas.microsoft.com/office/drawing/2014/main" id="{F3FB1327-BE06-8D0C-FE03-EABBC14C3865}"/>
              </a:ext>
            </a:extLst>
          </p:cNvPr>
          <p:cNvSpPr txBox="1"/>
          <p:nvPr/>
        </p:nvSpPr>
        <p:spPr>
          <a:xfrm>
            <a:off x="285751" y="5854233"/>
            <a:ext cx="8034498" cy="307777"/>
          </a:xfrm>
          <a:prstGeom prst="rect">
            <a:avLst/>
          </a:prstGeom>
          <a:noFill/>
        </p:spPr>
        <p:txBody>
          <a:bodyPr wrap="square" rtlCol="0">
            <a:spAutoFit/>
          </a:bodyPr>
          <a:lstStyle/>
          <a:p>
            <a:r>
              <a:rPr lang="en-SG" sz="1400" dirty="0">
                <a:solidFill>
                  <a:srgbClr val="FF0000"/>
                </a:solidFill>
              </a:rPr>
              <a:t>*You may get different results depending on what was generated for you using </a:t>
            </a:r>
            <a:r>
              <a:rPr lang="en-SG" sz="1400" dirty="0" err="1">
                <a:solidFill>
                  <a:srgbClr val="FF0000"/>
                </a:solidFill>
              </a:rPr>
              <a:t>genAi</a:t>
            </a:r>
            <a:r>
              <a:rPr lang="en-SG" sz="1400" dirty="0">
                <a:solidFill>
                  <a:srgbClr val="FF0000"/>
                </a:solidFill>
              </a:rPr>
              <a:t> assistance earlier.</a:t>
            </a:r>
          </a:p>
        </p:txBody>
      </p:sp>
    </p:spTree>
    <p:extLst>
      <p:ext uri="{BB962C8B-B14F-4D97-AF65-F5344CB8AC3E}">
        <p14:creationId xmlns:p14="http://schemas.microsoft.com/office/powerpoint/2010/main" val="1151011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D1A57F-3123-BA59-81D6-3B4CE5CD2AD9}"/>
              </a:ext>
            </a:extLst>
          </p:cNvPr>
          <p:cNvSpPr>
            <a:spLocks noGrp="1"/>
          </p:cNvSpPr>
          <p:nvPr>
            <p:ph type="body" sz="quarter" idx="14"/>
          </p:nvPr>
        </p:nvSpPr>
        <p:spPr/>
        <p:txBody>
          <a:bodyPr/>
          <a:lstStyle/>
          <a:p>
            <a:r>
              <a:rPr lang="en-SG" dirty="0"/>
              <a:t>When updating a student, the page brings us to the display of the student information rather than the form to make updates.*</a:t>
            </a:r>
          </a:p>
          <a:p>
            <a:endParaRPr lang="en-SG" dirty="0"/>
          </a:p>
          <a:p>
            <a:r>
              <a:rPr lang="en-SG" dirty="0"/>
              <a:t>What might be causing this issue?</a:t>
            </a:r>
          </a:p>
          <a:p>
            <a:endParaRPr lang="en-SG" dirty="0"/>
          </a:p>
        </p:txBody>
      </p:sp>
      <p:sp>
        <p:nvSpPr>
          <p:cNvPr id="3" name="Title 2">
            <a:extLst>
              <a:ext uri="{FF2B5EF4-FFF2-40B4-BE49-F238E27FC236}">
                <a16:creationId xmlns:a16="http://schemas.microsoft.com/office/drawing/2014/main" id="{07AE80BB-6672-48BB-F422-134D65487D77}"/>
              </a:ext>
            </a:extLst>
          </p:cNvPr>
          <p:cNvSpPr>
            <a:spLocks noGrp="1"/>
          </p:cNvSpPr>
          <p:nvPr>
            <p:ph type="title"/>
          </p:nvPr>
        </p:nvSpPr>
        <p:spPr/>
        <p:txBody>
          <a:bodyPr/>
          <a:lstStyle/>
          <a:p>
            <a:r>
              <a:rPr lang="en-SG" dirty="0"/>
              <a:t>Test </a:t>
            </a:r>
            <a:r>
              <a:rPr lang="en-SG" dirty="0" err="1"/>
              <a:t>StudentAppMVC</a:t>
            </a:r>
            <a:endParaRPr lang="en-SG" dirty="0"/>
          </a:p>
        </p:txBody>
      </p:sp>
      <p:sp>
        <p:nvSpPr>
          <p:cNvPr id="4" name="TextBox 3">
            <a:extLst>
              <a:ext uri="{FF2B5EF4-FFF2-40B4-BE49-F238E27FC236}">
                <a16:creationId xmlns:a16="http://schemas.microsoft.com/office/drawing/2014/main" id="{61561D37-BC37-1821-69D4-697356EDE7BC}"/>
              </a:ext>
            </a:extLst>
          </p:cNvPr>
          <p:cNvSpPr txBox="1"/>
          <p:nvPr/>
        </p:nvSpPr>
        <p:spPr>
          <a:xfrm>
            <a:off x="285751" y="5854233"/>
            <a:ext cx="8034498" cy="307777"/>
          </a:xfrm>
          <a:prstGeom prst="rect">
            <a:avLst/>
          </a:prstGeom>
          <a:noFill/>
        </p:spPr>
        <p:txBody>
          <a:bodyPr wrap="square" rtlCol="0">
            <a:spAutoFit/>
          </a:bodyPr>
          <a:lstStyle/>
          <a:p>
            <a:r>
              <a:rPr lang="en-SG" sz="1400" dirty="0">
                <a:solidFill>
                  <a:srgbClr val="FF0000"/>
                </a:solidFill>
              </a:rPr>
              <a:t>*At the point of crafting, this is the issue the code generated had.</a:t>
            </a:r>
          </a:p>
        </p:txBody>
      </p:sp>
      <p:pic>
        <p:nvPicPr>
          <p:cNvPr id="1026" name="Picture 2" descr="a white cat with a loading bar on its head is looking at the camera .">
            <a:extLst>
              <a:ext uri="{FF2B5EF4-FFF2-40B4-BE49-F238E27FC236}">
                <a16:creationId xmlns:a16="http://schemas.microsoft.com/office/drawing/2014/main" id="{6E045B56-C848-9E59-33A9-6A5972A20B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5969" y="2840042"/>
            <a:ext cx="2854280" cy="2737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9372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52A4B9-D01B-C870-9ADC-B2B723F675DC}"/>
              </a:ext>
            </a:extLst>
          </p:cNvPr>
          <p:cNvSpPr>
            <a:spLocks noGrp="1"/>
          </p:cNvSpPr>
          <p:nvPr>
            <p:ph type="body" sz="quarter" idx="14"/>
          </p:nvPr>
        </p:nvSpPr>
        <p:spPr/>
        <p:txBody>
          <a:bodyPr/>
          <a:lstStyle/>
          <a:p>
            <a:r>
              <a:rPr lang="en-SG" dirty="0"/>
              <a:t>In app.js, you will see the following code highlighted below with a comment added earlier when we generated this code.</a:t>
            </a:r>
          </a:p>
          <a:p>
            <a:endParaRPr lang="en-SG" dirty="0"/>
          </a:p>
          <a:p>
            <a:endParaRPr lang="en-SG" dirty="0"/>
          </a:p>
          <a:p>
            <a:endParaRPr lang="en-SG" dirty="0"/>
          </a:p>
          <a:p>
            <a:endParaRPr lang="en-SG" dirty="0"/>
          </a:p>
          <a:p>
            <a:endParaRPr lang="en-SG" dirty="0"/>
          </a:p>
          <a:p>
            <a:endParaRPr lang="en-SG" dirty="0"/>
          </a:p>
        </p:txBody>
      </p:sp>
      <p:sp>
        <p:nvSpPr>
          <p:cNvPr id="3" name="Title 2">
            <a:extLst>
              <a:ext uri="{FF2B5EF4-FFF2-40B4-BE49-F238E27FC236}">
                <a16:creationId xmlns:a16="http://schemas.microsoft.com/office/drawing/2014/main" id="{ACCF3B7B-835E-D243-56C9-DAE2BA0C8328}"/>
              </a:ext>
            </a:extLst>
          </p:cNvPr>
          <p:cNvSpPr>
            <a:spLocks noGrp="1"/>
          </p:cNvSpPr>
          <p:nvPr>
            <p:ph type="title"/>
          </p:nvPr>
        </p:nvSpPr>
        <p:spPr/>
        <p:txBody>
          <a:bodyPr/>
          <a:lstStyle/>
          <a:p>
            <a:r>
              <a:rPr lang="en-SG" dirty="0"/>
              <a:t>Test </a:t>
            </a:r>
            <a:r>
              <a:rPr lang="en-SG" dirty="0" err="1"/>
              <a:t>StudentAppMVC</a:t>
            </a:r>
            <a:endParaRPr lang="en-SG" dirty="0"/>
          </a:p>
        </p:txBody>
      </p:sp>
      <p:pic>
        <p:nvPicPr>
          <p:cNvPr id="5" name="Picture 4">
            <a:extLst>
              <a:ext uri="{FF2B5EF4-FFF2-40B4-BE49-F238E27FC236}">
                <a16:creationId xmlns:a16="http://schemas.microsoft.com/office/drawing/2014/main" id="{1FF16E68-4063-2A78-A4FB-6845065F62AE}"/>
              </a:ext>
            </a:extLst>
          </p:cNvPr>
          <p:cNvPicPr>
            <a:picLocks noChangeAspect="1"/>
          </p:cNvPicPr>
          <p:nvPr/>
        </p:nvPicPr>
        <p:blipFill>
          <a:blip r:embed="rId3"/>
          <a:stretch>
            <a:fillRect/>
          </a:stretch>
        </p:blipFill>
        <p:spPr>
          <a:xfrm>
            <a:off x="344558" y="2673812"/>
            <a:ext cx="7783539" cy="1730762"/>
          </a:xfrm>
          <a:prstGeom prst="rect">
            <a:avLst/>
          </a:prstGeom>
        </p:spPr>
      </p:pic>
      <p:sp>
        <p:nvSpPr>
          <p:cNvPr id="6" name="Rectangle 5">
            <a:extLst>
              <a:ext uri="{FF2B5EF4-FFF2-40B4-BE49-F238E27FC236}">
                <a16:creationId xmlns:a16="http://schemas.microsoft.com/office/drawing/2014/main" id="{D1FE8F5D-DB07-6D60-2659-2D50469FA7CE}"/>
              </a:ext>
            </a:extLst>
          </p:cNvPr>
          <p:cNvSpPr/>
          <p:nvPr/>
        </p:nvSpPr>
        <p:spPr>
          <a:xfrm>
            <a:off x="399245" y="3657600"/>
            <a:ext cx="7598535" cy="2060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A1142B73-C1F2-85DD-2AC8-55A5FB01A455}"/>
              </a:ext>
            </a:extLst>
          </p:cNvPr>
          <p:cNvPicPr>
            <a:picLocks noChangeAspect="1"/>
          </p:cNvPicPr>
          <p:nvPr/>
        </p:nvPicPr>
        <p:blipFill>
          <a:blip r:embed="rId4"/>
          <a:stretch>
            <a:fillRect/>
          </a:stretch>
        </p:blipFill>
        <p:spPr>
          <a:xfrm>
            <a:off x="344558" y="4786464"/>
            <a:ext cx="3473629" cy="1644735"/>
          </a:xfrm>
          <a:prstGeom prst="rect">
            <a:avLst/>
          </a:prstGeom>
        </p:spPr>
      </p:pic>
      <p:sp>
        <p:nvSpPr>
          <p:cNvPr id="9" name="Rectangle 8">
            <a:extLst>
              <a:ext uri="{FF2B5EF4-FFF2-40B4-BE49-F238E27FC236}">
                <a16:creationId xmlns:a16="http://schemas.microsoft.com/office/drawing/2014/main" id="{54B0388A-DD02-BBFE-4B23-A77069207B63}"/>
              </a:ext>
            </a:extLst>
          </p:cNvPr>
          <p:cNvSpPr/>
          <p:nvPr/>
        </p:nvSpPr>
        <p:spPr>
          <a:xfrm>
            <a:off x="1332696" y="5998691"/>
            <a:ext cx="448480" cy="1761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CF54907F-29B4-66EF-A9E9-21E082EC7734}"/>
              </a:ext>
            </a:extLst>
          </p:cNvPr>
          <p:cNvSpPr txBox="1"/>
          <p:nvPr/>
        </p:nvSpPr>
        <p:spPr>
          <a:xfrm>
            <a:off x="254808" y="2396974"/>
            <a:ext cx="614335" cy="276999"/>
          </a:xfrm>
          <a:prstGeom prst="rect">
            <a:avLst/>
          </a:prstGeom>
          <a:noFill/>
        </p:spPr>
        <p:txBody>
          <a:bodyPr wrap="none" rtlCol="0">
            <a:spAutoFit/>
          </a:bodyPr>
          <a:lstStyle/>
          <a:p>
            <a:r>
              <a:rPr lang="en-SG" sz="1200" b="1" dirty="0">
                <a:highlight>
                  <a:srgbClr val="FFFF00"/>
                </a:highlight>
              </a:rPr>
              <a:t>app.js</a:t>
            </a:r>
          </a:p>
        </p:txBody>
      </p:sp>
      <p:sp>
        <p:nvSpPr>
          <p:cNvPr id="11" name="TextBox 10">
            <a:extLst>
              <a:ext uri="{FF2B5EF4-FFF2-40B4-BE49-F238E27FC236}">
                <a16:creationId xmlns:a16="http://schemas.microsoft.com/office/drawing/2014/main" id="{A932281D-D1A5-515A-7C5B-4DAAE0A309C4}"/>
              </a:ext>
            </a:extLst>
          </p:cNvPr>
          <p:cNvSpPr txBox="1"/>
          <p:nvPr/>
        </p:nvSpPr>
        <p:spPr>
          <a:xfrm>
            <a:off x="254808" y="4542751"/>
            <a:ext cx="1597617" cy="276999"/>
          </a:xfrm>
          <a:prstGeom prst="rect">
            <a:avLst/>
          </a:prstGeom>
          <a:noFill/>
        </p:spPr>
        <p:txBody>
          <a:bodyPr wrap="none" rtlCol="0">
            <a:spAutoFit/>
          </a:bodyPr>
          <a:lstStyle/>
          <a:p>
            <a:r>
              <a:rPr lang="en-SG" sz="1200" b="1" dirty="0">
                <a:highlight>
                  <a:srgbClr val="FFFF00"/>
                </a:highlight>
              </a:rPr>
              <a:t>studentController.js</a:t>
            </a:r>
          </a:p>
        </p:txBody>
      </p:sp>
      <p:sp>
        <p:nvSpPr>
          <p:cNvPr id="12" name="TextBox 11">
            <a:extLst>
              <a:ext uri="{FF2B5EF4-FFF2-40B4-BE49-F238E27FC236}">
                <a16:creationId xmlns:a16="http://schemas.microsoft.com/office/drawing/2014/main" id="{D999F62D-5E67-E612-DA9A-13C9012D773B}"/>
              </a:ext>
            </a:extLst>
          </p:cNvPr>
          <p:cNvSpPr txBox="1"/>
          <p:nvPr/>
        </p:nvSpPr>
        <p:spPr>
          <a:xfrm>
            <a:off x="4030738" y="4961781"/>
            <a:ext cx="3895725" cy="1754326"/>
          </a:xfrm>
          <a:prstGeom prst="rect">
            <a:avLst/>
          </a:prstGeom>
          <a:noFill/>
        </p:spPr>
        <p:txBody>
          <a:bodyPr wrap="square" rtlCol="0">
            <a:spAutoFit/>
          </a:bodyPr>
          <a:lstStyle/>
          <a:p>
            <a:r>
              <a:rPr lang="en-SG" dirty="0"/>
              <a:t>The get function in </a:t>
            </a:r>
            <a:r>
              <a:rPr lang="en-SG" dirty="0" err="1"/>
              <a:t>studentController</a:t>
            </a:r>
            <a:r>
              <a:rPr lang="en-SG" dirty="0"/>
              <a:t> routes us to </a:t>
            </a:r>
            <a:r>
              <a:rPr lang="en-SG" dirty="0" err="1"/>
              <a:t>student.ejs</a:t>
            </a:r>
            <a:endParaRPr lang="en-SG" dirty="0"/>
          </a:p>
          <a:p>
            <a:endParaRPr lang="en-SG" dirty="0"/>
          </a:p>
          <a:p>
            <a:r>
              <a:rPr lang="en-SG" dirty="0"/>
              <a:t>We need to create a dedicated edit page function as indicated in the comment above</a:t>
            </a:r>
          </a:p>
        </p:txBody>
      </p:sp>
    </p:spTree>
    <p:extLst>
      <p:ext uri="{BB962C8B-B14F-4D97-AF65-F5344CB8AC3E}">
        <p14:creationId xmlns:p14="http://schemas.microsoft.com/office/powerpoint/2010/main" val="1224822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7C0703-60C7-D526-C10B-79A2AE09C4C5}"/>
              </a:ext>
            </a:extLst>
          </p:cNvPr>
          <p:cNvSpPr>
            <a:spLocks noGrp="1"/>
          </p:cNvSpPr>
          <p:nvPr>
            <p:ph type="body" sz="quarter" idx="14"/>
          </p:nvPr>
        </p:nvSpPr>
        <p:spPr/>
        <p:txBody>
          <a:bodyPr/>
          <a:lstStyle/>
          <a:p>
            <a:r>
              <a:rPr lang="en-SG" dirty="0"/>
              <a:t>In </a:t>
            </a:r>
            <a:r>
              <a:rPr lang="en-SG" dirty="0" err="1"/>
              <a:t>studentController</a:t>
            </a:r>
            <a:r>
              <a:rPr lang="en-SG" dirty="0"/>
              <a:t>, add in the following code</a:t>
            </a:r>
          </a:p>
        </p:txBody>
      </p:sp>
      <p:sp>
        <p:nvSpPr>
          <p:cNvPr id="3" name="Title 2">
            <a:extLst>
              <a:ext uri="{FF2B5EF4-FFF2-40B4-BE49-F238E27FC236}">
                <a16:creationId xmlns:a16="http://schemas.microsoft.com/office/drawing/2014/main" id="{118CC97C-E351-D98E-8D99-28DD822B6212}"/>
              </a:ext>
            </a:extLst>
          </p:cNvPr>
          <p:cNvSpPr>
            <a:spLocks noGrp="1"/>
          </p:cNvSpPr>
          <p:nvPr>
            <p:ph type="title"/>
          </p:nvPr>
        </p:nvSpPr>
        <p:spPr/>
        <p:txBody>
          <a:bodyPr/>
          <a:lstStyle/>
          <a:p>
            <a:r>
              <a:rPr lang="en-SG" dirty="0"/>
              <a:t>Test </a:t>
            </a:r>
            <a:r>
              <a:rPr lang="en-SG" dirty="0" err="1"/>
              <a:t>StudentAppMVC</a:t>
            </a:r>
            <a:endParaRPr lang="en-SG" dirty="0"/>
          </a:p>
        </p:txBody>
      </p:sp>
      <p:pic>
        <p:nvPicPr>
          <p:cNvPr id="5" name="Picture 4">
            <a:extLst>
              <a:ext uri="{FF2B5EF4-FFF2-40B4-BE49-F238E27FC236}">
                <a16:creationId xmlns:a16="http://schemas.microsoft.com/office/drawing/2014/main" id="{6C6F720A-2663-5383-AAEE-B8D56E65D1A3}"/>
              </a:ext>
            </a:extLst>
          </p:cNvPr>
          <p:cNvPicPr>
            <a:picLocks noChangeAspect="1"/>
          </p:cNvPicPr>
          <p:nvPr/>
        </p:nvPicPr>
        <p:blipFill>
          <a:blip r:embed="rId2"/>
          <a:stretch>
            <a:fillRect/>
          </a:stretch>
        </p:blipFill>
        <p:spPr>
          <a:xfrm>
            <a:off x="720619" y="2060558"/>
            <a:ext cx="4102311" cy="3168813"/>
          </a:xfrm>
          <a:prstGeom prst="rect">
            <a:avLst/>
          </a:prstGeom>
        </p:spPr>
      </p:pic>
      <p:pic>
        <p:nvPicPr>
          <p:cNvPr id="7" name="Picture 6">
            <a:extLst>
              <a:ext uri="{FF2B5EF4-FFF2-40B4-BE49-F238E27FC236}">
                <a16:creationId xmlns:a16="http://schemas.microsoft.com/office/drawing/2014/main" id="{04B2C3CC-DAC5-68A0-36CF-06AF54908EF6}"/>
              </a:ext>
            </a:extLst>
          </p:cNvPr>
          <p:cNvPicPr>
            <a:picLocks noChangeAspect="1"/>
          </p:cNvPicPr>
          <p:nvPr/>
        </p:nvPicPr>
        <p:blipFill>
          <a:blip r:embed="rId3"/>
          <a:stretch>
            <a:fillRect/>
          </a:stretch>
        </p:blipFill>
        <p:spPr>
          <a:xfrm>
            <a:off x="720619" y="5522151"/>
            <a:ext cx="5302523" cy="1028753"/>
          </a:xfrm>
          <a:prstGeom prst="rect">
            <a:avLst/>
          </a:prstGeom>
        </p:spPr>
      </p:pic>
      <p:sp>
        <p:nvSpPr>
          <p:cNvPr id="8" name="TextBox 7">
            <a:extLst>
              <a:ext uri="{FF2B5EF4-FFF2-40B4-BE49-F238E27FC236}">
                <a16:creationId xmlns:a16="http://schemas.microsoft.com/office/drawing/2014/main" id="{4843C802-8EFD-99BA-D048-1549B0A0CDEE}"/>
              </a:ext>
            </a:extLst>
          </p:cNvPr>
          <p:cNvSpPr txBox="1"/>
          <p:nvPr/>
        </p:nvSpPr>
        <p:spPr>
          <a:xfrm>
            <a:off x="669713" y="5264976"/>
            <a:ext cx="614335" cy="276999"/>
          </a:xfrm>
          <a:prstGeom prst="rect">
            <a:avLst/>
          </a:prstGeom>
          <a:noFill/>
        </p:spPr>
        <p:txBody>
          <a:bodyPr wrap="none" rtlCol="0">
            <a:spAutoFit/>
          </a:bodyPr>
          <a:lstStyle/>
          <a:p>
            <a:r>
              <a:rPr lang="en-SG" sz="1200" b="1" dirty="0">
                <a:highlight>
                  <a:srgbClr val="FFFF00"/>
                </a:highlight>
              </a:rPr>
              <a:t>app.js</a:t>
            </a:r>
          </a:p>
        </p:txBody>
      </p:sp>
      <p:sp>
        <p:nvSpPr>
          <p:cNvPr id="9" name="TextBox 8">
            <a:extLst>
              <a:ext uri="{FF2B5EF4-FFF2-40B4-BE49-F238E27FC236}">
                <a16:creationId xmlns:a16="http://schemas.microsoft.com/office/drawing/2014/main" id="{9B672D99-AA37-38AA-E36C-7338A3D506A5}"/>
              </a:ext>
            </a:extLst>
          </p:cNvPr>
          <p:cNvSpPr txBox="1"/>
          <p:nvPr/>
        </p:nvSpPr>
        <p:spPr>
          <a:xfrm>
            <a:off x="669713" y="1922059"/>
            <a:ext cx="1597617" cy="276999"/>
          </a:xfrm>
          <a:prstGeom prst="rect">
            <a:avLst/>
          </a:prstGeom>
          <a:noFill/>
        </p:spPr>
        <p:txBody>
          <a:bodyPr wrap="none" rtlCol="0">
            <a:spAutoFit/>
          </a:bodyPr>
          <a:lstStyle/>
          <a:p>
            <a:r>
              <a:rPr lang="en-SG" sz="1200" b="1" dirty="0">
                <a:highlight>
                  <a:srgbClr val="FFFF00"/>
                </a:highlight>
              </a:rPr>
              <a:t>studentController.js</a:t>
            </a:r>
          </a:p>
        </p:txBody>
      </p:sp>
      <p:sp>
        <p:nvSpPr>
          <p:cNvPr id="10" name="Rectangle 9">
            <a:extLst>
              <a:ext uri="{FF2B5EF4-FFF2-40B4-BE49-F238E27FC236}">
                <a16:creationId xmlns:a16="http://schemas.microsoft.com/office/drawing/2014/main" id="{F853FA29-7925-A36F-1E72-C66B05E45969}"/>
              </a:ext>
            </a:extLst>
          </p:cNvPr>
          <p:cNvSpPr/>
          <p:nvPr/>
        </p:nvSpPr>
        <p:spPr>
          <a:xfrm>
            <a:off x="720620" y="6154886"/>
            <a:ext cx="2870306" cy="1298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CBA353BE-19E7-3A9B-7EC3-3BB31C590904}"/>
              </a:ext>
            </a:extLst>
          </p:cNvPr>
          <p:cNvSpPr/>
          <p:nvPr/>
        </p:nvSpPr>
        <p:spPr>
          <a:xfrm>
            <a:off x="1284048" y="2831793"/>
            <a:ext cx="3373677" cy="17402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Box 3">
            <a:extLst>
              <a:ext uri="{FF2B5EF4-FFF2-40B4-BE49-F238E27FC236}">
                <a16:creationId xmlns:a16="http://schemas.microsoft.com/office/drawing/2014/main" id="{A86BC09D-8952-836A-A54D-078F9988B0E9}"/>
              </a:ext>
            </a:extLst>
          </p:cNvPr>
          <p:cNvSpPr txBox="1"/>
          <p:nvPr/>
        </p:nvSpPr>
        <p:spPr>
          <a:xfrm>
            <a:off x="5221154" y="2680425"/>
            <a:ext cx="3360870" cy="954107"/>
          </a:xfrm>
          <a:prstGeom prst="rect">
            <a:avLst/>
          </a:prstGeom>
          <a:noFill/>
        </p:spPr>
        <p:txBody>
          <a:bodyPr wrap="square" rtlCol="0">
            <a:spAutoFit/>
          </a:bodyPr>
          <a:lstStyle/>
          <a:p>
            <a:r>
              <a:rPr lang="en-SG" sz="1400" dirty="0">
                <a:solidFill>
                  <a:srgbClr val="0070C0"/>
                </a:solidFill>
              </a:rPr>
              <a:t>Observe:</a:t>
            </a:r>
          </a:p>
          <a:p>
            <a:pPr marL="285750" indent="-285750">
              <a:buFont typeface="Arial" panose="020B0604020202020204" pitchFamily="34" charset="0"/>
              <a:buChar char="•"/>
            </a:pPr>
            <a:r>
              <a:rPr lang="en-SG" sz="1400" dirty="0">
                <a:solidFill>
                  <a:srgbClr val="0070C0"/>
                </a:solidFill>
              </a:rPr>
              <a:t>The name of the function is </a:t>
            </a:r>
            <a:r>
              <a:rPr lang="en-SG" sz="1400" dirty="0" err="1">
                <a:solidFill>
                  <a:srgbClr val="0070C0"/>
                </a:solidFill>
              </a:rPr>
              <a:t>updateForm</a:t>
            </a:r>
            <a:r>
              <a:rPr lang="en-SG" sz="1400" dirty="0">
                <a:solidFill>
                  <a:srgbClr val="0070C0"/>
                </a:solidFill>
              </a:rPr>
              <a:t> (Does not currently exist)</a:t>
            </a:r>
          </a:p>
          <a:p>
            <a:pPr marL="285750" indent="-285750">
              <a:buFont typeface="Arial" panose="020B0604020202020204" pitchFamily="34" charset="0"/>
              <a:buChar char="•"/>
            </a:pPr>
            <a:r>
              <a:rPr lang="en-SG" sz="1400" dirty="0">
                <a:solidFill>
                  <a:srgbClr val="0070C0"/>
                </a:solidFill>
              </a:rPr>
              <a:t>We now render to </a:t>
            </a:r>
            <a:r>
              <a:rPr lang="en-SG" sz="1400" dirty="0" err="1">
                <a:solidFill>
                  <a:srgbClr val="0070C0"/>
                </a:solidFill>
              </a:rPr>
              <a:t>editStudent.ejs</a:t>
            </a:r>
            <a:endParaRPr lang="en-SG" sz="1400" dirty="0">
              <a:solidFill>
                <a:srgbClr val="0070C0"/>
              </a:solidFill>
            </a:endParaRPr>
          </a:p>
        </p:txBody>
      </p:sp>
      <p:cxnSp>
        <p:nvCxnSpPr>
          <p:cNvPr id="12" name="Straight Arrow Connector 11">
            <a:extLst>
              <a:ext uri="{FF2B5EF4-FFF2-40B4-BE49-F238E27FC236}">
                <a16:creationId xmlns:a16="http://schemas.microsoft.com/office/drawing/2014/main" id="{81EF4E0A-BE91-E16C-8A0A-8501FCB28626}"/>
              </a:ext>
            </a:extLst>
          </p:cNvPr>
          <p:cNvCxnSpPr>
            <a:cxnSpLocks/>
          </p:cNvCxnSpPr>
          <p:nvPr/>
        </p:nvCxnSpPr>
        <p:spPr>
          <a:xfrm flipH="1">
            <a:off x="1864895" y="3043989"/>
            <a:ext cx="3521464"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C0F39FE4-8E63-8BFD-0CE5-25BF9CC81D54}"/>
              </a:ext>
            </a:extLst>
          </p:cNvPr>
          <p:cNvCxnSpPr>
            <a:cxnSpLocks/>
          </p:cNvCxnSpPr>
          <p:nvPr/>
        </p:nvCxnSpPr>
        <p:spPr>
          <a:xfrm flipH="1">
            <a:off x="2719137" y="3429000"/>
            <a:ext cx="2667222" cy="6376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10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4E4E9-9CDC-54B8-D89C-945DB44BC11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A010000-26E3-B89F-1FFE-4A9A1249F173}"/>
              </a:ext>
            </a:extLst>
          </p:cNvPr>
          <p:cNvSpPr>
            <a:spLocks noGrp="1"/>
          </p:cNvSpPr>
          <p:nvPr>
            <p:ph type="body" sz="quarter" idx="14"/>
          </p:nvPr>
        </p:nvSpPr>
        <p:spPr/>
        <p:txBody>
          <a:bodyPr/>
          <a:lstStyle/>
          <a:p>
            <a:r>
              <a:rPr lang="en-SG" sz="1800" dirty="0"/>
              <a:t>Test </a:t>
            </a:r>
            <a:r>
              <a:rPr lang="en-SG" sz="1800" b="1" dirty="0" err="1"/>
              <a:t>StudentAppMVC</a:t>
            </a:r>
            <a:r>
              <a:rPr lang="en-SG" sz="1800" dirty="0"/>
              <a:t> again</a:t>
            </a:r>
          </a:p>
          <a:p>
            <a:endParaRPr lang="en-SG" sz="1800" dirty="0"/>
          </a:p>
          <a:p>
            <a:r>
              <a:rPr lang="en-SG" sz="1800" dirty="0"/>
              <a:t>In </a:t>
            </a:r>
            <a:r>
              <a:rPr lang="en-SG" sz="1800" b="1" dirty="0" err="1"/>
              <a:t>StudentAppMVC</a:t>
            </a:r>
            <a:r>
              <a:rPr lang="en-SG" sz="1800" dirty="0"/>
              <a:t>, right-click on </a:t>
            </a:r>
            <a:r>
              <a:rPr lang="en-SG" sz="1800" b="1" dirty="0"/>
              <a:t>app.js </a:t>
            </a:r>
          </a:p>
          <a:p>
            <a:endParaRPr lang="en-SG" sz="1800" dirty="0"/>
          </a:p>
          <a:p>
            <a:r>
              <a:rPr lang="en-SG" sz="1800" dirty="0"/>
              <a:t>Select </a:t>
            </a:r>
            <a:r>
              <a:rPr lang="en-SG" sz="1800" b="1" dirty="0"/>
              <a:t>Open in Integrated Terminal</a:t>
            </a:r>
          </a:p>
          <a:p>
            <a:endParaRPr lang="en-SG" sz="1800" dirty="0"/>
          </a:p>
          <a:p>
            <a:r>
              <a:rPr lang="en-SG" sz="1800" dirty="0"/>
              <a:t>Run </a:t>
            </a:r>
            <a:r>
              <a:rPr lang="en-SG" sz="1800" b="1" dirty="0" err="1"/>
              <a:t>StudentAppMVC</a:t>
            </a:r>
            <a:endParaRPr lang="en-SG" sz="1800" b="1" dirty="0"/>
          </a:p>
          <a:p>
            <a:pPr lvl="1"/>
            <a:r>
              <a:rPr lang="en-SG" sz="1600" dirty="0">
                <a:solidFill>
                  <a:srgbClr val="0070C0"/>
                </a:solidFill>
                <a:latin typeface="Consolas" panose="020B0609020204030204" pitchFamily="49" charset="0"/>
              </a:rPr>
              <a:t>node app.js</a:t>
            </a:r>
          </a:p>
          <a:p>
            <a:pPr lvl="1"/>
            <a:r>
              <a:rPr lang="en-SG" sz="1600" dirty="0" err="1">
                <a:solidFill>
                  <a:srgbClr val="0070C0"/>
                </a:solidFill>
                <a:latin typeface="Consolas" panose="020B0609020204030204" pitchFamily="49" charset="0"/>
              </a:rPr>
              <a:t>npx</a:t>
            </a:r>
            <a:r>
              <a:rPr lang="en-SG" sz="1600" dirty="0">
                <a:solidFill>
                  <a:srgbClr val="0070C0"/>
                </a:solidFill>
                <a:latin typeface="Consolas" panose="020B0609020204030204" pitchFamily="49" charset="0"/>
              </a:rPr>
              <a:t> </a:t>
            </a:r>
            <a:r>
              <a:rPr lang="en-SG" sz="1600" dirty="0" err="1">
                <a:solidFill>
                  <a:srgbClr val="0070C0"/>
                </a:solidFill>
                <a:latin typeface="Consolas" panose="020B0609020204030204" pitchFamily="49" charset="0"/>
              </a:rPr>
              <a:t>nodemon</a:t>
            </a:r>
            <a:r>
              <a:rPr lang="en-SG" sz="1600" dirty="0">
                <a:solidFill>
                  <a:srgbClr val="0070C0"/>
                </a:solidFill>
                <a:latin typeface="Consolas" panose="020B0609020204030204" pitchFamily="49" charset="0"/>
              </a:rPr>
              <a:t> app.js</a:t>
            </a:r>
          </a:p>
          <a:p>
            <a:endParaRPr lang="en-SG" sz="1800" dirty="0"/>
          </a:p>
          <a:p>
            <a:r>
              <a:rPr lang="en-SG" sz="1800" dirty="0"/>
              <a:t>Go to your browser: </a:t>
            </a:r>
            <a:r>
              <a:rPr lang="en-SG" sz="1800" dirty="0">
                <a:hlinkClick r:id="rId2"/>
              </a:rPr>
              <a:t>http://localhost:3000/</a:t>
            </a:r>
            <a:r>
              <a:rPr lang="en-SG" sz="1800" dirty="0"/>
              <a:t> </a:t>
            </a:r>
          </a:p>
          <a:p>
            <a:endParaRPr lang="en-SG" sz="1800" dirty="0"/>
          </a:p>
        </p:txBody>
      </p:sp>
      <p:sp>
        <p:nvSpPr>
          <p:cNvPr id="3" name="Title 2">
            <a:extLst>
              <a:ext uri="{FF2B5EF4-FFF2-40B4-BE49-F238E27FC236}">
                <a16:creationId xmlns:a16="http://schemas.microsoft.com/office/drawing/2014/main" id="{DC17A5DA-3E7F-78C9-ACA5-ACF3C2F7C504}"/>
              </a:ext>
            </a:extLst>
          </p:cNvPr>
          <p:cNvSpPr>
            <a:spLocks noGrp="1"/>
          </p:cNvSpPr>
          <p:nvPr>
            <p:ph type="title"/>
          </p:nvPr>
        </p:nvSpPr>
        <p:spPr/>
        <p:txBody>
          <a:bodyPr/>
          <a:lstStyle/>
          <a:p>
            <a:r>
              <a:rPr lang="en-SG" dirty="0"/>
              <a:t>Test </a:t>
            </a:r>
            <a:r>
              <a:rPr lang="en-SG" dirty="0" err="1"/>
              <a:t>StudentAppMVC</a:t>
            </a:r>
            <a:endParaRPr lang="en-SG" dirty="0"/>
          </a:p>
        </p:txBody>
      </p:sp>
      <p:pic>
        <p:nvPicPr>
          <p:cNvPr id="2050" name="Picture 2" descr="a cartoon cat is covering its mouth with its paws and making a funny face .">
            <a:extLst>
              <a:ext uri="{FF2B5EF4-FFF2-40B4-BE49-F238E27FC236}">
                <a16:creationId xmlns:a16="http://schemas.microsoft.com/office/drawing/2014/main" id="{D0E6224D-5E84-A06E-9A4B-B16E88762B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7208" y="3711924"/>
            <a:ext cx="2095500" cy="18859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8F5D32-A4C6-8987-B0C0-09E56E81D459}"/>
              </a:ext>
            </a:extLst>
          </p:cNvPr>
          <p:cNvSpPr txBox="1"/>
          <p:nvPr/>
        </p:nvSpPr>
        <p:spPr>
          <a:xfrm>
            <a:off x="5680707" y="1805042"/>
            <a:ext cx="3168502" cy="954107"/>
          </a:xfrm>
          <a:prstGeom prst="rect">
            <a:avLst/>
          </a:prstGeom>
          <a:noFill/>
        </p:spPr>
        <p:txBody>
          <a:bodyPr wrap="square" rtlCol="0">
            <a:spAutoFit/>
          </a:bodyPr>
          <a:lstStyle/>
          <a:p>
            <a:r>
              <a:rPr lang="en-SG" sz="1400" dirty="0">
                <a:solidFill>
                  <a:schemeClr val="accent6"/>
                </a:solidFill>
              </a:rPr>
              <a:t>Note: </a:t>
            </a:r>
          </a:p>
          <a:p>
            <a:r>
              <a:rPr lang="en-SG" sz="1400" dirty="0">
                <a:solidFill>
                  <a:schemeClr val="accent6"/>
                </a:solidFill>
              </a:rPr>
              <a:t>The aim is to open the terminal at the root level of the project. Using these steps help us do that quicker.</a:t>
            </a:r>
          </a:p>
        </p:txBody>
      </p:sp>
    </p:spTree>
    <p:extLst>
      <p:ext uri="{BB962C8B-B14F-4D97-AF65-F5344CB8AC3E}">
        <p14:creationId xmlns:p14="http://schemas.microsoft.com/office/powerpoint/2010/main" val="3774921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8162E8-FE87-A96E-BB79-14B72AA2E55C}"/>
              </a:ext>
            </a:extLst>
          </p:cNvPr>
          <p:cNvSpPr>
            <a:spLocks noGrp="1"/>
          </p:cNvSpPr>
          <p:nvPr>
            <p:ph type="body" sz="quarter" idx="14"/>
          </p:nvPr>
        </p:nvSpPr>
        <p:spPr/>
        <p:txBody>
          <a:bodyPr/>
          <a:lstStyle/>
          <a:p>
            <a:pPr marL="457200" indent="-457200">
              <a:buFont typeface="+mj-lt"/>
              <a:buAutoNum type="alphaLcParenR"/>
            </a:pPr>
            <a:r>
              <a:rPr lang="en-SG" dirty="0"/>
              <a:t>Test that you are able to perform all the functions in the web browser.</a:t>
            </a:r>
          </a:p>
          <a:p>
            <a:pPr marL="457200" indent="-457200">
              <a:buFont typeface="+mj-lt"/>
              <a:buAutoNum type="alphaLcParenR"/>
            </a:pPr>
            <a:endParaRPr lang="en-SG" dirty="0"/>
          </a:p>
          <a:p>
            <a:pPr marL="457200" indent="-457200">
              <a:buFont typeface="+mj-lt"/>
              <a:buAutoNum type="alphaLcParenR"/>
            </a:pPr>
            <a:r>
              <a:rPr lang="en-SG" dirty="0"/>
              <a:t>Screenshot the working functions into your worksheet</a:t>
            </a:r>
          </a:p>
          <a:p>
            <a:pPr lvl="1" fontAlgn="t"/>
            <a:r>
              <a:rPr lang="en-SG" dirty="0"/>
              <a:t>View all students</a:t>
            </a:r>
          </a:p>
          <a:p>
            <a:pPr lvl="1" fontAlgn="t"/>
            <a:r>
              <a:rPr lang="en-SG" dirty="0"/>
              <a:t>View student by ID</a:t>
            </a:r>
          </a:p>
          <a:p>
            <a:pPr lvl="1" fontAlgn="t"/>
            <a:r>
              <a:rPr lang="en-SG" dirty="0"/>
              <a:t>Add new student</a:t>
            </a:r>
          </a:p>
          <a:p>
            <a:pPr lvl="1" fontAlgn="t"/>
            <a:r>
              <a:rPr lang="en-SG" dirty="0"/>
              <a:t>Update student details</a:t>
            </a:r>
          </a:p>
          <a:p>
            <a:pPr lvl="1" fontAlgn="t"/>
            <a:r>
              <a:rPr lang="en-SG" dirty="0"/>
              <a:t>Delete student</a:t>
            </a:r>
          </a:p>
          <a:p>
            <a:endParaRPr lang="en-SG" dirty="0"/>
          </a:p>
        </p:txBody>
      </p:sp>
      <p:sp>
        <p:nvSpPr>
          <p:cNvPr id="3" name="Title 2">
            <a:extLst>
              <a:ext uri="{FF2B5EF4-FFF2-40B4-BE49-F238E27FC236}">
                <a16:creationId xmlns:a16="http://schemas.microsoft.com/office/drawing/2014/main" id="{9FBBC4EC-DED5-3CB3-9ADA-6BBAD34147B3}"/>
              </a:ext>
            </a:extLst>
          </p:cNvPr>
          <p:cNvSpPr>
            <a:spLocks noGrp="1"/>
          </p:cNvSpPr>
          <p:nvPr>
            <p:ph type="title"/>
          </p:nvPr>
        </p:nvSpPr>
        <p:spPr/>
        <p:txBody>
          <a:bodyPr/>
          <a:lstStyle/>
          <a:p>
            <a:r>
              <a:rPr lang="en-SG" dirty="0"/>
              <a:t>Exercise 6</a:t>
            </a:r>
          </a:p>
        </p:txBody>
      </p:sp>
    </p:spTree>
    <p:extLst>
      <p:ext uri="{BB962C8B-B14F-4D97-AF65-F5344CB8AC3E}">
        <p14:creationId xmlns:p14="http://schemas.microsoft.com/office/powerpoint/2010/main" val="2205392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55AA2D-38DB-181B-C0B1-F6B500F651B8}"/>
              </a:ext>
            </a:extLst>
          </p:cNvPr>
          <p:cNvSpPr>
            <a:spLocks noGrp="1"/>
          </p:cNvSpPr>
          <p:nvPr>
            <p:ph type="body" sz="quarter" idx="13"/>
          </p:nvPr>
        </p:nvSpPr>
        <p:spPr/>
        <p:txBody>
          <a:bodyPr/>
          <a:lstStyle/>
          <a:p>
            <a:endParaRPr lang="en-SG"/>
          </a:p>
        </p:txBody>
      </p:sp>
      <p:sp>
        <p:nvSpPr>
          <p:cNvPr id="3" name="Title 2">
            <a:extLst>
              <a:ext uri="{FF2B5EF4-FFF2-40B4-BE49-F238E27FC236}">
                <a16:creationId xmlns:a16="http://schemas.microsoft.com/office/drawing/2014/main" id="{A1F18809-F00B-9494-CF91-C5B3609033CB}"/>
              </a:ext>
            </a:extLst>
          </p:cNvPr>
          <p:cNvSpPr>
            <a:spLocks noGrp="1"/>
          </p:cNvSpPr>
          <p:nvPr>
            <p:ph type="title"/>
          </p:nvPr>
        </p:nvSpPr>
        <p:spPr/>
        <p:txBody>
          <a:bodyPr/>
          <a:lstStyle/>
          <a:p>
            <a:r>
              <a:rPr lang="en-SG" dirty="0"/>
              <a:t>Prompt Review</a:t>
            </a:r>
          </a:p>
        </p:txBody>
      </p:sp>
    </p:spTree>
    <p:extLst>
      <p:ext uri="{BB962C8B-B14F-4D97-AF65-F5344CB8AC3E}">
        <p14:creationId xmlns:p14="http://schemas.microsoft.com/office/powerpoint/2010/main" val="1021611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35089-03B6-5BCE-5EA6-33F3677E4D3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272E86-C07E-1A61-C75A-4FE3A5F6A6E7}"/>
              </a:ext>
            </a:extLst>
          </p:cNvPr>
          <p:cNvSpPr>
            <a:spLocks noGrp="1"/>
          </p:cNvSpPr>
          <p:nvPr>
            <p:ph type="body" sz="quarter" idx="14"/>
          </p:nvPr>
        </p:nvSpPr>
        <p:spPr/>
        <p:txBody>
          <a:bodyPr/>
          <a:lstStyle/>
          <a:p>
            <a:r>
              <a:rPr lang="en-SG" dirty="0"/>
              <a:t>Consider the prompt we used earlier:</a:t>
            </a:r>
          </a:p>
          <a:p>
            <a:endParaRPr lang="en-SG" dirty="0"/>
          </a:p>
          <a:p>
            <a:endParaRPr lang="en-SG" dirty="0"/>
          </a:p>
          <a:p>
            <a:endParaRPr lang="en-SG" dirty="0"/>
          </a:p>
        </p:txBody>
      </p:sp>
      <p:sp>
        <p:nvSpPr>
          <p:cNvPr id="3" name="Title 2">
            <a:extLst>
              <a:ext uri="{FF2B5EF4-FFF2-40B4-BE49-F238E27FC236}">
                <a16:creationId xmlns:a16="http://schemas.microsoft.com/office/drawing/2014/main" id="{CE0E8D9F-CE26-5E05-3DC0-0543E87B3C7C}"/>
              </a:ext>
            </a:extLst>
          </p:cNvPr>
          <p:cNvSpPr>
            <a:spLocks noGrp="1"/>
          </p:cNvSpPr>
          <p:nvPr>
            <p:ph type="title"/>
          </p:nvPr>
        </p:nvSpPr>
        <p:spPr/>
        <p:txBody>
          <a:bodyPr/>
          <a:lstStyle/>
          <a:p>
            <a:r>
              <a:rPr lang="en-SG" dirty="0"/>
              <a:t>Prompt Review</a:t>
            </a:r>
          </a:p>
        </p:txBody>
      </p:sp>
      <p:sp>
        <p:nvSpPr>
          <p:cNvPr id="4" name="TextBox 3">
            <a:extLst>
              <a:ext uri="{FF2B5EF4-FFF2-40B4-BE49-F238E27FC236}">
                <a16:creationId xmlns:a16="http://schemas.microsoft.com/office/drawing/2014/main" id="{2DDCF6D8-1120-FEEA-8453-5A02B8BFBF75}"/>
              </a:ext>
            </a:extLst>
          </p:cNvPr>
          <p:cNvSpPr txBox="1"/>
          <p:nvPr/>
        </p:nvSpPr>
        <p:spPr>
          <a:xfrm>
            <a:off x="561976" y="2165683"/>
            <a:ext cx="7411452" cy="2031325"/>
          </a:xfrm>
          <a:prstGeom prst="rect">
            <a:avLst/>
          </a:prstGeom>
          <a:noFill/>
        </p:spPr>
        <p:txBody>
          <a:bodyPr wrap="square" rtlCol="0">
            <a:spAutoFit/>
          </a:bodyPr>
          <a:lstStyle/>
          <a:p>
            <a:r>
              <a:rPr lang="en-US" dirty="0"/>
              <a:t>Generate a function-based student model for Node.js using the MVC pattern. The model should export an object with methods for common database operations (get all students, get student by ID, add, update, delete). Each method should accept parameters and a callback, and use a MySQL connection from require(‘../</a:t>
            </a:r>
            <a:r>
              <a:rPr lang="en-US" dirty="0" err="1"/>
              <a:t>db</a:t>
            </a:r>
            <a:r>
              <a:rPr lang="en-US" dirty="0"/>
              <a:t>’). Use SQL queries that match a students table with fields like </a:t>
            </a:r>
            <a:r>
              <a:rPr lang="en-US" dirty="0" err="1"/>
              <a:t>studentId</a:t>
            </a:r>
            <a:r>
              <a:rPr lang="en-US" dirty="0"/>
              <a:t>, name, dob, contact, and image.</a:t>
            </a:r>
            <a:endParaRPr lang="en-SG" dirty="0"/>
          </a:p>
        </p:txBody>
      </p:sp>
    </p:spTree>
    <p:extLst>
      <p:ext uri="{BB962C8B-B14F-4D97-AF65-F5344CB8AC3E}">
        <p14:creationId xmlns:p14="http://schemas.microsoft.com/office/powerpoint/2010/main" val="2354880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AE33B-45EE-21A8-9013-B57AF98F36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7C4F5D3-A6BA-7085-7406-95408EF2F142}"/>
              </a:ext>
            </a:extLst>
          </p:cNvPr>
          <p:cNvSpPr>
            <a:spLocks noGrp="1"/>
          </p:cNvSpPr>
          <p:nvPr>
            <p:ph type="body" sz="quarter" idx="14"/>
          </p:nvPr>
        </p:nvSpPr>
        <p:spPr>
          <a:xfrm>
            <a:off x="547524" y="4568983"/>
            <a:ext cx="8034499" cy="1596337"/>
          </a:xfrm>
        </p:spPr>
        <p:txBody>
          <a:bodyPr/>
          <a:lstStyle/>
          <a:p>
            <a:endParaRPr lang="en-SG" dirty="0"/>
          </a:p>
          <a:p>
            <a:endParaRPr lang="en-SG" dirty="0"/>
          </a:p>
          <a:p>
            <a:endParaRPr lang="en-SG" dirty="0"/>
          </a:p>
        </p:txBody>
      </p:sp>
      <p:sp>
        <p:nvSpPr>
          <p:cNvPr id="3" name="Title 2">
            <a:extLst>
              <a:ext uri="{FF2B5EF4-FFF2-40B4-BE49-F238E27FC236}">
                <a16:creationId xmlns:a16="http://schemas.microsoft.com/office/drawing/2014/main" id="{DEEA9D6C-D505-215C-37AC-9456AFD6CAA5}"/>
              </a:ext>
            </a:extLst>
          </p:cNvPr>
          <p:cNvSpPr>
            <a:spLocks noGrp="1"/>
          </p:cNvSpPr>
          <p:nvPr>
            <p:ph type="title"/>
          </p:nvPr>
        </p:nvSpPr>
        <p:spPr/>
        <p:txBody>
          <a:bodyPr/>
          <a:lstStyle/>
          <a:p>
            <a:r>
              <a:rPr lang="en-SG" dirty="0"/>
              <a:t>Prompt Review</a:t>
            </a:r>
          </a:p>
        </p:txBody>
      </p:sp>
      <p:sp>
        <p:nvSpPr>
          <p:cNvPr id="4" name="TextBox 3">
            <a:extLst>
              <a:ext uri="{FF2B5EF4-FFF2-40B4-BE49-F238E27FC236}">
                <a16:creationId xmlns:a16="http://schemas.microsoft.com/office/drawing/2014/main" id="{8B559D5A-204D-C9D5-CE7A-545F1D25F3F8}"/>
              </a:ext>
            </a:extLst>
          </p:cNvPr>
          <p:cNvSpPr txBox="1"/>
          <p:nvPr/>
        </p:nvSpPr>
        <p:spPr>
          <a:xfrm>
            <a:off x="547524" y="1397675"/>
            <a:ext cx="8034498" cy="2246769"/>
          </a:xfrm>
          <a:prstGeom prst="rect">
            <a:avLst/>
          </a:prstGeom>
          <a:noFill/>
        </p:spPr>
        <p:txBody>
          <a:bodyPr wrap="square" rtlCol="0">
            <a:spAutoFit/>
          </a:bodyPr>
          <a:lstStyle/>
          <a:p>
            <a:r>
              <a:rPr lang="en-US" sz="2000" b="1" i="1" dirty="0">
                <a:highlight>
                  <a:srgbClr val="FFFF00"/>
                </a:highlight>
              </a:rPr>
              <a:t>Generate a function-based student model for Node.js using the MVC pattern.</a:t>
            </a:r>
            <a:r>
              <a:rPr lang="en-US" sz="2000" i="1" dirty="0">
                <a:highlight>
                  <a:srgbClr val="FFFF00"/>
                </a:highlight>
              </a:rPr>
              <a:t> </a:t>
            </a:r>
            <a:r>
              <a:rPr lang="en-US" sz="2000" i="1" dirty="0">
                <a:highlight>
                  <a:srgbClr val="00FF00"/>
                </a:highlight>
              </a:rPr>
              <a:t>The model should export an object with methods for common database operations (get all students, get student by ID, add, update, delete).</a:t>
            </a:r>
            <a:r>
              <a:rPr lang="en-US" sz="2000" i="1" dirty="0"/>
              <a:t> </a:t>
            </a:r>
            <a:r>
              <a:rPr lang="en-US" sz="2000" i="1" dirty="0">
                <a:highlight>
                  <a:srgbClr val="00FFFF"/>
                </a:highlight>
              </a:rPr>
              <a:t>Each method should accept parameters and a callback</a:t>
            </a:r>
            <a:r>
              <a:rPr lang="en-US" sz="2000" i="1" dirty="0"/>
              <a:t>, </a:t>
            </a:r>
            <a:r>
              <a:rPr lang="en-US" sz="2000" i="1" dirty="0">
                <a:highlight>
                  <a:srgbClr val="FF00FF"/>
                </a:highlight>
              </a:rPr>
              <a:t>and use a MySQL connection from require(‘../</a:t>
            </a:r>
            <a:r>
              <a:rPr lang="en-US" sz="2000" i="1" dirty="0" err="1">
                <a:highlight>
                  <a:srgbClr val="FF00FF"/>
                </a:highlight>
              </a:rPr>
              <a:t>db</a:t>
            </a:r>
            <a:r>
              <a:rPr lang="en-US" sz="2000" i="1" dirty="0">
                <a:highlight>
                  <a:srgbClr val="FF00FF"/>
                </a:highlight>
              </a:rPr>
              <a:t>’). </a:t>
            </a:r>
            <a:r>
              <a:rPr lang="en-US" sz="2000" i="1" dirty="0">
                <a:highlight>
                  <a:srgbClr val="C0C0C0"/>
                </a:highlight>
              </a:rPr>
              <a:t>Use SQL queries that match a students table with fields like </a:t>
            </a:r>
            <a:r>
              <a:rPr lang="en-US" sz="2000" i="1" dirty="0" err="1">
                <a:highlight>
                  <a:srgbClr val="C0C0C0"/>
                </a:highlight>
              </a:rPr>
              <a:t>studentId</a:t>
            </a:r>
            <a:r>
              <a:rPr lang="en-US" sz="2000" i="1" dirty="0">
                <a:highlight>
                  <a:srgbClr val="C0C0C0"/>
                </a:highlight>
              </a:rPr>
              <a:t>, name, dob, contact, and image.</a:t>
            </a:r>
            <a:endParaRPr lang="en-SG" sz="2000" i="1" dirty="0">
              <a:highlight>
                <a:srgbClr val="C0C0C0"/>
              </a:highlight>
            </a:endParaRPr>
          </a:p>
        </p:txBody>
      </p:sp>
      <p:sp>
        <p:nvSpPr>
          <p:cNvPr id="6" name="TextBox 5">
            <a:extLst>
              <a:ext uri="{FF2B5EF4-FFF2-40B4-BE49-F238E27FC236}">
                <a16:creationId xmlns:a16="http://schemas.microsoft.com/office/drawing/2014/main" id="{96EF920E-0B92-8F1D-AACD-5AB89E72594A}"/>
              </a:ext>
            </a:extLst>
          </p:cNvPr>
          <p:cNvSpPr txBox="1"/>
          <p:nvPr/>
        </p:nvSpPr>
        <p:spPr>
          <a:xfrm>
            <a:off x="547524" y="4568983"/>
            <a:ext cx="7411452" cy="1938992"/>
          </a:xfrm>
          <a:prstGeom prst="rect">
            <a:avLst/>
          </a:prstGeom>
          <a:noFill/>
        </p:spPr>
        <p:txBody>
          <a:bodyPr wrap="square" rtlCol="0">
            <a:spAutoFit/>
          </a:bodyPr>
          <a:lstStyle/>
          <a:p>
            <a:r>
              <a:rPr lang="en-SG" sz="2000" b="1" dirty="0"/>
              <a:t>Structure:</a:t>
            </a:r>
          </a:p>
          <a:p>
            <a:r>
              <a:rPr lang="en-SG" sz="2000" dirty="0">
                <a:highlight>
                  <a:srgbClr val="FFFF00"/>
                </a:highlight>
              </a:rPr>
              <a:t>Goal is defined clearly</a:t>
            </a:r>
          </a:p>
          <a:p>
            <a:r>
              <a:rPr lang="en-SG" sz="2000" dirty="0">
                <a:highlight>
                  <a:srgbClr val="00FF00"/>
                </a:highlight>
              </a:rPr>
              <a:t>Output format is specified</a:t>
            </a:r>
          </a:p>
          <a:p>
            <a:r>
              <a:rPr lang="en-SG" sz="2000" dirty="0">
                <a:highlight>
                  <a:srgbClr val="00FFFF"/>
                </a:highlight>
              </a:rPr>
              <a:t>Method signature is outlined</a:t>
            </a:r>
          </a:p>
          <a:p>
            <a:r>
              <a:rPr lang="en-SG" sz="2000" dirty="0">
                <a:highlight>
                  <a:srgbClr val="FF00FF"/>
                </a:highlight>
              </a:rPr>
              <a:t>Database type and source provided</a:t>
            </a:r>
          </a:p>
          <a:p>
            <a:r>
              <a:rPr lang="en-SG" sz="2000" dirty="0">
                <a:highlight>
                  <a:srgbClr val="C0C0C0"/>
                </a:highlight>
              </a:rPr>
              <a:t>Table name and field name provided for SQL queries</a:t>
            </a:r>
          </a:p>
        </p:txBody>
      </p:sp>
      <p:sp>
        <p:nvSpPr>
          <p:cNvPr id="7" name="TextBox 6">
            <a:extLst>
              <a:ext uri="{FF2B5EF4-FFF2-40B4-BE49-F238E27FC236}">
                <a16:creationId xmlns:a16="http://schemas.microsoft.com/office/drawing/2014/main" id="{D3B4FD2E-8AD7-2096-49CB-1F0E26634FEE}"/>
              </a:ext>
            </a:extLst>
          </p:cNvPr>
          <p:cNvSpPr txBox="1"/>
          <p:nvPr/>
        </p:nvSpPr>
        <p:spPr>
          <a:xfrm>
            <a:off x="3342979" y="3922652"/>
            <a:ext cx="5550568" cy="923330"/>
          </a:xfrm>
          <a:prstGeom prst="rect">
            <a:avLst/>
          </a:prstGeom>
          <a:noFill/>
        </p:spPr>
        <p:txBody>
          <a:bodyPr wrap="square" rtlCol="0">
            <a:spAutoFit/>
          </a:bodyPr>
          <a:lstStyle/>
          <a:p>
            <a:r>
              <a:rPr lang="en-SG" dirty="0"/>
              <a:t>The better we structure our prompts, the better and more accurate our results will be. Providing context to the LLM also helps with better results</a:t>
            </a:r>
          </a:p>
        </p:txBody>
      </p:sp>
    </p:spTree>
    <p:extLst>
      <p:ext uri="{BB962C8B-B14F-4D97-AF65-F5344CB8AC3E}">
        <p14:creationId xmlns:p14="http://schemas.microsoft.com/office/powerpoint/2010/main" val="28387753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C7B5F-CD76-1053-E420-881FC33532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1D8324-319F-927A-D056-D28F1FCDC041}"/>
              </a:ext>
            </a:extLst>
          </p:cNvPr>
          <p:cNvSpPr>
            <a:spLocks noGrp="1"/>
          </p:cNvSpPr>
          <p:nvPr>
            <p:ph type="body" sz="quarter" idx="13"/>
          </p:nvPr>
        </p:nvSpPr>
        <p:spPr/>
        <p:txBody>
          <a:bodyPr/>
          <a:lstStyle/>
          <a:p>
            <a:endParaRPr lang="en-SG"/>
          </a:p>
        </p:txBody>
      </p:sp>
      <p:sp>
        <p:nvSpPr>
          <p:cNvPr id="3" name="Title 2">
            <a:extLst>
              <a:ext uri="{FF2B5EF4-FFF2-40B4-BE49-F238E27FC236}">
                <a16:creationId xmlns:a16="http://schemas.microsoft.com/office/drawing/2014/main" id="{FAAA8547-651C-86E4-D86E-C357EF2CBEF1}"/>
              </a:ext>
            </a:extLst>
          </p:cNvPr>
          <p:cNvSpPr>
            <a:spLocks noGrp="1"/>
          </p:cNvSpPr>
          <p:nvPr>
            <p:ph type="title"/>
          </p:nvPr>
        </p:nvSpPr>
        <p:spPr/>
        <p:txBody>
          <a:bodyPr/>
          <a:lstStyle/>
          <a:p>
            <a:r>
              <a:rPr lang="en-SG" dirty="0"/>
              <a:t>Code Review</a:t>
            </a:r>
          </a:p>
        </p:txBody>
      </p:sp>
    </p:spTree>
    <p:extLst>
      <p:ext uri="{BB962C8B-B14F-4D97-AF65-F5344CB8AC3E}">
        <p14:creationId xmlns:p14="http://schemas.microsoft.com/office/powerpoint/2010/main" val="3150766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616EF2-EECA-C31C-0101-543C6F6D03BD}"/>
              </a:ext>
            </a:extLst>
          </p:cNvPr>
          <p:cNvSpPr>
            <a:spLocks noGrp="1"/>
          </p:cNvSpPr>
          <p:nvPr>
            <p:ph type="title"/>
          </p:nvPr>
        </p:nvSpPr>
        <p:spPr>
          <a:xfrm>
            <a:off x="195577" y="243973"/>
            <a:ext cx="6966429" cy="623667"/>
          </a:xfrm>
        </p:spPr>
        <p:txBody>
          <a:bodyPr/>
          <a:lstStyle/>
          <a:p>
            <a:r>
              <a:rPr lang="en-SG" dirty="0"/>
              <a:t>Non-MVC vs MVC</a:t>
            </a:r>
          </a:p>
        </p:txBody>
      </p:sp>
      <p:pic>
        <p:nvPicPr>
          <p:cNvPr id="5" name="Picture 4">
            <a:extLst>
              <a:ext uri="{FF2B5EF4-FFF2-40B4-BE49-F238E27FC236}">
                <a16:creationId xmlns:a16="http://schemas.microsoft.com/office/drawing/2014/main" id="{7C43436D-7C5A-9A9E-81A6-6790F5A86C61}"/>
              </a:ext>
            </a:extLst>
          </p:cNvPr>
          <p:cNvPicPr>
            <a:picLocks noChangeAspect="1"/>
          </p:cNvPicPr>
          <p:nvPr/>
        </p:nvPicPr>
        <p:blipFill>
          <a:blip r:embed="rId2"/>
          <a:stretch>
            <a:fillRect/>
          </a:stretch>
        </p:blipFill>
        <p:spPr>
          <a:xfrm>
            <a:off x="195577" y="1390588"/>
            <a:ext cx="3165585" cy="4897793"/>
          </a:xfrm>
          <a:prstGeom prst="rect">
            <a:avLst/>
          </a:prstGeom>
        </p:spPr>
      </p:pic>
      <p:sp>
        <p:nvSpPr>
          <p:cNvPr id="8" name="TextBox 7">
            <a:extLst>
              <a:ext uri="{FF2B5EF4-FFF2-40B4-BE49-F238E27FC236}">
                <a16:creationId xmlns:a16="http://schemas.microsoft.com/office/drawing/2014/main" id="{57F1DD7C-9FD3-BB5A-6567-A9ACA2DFA191}"/>
              </a:ext>
            </a:extLst>
          </p:cNvPr>
          <p:cNvSpPr txBox="1"/>
          <p:nvPr/>
        </p:nvSpPr>
        <p:spPr>
          <a:xfrm>
            <a:off x="88321" y="1011380"/>
            <a:ext cx="3590470" cy="369332"/>
          </a:xfrm>
          <a:prstGeom prst="rect">
            <a:avLst/>
          </a:prstGeom>
          <a:noFill/>
        </p:spPr>
        <p:txBody>
          <a:bodyPr wrap="none" rtlCol="0">
            <a:spAutoFit/>
          </a:bodyPr>
          <a:lstStyle/>
          <a:p>
            <a:r>
              <a:rPr lang="en-SG" b="1" dirty="0"/>
              <a:t>Original app.js </a:t>
            </a:r>
            <a:r>
              <a:rPr lang="en-SG" dirty="0"/>
              <a:t>~173 lines of code</a:t>
            </a:r>
          </a:p>
        </p:txBody>
      </p:sp>
      <p:sp>
        <p:nvSpPr>
          <p:cNvPr id="9" name="TextBox 8">
            <a:extLst>
              <a:ext uri="{FF2B5EF4-FFF2-40B4-BE49-F238E27FC236}">
                <a16:creationId xmlns:a16="http://schemas.microsoft.com/office/drawing/2014/main" id="{6288B69B-FFFA-23E0-60B1-BC3888192577}"/>
              </a:ext>
            </a:extLst>
          </p:cNvPr>
          <p:cNvSpPr txBox="1"/>
          <p:nvPr/>
        </p:nvSpPr>
        <p:spPr>
          <a:xfrm>
            <a:off x="4497666" y="1183737"/>
            <a:ext cx="2552365" cy="369332"/>
          </a:xfrm>
          <a:prstGeom prst="rect">
            <a:avLst/>
          </a:prstGeom>
          <a:noFill/>
        </p:spPr>
        <p:txBody>
          <a:bodyPr wrap="none" rtlCol="0">
            <a:spAutoFit/>
          </a:bodyPr>
          <a:lstStyle/>
          <a:p>
            <a:r>
              <a:rPr lang="en-SG" b="1" dirty="0"/>
              <a:t>app.js </a:t>
            </a:r>
            <a:r>
              <a:rPr lang="en-SG" dirty="0"/>
              <a:t>~34 lines of code</a:t>
            </a:r>
          </a:p>
        </p:txBody>
      </p:sp>
      <p:pic>
        <p:nvPicPr>
          <p:cNvPr id="11" name="Picture 10">
            <a:extLst>
              <a:ext uri="{FF2B5EF4-FFF2-40B4-BE49-F238E27FC236}">
                <a16:creationId xmlns:a16="http://schemas.microsoft.com/office/drawing/2014/main" id="{B7E30A05-47A8-D61B-CA82-172EE9F96E60}"/>
              </a:ext>
            </a:extLst>
          </p:cNvPr>
          <p:cNvPicPr>
            <a:picLocks noChangeAspect="1"/>
          </p:cNvPicPr>
          <p:nvPr/>
        </p:nvPicPr>
        <p:blipFill>
          <a:blip r:embed="rId3"/>
          <a:stretch>
            <a:fillRect/>
          </a:stretch>
        </p:blipFill>
        <p:spPr>
          <a:xfrm>
            <a:off x="4497666" y="1553069"/>
            <a:ext cx="4311872" cy="4438878"/>
          </a:xfrm>
          <a:prstGeom prst="rect">
            <a:avLst/>
          </a:prstGeom>
        </p:spPr>
      </p:pic>
    </p:spTree>
    <p:extLst>
      <p:ext uri="{BB962C8B-B14F-4D97-AF65-F5344CB8AC3E}">
        <p14:creationId xmlns:p14="http://schemas.microsoft.com/office/powerpoint/2010/main" val="1518138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15688D-64D9-182A-1906-9955DD1E162A}"/>
              </a:ext>
            </a:extLst>
          </p:cNvPr>
          <p:cNvSpPr>
            <a:spLocks noGrp="1"/>
          </p:cNvSpPr>
          <p:nvPr>
            <p:ph type="body" sz="quarter" idx="14"/>
          </p:nvPr>
        </p:nvSpPr>
        <p:spPr/>
        <p:txBody>
          <a:bodyPr/>
          <a:lstStyle/>
          <a:p>
            <a:r>
              <a:rPr lang="en-SG" dirty="0"/>
              <a:t>What happened to all the code in the original </a:t>
            </a:r>
            <a:r>
              <a:rPr lang="en-SG" b="1" dirty="0"/>
              <a:t>app.js </a:t>
            </a:r>
            <a:r>
              <a:rPr lang="en-SG" dirty="0"/>
              <a:t>from </a:t>
            </a:r>
            <a:r>
              <a:rPr lang="en-SG" b="1" dirty="0" err="1"/>
              <a:t>StudentApp</a:t>
            </a:r>
            <a:r>
              <a:rPr lang="en-SG" dirty="0"/>
              <a:t>?</a:t>
            </a:r>
          </a:p>
          <a:p>
            <a:endParaRPr lang="en-SG" dirty="0"/>
          </a:p>
          <a:p>
            <a:endParaRPr lang="en-SG" dirty="0"/>
          </a:p>
          <a:p>
            <a:endParaRPr lang="en-SG" dirty="0"/>
          </a:p>
        </p:txBody>
      </p:sp>
      <p:sp>
        <p:nvSpPr>
          <p:cNvPr id="3" name="Title 2">
            <a:extLst>
              <a:ext uri="{FF2B5EF4-FFF2-40B4-BE49-F238E27FC236}">
                <a16:creationId xmlns:a16="http://schemas.microsoft.com/office/drawing/2014/main" id="{66E184F5-65BE-E95C-A544-AE36941D9637}"/>
              </a:ext>
            </a:extLst>
          </p:cNvPr>
          <p:cNvSpPr>
            <a:spLocks noGrp="1"/>
          </p:cNvSpPr>
          <p:nvPr>
            <p:ph type="title"/>
          </p:nvPr>
        </p:nvSpPr>
        <p:spPr/>
        <p:txBody>
          <a:bodyPr/>
          <a:lstStyle/>
          <a:p>
            <a:r>
              <a:rPr lang="en-SG" dirty="0"/>
              <a:t>Exercise 7</a:t>
            </a:r>
          </a:p>
        </p:txBody>
      </p:sp>
    </p:spTree>
    <p:extLst>
      <p:ext uri="{BB962C8B-B14F-4D97-AF65-F5344CB8AC3E}">
        <p14:creationId xmlns:p14="http://schemas.microsoft.com/office/powerpoint/2010/main" val="3985720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6441F-47CD-BF18-A86B-D7B65CB998E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1180B12-0996-AB77-5D75-D9D5F2FB650C}"/>
              </a:ext>
            </a:extLst>
          </p:cNvPr>
          <p:cNvSpPr>
            <a:spLocks noGrp="1"/>
          </p:cNvSpPr>
          <p:nvPr>
            <p:ph type="body" sz="quarter" idx="14"/>
          </p:nvPr>
        </p:nvSpPr>
        <p:spPr/>
        <p:txBody>
          <a:bodyPr/>
          <a:lstStyle/>
          <a:p>
            <a:r>
              <a:rPr lang="en-SG" dirty="0"/>
              <a:t>What happened to all the code in the original </a:t>
            </a:r>
            <a:r>
              <a:rPr lang="en-SG" b="1" dirty="0"/>
              <a:t>app.js </a:t>
            </a:r>
            <a:r>
              <a:rPr lang="en-SG" dirty="0"/>
              <a:t>from </a:t>
            </a:r>
            <a:r>
              <a:rPr lang="en-SG" b="1" dirty="0" err="1"/>
              <a:t>StudentApp</a:t>
            </a:r>
            <a:r>
              <a:rPr lang="en-SG" dirty="0"/>
              <a:t>?</a:t>
            </a:r>
          </a:p>
          <a:p>
            <a:endParaRPr lang="en-SG" dirty="0"/>
          </a:p>
          <a:p>
            <a:r>
              <a:rPr lang="en-US" dirty="0">
                <a:solidFill>
                  <a:srgbClr val="0070C0"/>
                </a:solidFill>
              </a:rPr>
              <a:t>Previously, app.js file handled everything—from retrieving and storing data to processing user input and updating views.</a:t>
            </a:r>
            <a:br>
              <a:rPr lang="en-US" dirty="0">
                <a:solidFill>
                  <a:srgbClr val="0070C0"/>
                </a:solidFill>
              </a:rPr>
            </a:br>
            <a:r>
              <a:rPr lang="en-US" dirty="0">
                <a:solidFill>
                  <a:srgbClr val="0070C0"/>
                </a:solidFill>
              </a:rPr>
              <a:t>Now, app.js is streamlined to define routes only. These routes trigger the appropriate controller functions, which in turn interact with the relevant models to handle data operations.</a:t>
            </a:r>
          </a:p>
          <a:p>
            <a:endParaRPr lang="en-SG" dirty="0"/>
          </a:p>
          <a:p>
            <a:endParaRPr lang="en-SG" dirty="0"/>
          </a:p>
        </p:txBody>
      </p:sp>
      <p:sp>
        <p:nvSpPr>
          <p:cNvPr id="3" name="Title 2">
            <a:extLst>
              <a:ext uri="{FF2B5EF4-FFF2-40B4-BE49-F238E27FC236}">
                <a16:creationId xmlns:a16="http://schemas.microsoft.com/office/drawing/2014/main" id="{5A185852-DA47-03BC-C42E-E34E87460ED6}"/>
              </a:ext>
            </a:extLst>
          </p:cNvPr>
          <p:cNvSpPr>
            <a:spLocks noGrp="1"/>
          </p:cNvSpPr>
          <p:nvPr>
            <p:ph type="title"/>
          </p:nvPr>
        </p:nvSpPr>
        <p:spPr/>
        <p:txBody>
          <a:bodyPr/>
          <a:lstStyle/>
          <a:p>
            <a:r>
              <a:rPr lang="en-SG" dirty="0"/>
              <a:t>Exercise 7</a:t>
            </a:r>
          </a:p>
        </p:txBody>
      </p:sp>
    </p:spTree>
    <p:extLst>
      <p:ext uri="{BB962C8B-B14F-4D97-AF65-F5344CB8AC3E}">
        <p14:creationId xmlns:p14="http://schemas.microsoft.com/office/powerpoint/2010/main" val="26851756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0F54A5-7519-D55C-F0AA-050A158E2B34}"/>
              </a:ext>
            </a:extLst>
          </p:cNvPr>
          <p:cNvSpPr>
            <a:spLocks noGrp="1"/>
          </p:cNvSpPr>
          <p:nvPr>
            <p:ph type="body" sz="quarter" idx="14"/>
          </p:nvPr>
        </p:nvSpPr>
        <p:spPr/>
        <p:txBody>
          <a:bodyPr/>
          <a:lstStyle/>
          <a:p>
            <a:r>
              <a:rPr lang="en-SG" dirty="0"/>
              <a:t>Using Copilot in </a:t>
            </a:r>
            <a:r>
              <a:rPr lang="en-SG" dirty="0" err="1"/>
              <a:t>VSCode</a:t>
            </a:r>
            <a:r>
              <a:rPr lang="en-SG" dirty="0"/>
              <a:t>, compare </a:t>
            </a:r>
            <a:r>
              <a:rPr lang="en-SG" b="1" dirty="0"/>
              <a:t>app.js </a:t>
            </a:r>
            <a:r>
              <a:rPr lang="en-SG" dirty="0"/>
              <a:t>from </a:t>
            </a:r>
            <a:r>
              <a:rPr lang="en-SG" b="1" dirty="0" err="1"/>
              <a:t>StudentApp</a:t>
            </a:r>
            <a:r>
              <a:rPr lang="en-SG" dirty="0"/>
              <a:t> and </a:t>
            </a:r>
            <a:r>
              <a:rPr lang="en-SG" b="1" dirty="0"/>
              <a:t>app.js </a:t>
            </a:r>
            <a:r>
              <a:rPr lang="en-SG" dirty="0"/>
              <a:t>from </a:t>
            </a:r>
            <a:r>
              <a:rPr lang="en-SG" b="1" dirty="0" err="1"/>
              <a:t>StudentAppMVC</a:t>
            </a:r>
            <a:r>
              <a:rPr lang="en-SG" dirty="0"/>
              <a:t>.</a:t>
            </a:r>
          </a:p>
          <a:p>
            <a:endParaRPr lang="en-SG" dirty="0"/>
          </a:p>
          <a:p>
            <a:r>
              <a:rPr lang="en-US" dirty="0"/>
              <a:t>What prompt did you use?</a:t>
            </a:r>
          </a:p>
          <a:p>
            <a:endParaRPr lang="en-US" dirty="0"/>
          </a:p>
          <a:p>
            <a:r>
              <a:rPr lang="en-US" dirty="0"/>
              <a:t>Did you include any context? If so, what was it?</a:t>
            </a:r>
          </a:p>
          <a:p>
            <a:endParaRPr lang="en-US" dirty="0"/>
          </a:p>
          <a:p>
            <a:r>
              <a:rPr lang="en-US" dirty="0"/>
              <a:t>What response did you receive?</a:t>
            </a:r>
            <a:r>
              <a:rPr lang="en-SG" dirty="0"/>
              <a:t> </a:t>
            </a:r>
          </a:p>
          <a:p>
            <a:endParaRPr lang="en-SG" dirty="0"/>
          </a:p>
          <a:p>
            <a:pPr marL="342900" indent="-342900">
              <a:buAutoNum type="alphaLcParenR"/>
            </a:pPr>
            <a:endParaRPr lang="en-SG" dirty="0"/>
          </a:p>
          <a:p>
            <a:endParaRPr lang="en-SG" dirty="0"/>
          </a:p>
        </p:txBody>
      </p:sp>
      <p:sp>
        <p:nvSpPr>
          <p:cNvPr id="3" name="Title 2">
            <a:extLst>
              <a:ext uri="{FF2B5EF4-FFF2-40B4-BE49-F238E27FC236}">
                <a16:creationId xmlns:a16="http://schemas.microsoft.com/office/drawing/2014/main" id="{AC2854FB-6791-0E09-1CBC-27C455DE71A9}"/>
              </a:ext>
            </a:extLst>
          </p:cNvPr>
          <p:cNvSpPr>
            <a:spLocks noGrp="1"/>
          </p:cNvSpPr>
          <p:nvPr>
            <p:ph type="title"/>
          </p:nvPr>
        </p:nvSpPr>
        <p:spPr/>
        <p:txBody>
          <a:bodyPr/>
          <a:lstStyle/>
          <a:p>
            <a:r>
              <a:rPr lang="en-SG" dirty="0"/>
              <a:t>Exercise 8</a:t>
            </a:r>
          </a:p>
        </p:txBody>
      </p:sp>
    </p:spTree>
    <p:extLst>
      <p:ext uri="{BB962C8B-B14F-4D97-AF65-F5344CB8AC3E}">
        <p14:creationId xmlns:p14="http://schemas.microsoft.com/office/powerpoint/2010/main" val="3465005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D549B0-ED94-5581-FC4B-77937B9E9D1C}"/>
              </a:ext>
            </a:extLst>
          </p:cNvPr>
          <p:cNvSpPr>
            <a:spLocks noGrp="1"/>
          </p:cNvSpPr>
          <p:nvPr>
            <p:ph type="body" sz="quarter" idx="14"/>
          </p:nvPr>
        </p:nvSpPr>
        <p:spPr/>
        <p:txBody>
          <a:bodyPr/>
          <a:lstStyle/>
          <a:p>
            <a:endParaRPr lang="en-SG" dirty="0"/>
          </a:p>
        </p:txBody>
      </p:sp>
      <p:sp>
        <p:nvSpPr>
          <p:cNvPr id="3" name="Title 2">
            <a:extLst>
              <a:ext uri="{FF2B5EF4-FFF2-40B4-BE49-F238E27FC236}">
                <a16:creationId xmlns:a16="http://schemas.microsoft.com/office/drawing/2014/main" id="{D27ACE11-A496-F960-EB5B-873676A45601}"/>
              </a:ext>
            </a:extLst>
          </p:cNvPr>
          <p:cNvSpPr>
            <a:spLocks noGrp="1"/>
          </p:cNvSpPr>
          <p:nvPr>
            <p:ph type="title"/>
          </p:nvPr>
        </p:nvSpPr>
        <p:spPr/>
        <p:txBody>
          <a:bodyPr/>
          <a:lstStyle/>
          <a:p>
            <a:r>
              <a:rPr lang="en-SG" dirty="0"/>
              <a:t>Exercise 8 - Sample Response</a:t>
            </a:r>
          </a:p>
        </p:txBody>
      </p:sp>
      <p:pic>
        <p:nvPicPr>
          <p:cNvPr id="7" name="Picture 6">
            <a:extLst>
              <a:ext uri="{FF2B5EF4-FFF2-40B4-BE49-F238E27FC236}">
                <a16:creationId xmlns:a16="http://schemas.microsoft.com/office/drawing/2014/main" id="{C7674550-A3C3-7135-C073-B99AF2A8FEF4}"/>
              </a:ext>
            </a:extLst>
          </p:cNvPr>
          <p:cNvPicPr>
            <a:picLocks noChangeAspect="1"/>
          </p:cNvPicPr>
          <p:nvPr/>
        </p:nvPicPr>
        <p:blipFill>
          <a:blip r:embed="rId3"/>
          <a:stretch>
            <a:fillRect/>
          </a:stretch>
        </p:blipFill>
        <p:spPr>
          <a:xfrm>
            <a:off x="649214" y="1316347"/>
            <a:ext cx="3658340" cy="5411793"/>
          </a:xfrm>
          <a:prstGeom prst="rect">
            <a:avLst/>
          </a:prstGeom>
        </p:spPr>
      </p:pic>
    </p:spTree>
    <p:extLst>
      <p:ext uri="{BB962C8B-B14F-4D97-AF65-F5344CB8AC3E}">
        <p14:creationId xmlns:p14="http://schemas.microsoft.com/office/powerpoint/2010/main" val="35555209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61ADD7-2995-D533-4F32-8FADEBAC425C}"/>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6FD40B90-CB60-4252-1BBC-27A1DF3EE3FC}"/>
              </a:ext>
            </a:extLst>
          </p:cNvPr>
          <p:cNvSpPr>
            <a:spLocks noGrp="1"/>
          </p:cNvSpPr>
          <p:nvPr>
            <p:ph type="title"/>
          </p:nvPr>
        </p:nvSpPr>
        <p:spPr/>
        <p:txBody>
          <a:bodyPr/>
          <a:lstStyle/>
          <a:p>
            <a:r>
              <a:rPr lang="en-SG" dirty="0"/>
              <a:t>Model – Student Object</a:t>
            </a:r>
          </a:p>
        </p:txBody>
      </p:sp>
      <p:pic>
        <p:nvPicPr>
          <p:cNvPr id="5" name="Picture 4">
            <a:extLst>
              <a:ext uri="{FF2B5EF4-FFF2-40B4-BE49-F238E27FC236}">
                <a16:creationId xmlns:a16="http://schemas.microsoft.com/office/drawing/2014/main" id="{B82F6F4D-5E3E-4C58-88D8-AA8DF3EE5A5F}"/>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C9C7C8F3-2CE8-E43F-6BE4-7564515B739B}"/>
              </a:ext>
            </a:extLst>
          </p:cNvPr>
          <p:cNvSpPr txBox="1"/>
          <p:nvPr/>
        </p:nvSpPr>
        <p:spPr>
          <a:xfrm>
            <a:off x="483840" y="2678843"/>
            <a:ext cx="2822644" cy="1200329"/>
          </a:xfrm>
          <a:prstGeom prst="rect">
            <a:avLst/>
          </a:prstGeom>
          <a:noFill/>
        </p:spPr>
        <p:txBody>
          <a:bodyPr wrap="square" rtlCol="0">
            <a:spAutoFit/>
          </a:bodyPr>
          <a:lstStyle/>
          <a:p>
            <a:r>
              <a:rPr lang="en-US" sz="1200" dirty="0"/>
              <a:t>Imports the database connection or configuration from a file named </a:t>
            </a:r>
            <a:r>
              <a:rPr lang="en-US" sz="1200" b="1" dirty="0"/>
              <a:t>db.js </a:t>
            </a:r>
            <a:r>
              <a:rPr lang="en-US" sz="1200" dirty="0"/>
              <a:t>located in the parent directory.</a:t>
            </a:r>
          </a:p>
          <a:p>
            <a:endParaRPr lang="en-US" sz="1200" dirty="0"/>
          </a:p>
          <a:p>
            <a:r>
              <a:rPr lang="en-US" sz="1200" dirty="0"/>
              <a:t>This </a:t>
            </a:r>
            <a:r>
              <a:rPr lang="en-US" sz="1200" b="1" dirty="0" err="1"/>
              <a:t>db</a:t>
            </a:r>
            <a:r>
              <a:rPr lang="en-US" sz="1200" dirty="0"/>
              <a:t> object is used to execute SQL queries.</a:t>
            </a:r>
            <a:endParaRPr lang="en-SG" sz="1200" dirty="0"/>
          </a:p>
        </p:txBody>
      </p:sp>
      <p:sp>
        <p:nvSpPr>
          <p:cNvPr id="7" name="Rectangle 6">
            <a:extLst>
              <a:ext uri="{FF2B5EF4-FFF2-40B4-BE49-F238E27FC236}">
                <a16:creationId xmlns:a16="http://schemas.microsoft.com/office/drawing/2014/main" id="{4BCFDFAE-F166-ADFF-87DA-3B7F3E730172}"/>
              </a:ext>
            </a:extLst>
          </p:cNvPr>
          <p:cNvSpPr/>
          <p:nvPr/>
        </p:nvSpPr>
        <p:spPr>
          <a:xfrm>
            <a:off x="3646968" y="2812026"/>
            <a:ext cx="1642788" cy="21630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2062828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04E9-3D40-3197-78B4-8C4F752126E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60890E-C01A-4A23-7B90-2CE0CD215A3F}"/>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82757D2C-AF07-10A2-6250-1DDBFC5D0F4D}"/>
              </a:ext>
            </a:extLst>
          </p:cNvPr>
          <p:cNvSpPr>
            <a:spLocks noGrp="1"/>
          </p:cNvSpPr>
          <p:nvPr>
            <p:ph type="title"/>
          </p:nvPr>
        </p:nvSpPr>
        <p:spPr/>
        <p:txBody>
          <a:bodyPr/>
          <a:lstStyle/>
          <a:p>
            <a:r>
              <a:rPr lang="en-SG" dirty="0"/>
              <a:t>Model – Student Object</a:t>
            </a:r>
          </a:p>
        </p:txBody>
      </p:sp>
      <p:pic>
        <p:nvPicPr>
          <p:cNvPr id="5" name="Picture 4">
            <a:extLst>
              <a:ext uri="{FF2B5EF4-FFF2-40B4-BE49-F238E27FC236}">
                <a16:creationId xmlns:a16="http://schemas.microsoft.com/office/drawing/2014/main" id="{6EB4514E-E4D3-7767-ECD5-6F0D8211E245}"/>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21B05881-BE5C-D57C-1E91-F5B9E75F45AF}"/>
              </a:ext>
            </a:extLst>
          </p:cNvPr>
          <p:cNvSpPr txBox="1"/>
          <p:nvPr/>
        </p:nvSpPr>
        <p:spPr>
          <a:xfrm>
            <a:off x="547524" y="3091233"/>
            <a:ext cx="2456121" cy="1015663"/>
          </a:xfrm>
          <a:prstGeom prst="rect">
            <a:avLst/>
          </a:prstGeom>
          <a:noFill/>
        </p:spPr>
        <p:txBody>
          <a:bodyPr wrap="square" rtlCol="0">
            <a:spAutoFit/>
          </a:bodyPr>
          <a:lstStyle/>
          <a:p>
            <a:r>
              <a:rPr lang="en-US" sz="1200" b="1" dirty="0"/>
              <a:t>const Student = {…} </a:t>
            </a:r>
            <a:r>
              <a:rPr lang="en-US" sz="1200" dirty="0"/>
              <a:t>creates an object named Student that groups all student-related database operations (CRUD functions).</a:t>
            </a:r>
          </a:p>
          <a:p>
            <a:endParaRPr lang="en-SG" sz="1200" dirty="0"/>
          </a:p>
        </p:txBody>
      </p:sp>
      <p:sp>
        <p:nvSpPr>
          <p:cNvPr id="7" name="Rectangle 6">
            <a:extLst>
              <a:ext uri="{FF2B5EF4-FFF2-40B4-BE49-F238E27FC236}">
                <a16:creationId xmlns:a16="http://schemas.microsoft.com/office/drawing/2014/main" id="{A8A585C2-8284-587A-3AA8-E01C14EE56B7}"/>
              </a:ext>
            </a:extLst>
          </p:cNvPr>
          <p:cNvSpPr/>
          <p:nvPr/>
        </p:nvSpPr>
        <p:spPr>
          <a:xfrm>
            <a:off x="3646967" y="3051543"/>
            <a:ext cx="4805917" cy="32854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34755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8986F-E0EB-2AEE-A1DC-04E45711BDD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8FFCF50-7205-C184-C967-BAFB6D4936DB}"/>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97C26E01-2E17-5F9F-6344-472CF09D423E}"/>
              </a:ext>
            </a:extLst>
          </p:cNvPr>
          <p:cNvSpPr>
            <a:spLocks noGrp="1"/>
          </p:cNvSpPr>
          <p:nvPr>
            <p:ph type="title"/>
          </p:nvPr>
        </p:nvSpPr>
        <p:spPr/>
        <p:txBody>
          <a:bodyPr/>
          <a:lstStyle/>
          <a:p>
            <a:r>
              <a:rPr lang="en-SG" dirty="0"/>
              <a:t>Model – Get all students</a:t>
            </a:r>
          </a:p>
        </p:txBody>
      </p:sp>
      <p:pic>
        <p:nvPicPr>
          <p:cNvPr id="5" name="Picture 4">
            <a:extLst>
              <a:ext uri="{FF2B5EF4-FFF2-40B4-BE49-F238E27FC236}">
                <a16:creationId xmlns:a16="http://schemas.microsoft.com/office/drawing/2014/main" id="{AE6A7ADD-A675-A060-B71E-6B0EE5D74D4C}"/>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C051B633-754D-36AA-FC60-4CEC900E8848}"/>
              </a:ext>
            </a:extLst>
          </p:cNvPr>
          <p:cNvSpPr txBox="1"/>
          <p:nvPr/>
        </p:nvSpPr>
        <p:spPr>
          <a:xfrm>
            <a:off x="547524" y="3156516"/>
            <a:ext cx="2456121" cy="1384995"/>
          </a:xfrm>
          <a:prstGeom prst="rect">
            <a:avLst/>
          </a:prstGeom>
          <a:noFill/>
        </p:spPr>
        <p:txBody>
          <a:bodyPr wrap="square" rtlCol="0">
            <a:spAutoFit/>
          </a:bodyPr>
          <a:lstStyle/>
          <a:p>
            <a:r>
              <a:rPr lang="en-US" sz="1200" b="1" dirty="0" err="1"/>
              <a:t>getAll</a:t>
            </a:r>
            <a:r>
              <a:rPr lang="en-US" sz="1200" dirty="0"/>
              <a:t> is a method to retrieve all student records from the </a:t>
            </a:r>
            <a:r>
              <a:rPr lang="en-US" sz="1200" b="1" dirty="0"/>
              <a:t>students</a:t>
            </a:r>
            <a:r>
              <a:rPr lang="en-US" sz="1200" dirty="0"/>
              <a:t> table.</a:t>
            </a:r>
          </a:p>
          <a:p>
            <a:endParaRPr lang="en-US" sz="1200" dirty="0"/>
          </a:p>
          <a:p>
            <a:r>
              <a:rPr lang="en-US" sz="1200" dirty="0"/>
              <a:t>When the SQL query</a:t>
            </a:r>
            <a:r>
              <a:rPr lang="en-US" sz="1200" b="1" dirty="0"/>
              <a:t> </a:t>
            </a:r>
            <a:r>
              <a:rPr lang="en-US" sz="1200" dirty="0"/>
              <a:t>is executed, the result (or error) to the provided callback function.</a:t>
            </a:r>
            <a:endParaRPr lang="en-SG" sz="1200" dirty="0"/>
          </a:p>
        </p:txBody>
      </p:sp>
      <p:sp>
        <p:nvSpPr>
          <p:cNvPr id="7" name="Rectangle 6">
            <a:extLst>
              <a:ext uri="{FF2B5EF4-FFF2-40B4-BE49-F238E27FC236}">
                <a16:creationId xmlns:a16="http://schemas.microsoft.com/office/drawing/2014/main" id="{DE028253-4E0B-5C01-8666-B8F889E51EA5}"/>
              </a:ext>
            </a:extLst>
          </p:cNvPr>
          <p:cNvSpPr/>
          <p:nvPr/>
        </p:nvSpPr>
        <p:spPr>
          <a:xfrm>
            <a:off x="3923413" y="3167149"/>
            <a:ext cx="2636874" cy="3947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836722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98B68-208C-88E8-C511-A5CD5173BD4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7D584C4-28DB-36C0-F1B0-587CA65116E0}"/>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EC6AF81A-8B2C-2671-E86B-5D9BC86BF75F}"/>
              </a:ext>
            </a:extLst>
          </p:cNvPr>
          <p:cNvSpPr>
            <a:spLocks noGrp="1"/>
          </p:cNvSpPr>
          <p:nvPr>
            <p:ph type="title"/>
          </p:nvPr>
        </p:nvSpPr>
        <p:spPr/>
        <p:txBody>
          <a:bodyPr/>
          <a:lstStyle/>
          <a:p>
            <a:r>
              <a:rPr lang="en-SG" dirty="0"/>
              <a:t>Model – Get student by ID</a:t>
            </a:r>
          </a:p>
        </p:txBody>
      </p:sp>
      <p:pic>
        <p:nvPicPr>
          <p:cNvPr id="5" name="Picture 4">
            <a:extLst>
              <a:ext uri="{FF2B5EF4-FFF2-40B4-BE49-F238E27FC236}">
                <a16:creationId xmlns:a16="http://schemas.microsoft.com/office/drawing/2014/main" id="{D409B103-B722-EBA0-906C-B9C8E1F05C91}"/>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BF9953A1-8412-4C7D-8FC1-A015E1AE7BE7}"/>
              </a:ext>
            </a:extLst>
          </p:cNvPr>
          <p:cNvSpPr txBox="1"/>
          <p:nvPr/>
        </p:nvSpPr>
        <p:spPr>
          <a:xfrm>
            <a:off x="547524" y="3156516"/>
            <a:ext cx="2456121" cy="1384995"/>
          </a:xfrm>
          <a:prstGeom prst="rect">
            <a:avLst/>
          </a:prstGeom>
          <a:noFill/>
        </p:spPr>
        <p:txBody>
          <a:bodyPr wrap="square" rtlCol="0">
            <a:spAutoFit/>
          </a:bodyPr>
          <a:lstStyle/>
          <a:p>
            <a:r>
              <a:rPr lang="en-US" sz="1200" b="1" dirty="0" err="1"/>
              <a:t>getById</a:t>
            </a:r>
            <a:r>
              <a:rPr lang="en-US" sz="1200" dirty="0"/>
              <a:t> is a method to fetch a single student by their </a:t>
            </a:r>
            <a:r>
              <a:rPr lang="en-US" sz="1200" b="1" dirty="0" err="1"/>
              <a:t>studentId</a:t>
            </a:r>
            <a:r>
              <a:rPr lang="en-US" sz="1200" dirty="0"/>
              <a:t> from the </a:t>
            </a:r>
            <a:r>
              <a:rPr lang="en-US" sz="1200" b="1" dirty="0"/>
              <a:t>students</a:t>
            </a:r>
            <a:r>
              <a:rPr lang="en-US" sz="1200" dirty="0"/>
              <a:t> table.</a:t>
            </a:r>
          </a:p>
          <a:p>
            <a:endParaRPr lang="en-US" sz="1200" dirty="0"/>
          </a:p>
          <a:p>
            <a:r>
              <a:rPr lang="en-US" sz="1200" dirty="0"/>
              <a:t>When the SQL query</a:t>
            </a:r>
            <a:r>
              <a:rPr lang="en-US" sz="1200" b="1" dirty="0"/>
              <a:t> </a:t>
            </a:r>
            <a:r>
              <a:rPr lang="en-US" sz="1200" dirty="0"/>
              <a:t>is executed, the result (or error) to the provided callback function.</a:t>
            </a:r>
            <a:endParaRPr lang="en-SG" sz="1200" dirty="0"/>
          </a:p>
        </p:txBody>
      </p:sp>
      <p:sp>
        <p:nvSpPr>
          <p:cNvPr id="7" name="Rectangle 6">
            <a:extLst>
              <a:ext uri="{FF2B5EF4-FFF2-40B4-BE49-F238E27FC236}">
                <a16:creationId xmlns:a16="http://schemas.microsoft.com/office/drawing/2014/main" id="{FEB02366-30DC-DC78-45E1-8A4C350B0BCB}"/>
              </a:ext>
            </a:extLst>
          </p:cNvPr>
          <p:cNvSpPr/>
          <p:nvPr/>
        </p:nvSpPr>
        <p:spPr>
          <a:xfrm>
            <a:off x="3923412" y="3551274"/>
            <a:ext cx="4199861" cy="6060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128554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D69A5-53C4-FB44-0110-AB082210CA6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AE2B75-39D7-D787-4C92-8AC210FFCA96}"/>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531D3BC8-74B0-AC9E-CF8C-54837797F959}"/>
              </a:ext>
            </a:extLst>
          </p:cNvPr>
          <p:cNvSpPr>
            <a:spLocks noGrp="1"/>
          </p:cNvSpPr>
          <p:nvPr>
            <p:ph type="title"/>
          </p:nvPr>
        </p:nvSpPr>
        <p:spPr/>
        <p:txBody>
          <a:bodyPr/>
          <a:lstStyle/>
          <a:p>
            <a:r>
              <a:rPr lang="en-SG" dirty="0"/>
              <a:t>Model – Add new student</a:t>
            </a:r>
          </a:p>
        </p:txBody>
      </p:sp>
      <p:pic>
        <p:nvPicPr>
          <p:cNvPr id="5" name="Picture 4">
            <a:extLst>
              <a:ext uri="{FF2B5EF4-FFF2-40B4-BE49-F238E27FC236}">
                <a16:creationId xmlns:a16="http://schemas.microsoft.com/office/drawing/2014/main" id="{E4EB9E9B-C12B-1653-4D65-7E3B6EDD8D9D}"/>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93CDF0C0-9470-B692-A525-7F8D5AE1AD19}"/>
              </a:ext>
            </a:extLst>
          </p:cNvPr>
          <p:cNvSpPr txBox="1"/>
          <p:nvPr/>
        </p:nvSpPr>
        <p:spPr>
          <a:xfrm>
            <a:off x="547524" y="3879172"/>
            <a:ext cx="2456121" cy="1384995"/>
          </a:xfrm>
          <a:prstGeom prst="rect">
            <a:avLst/>
          </a:prstGeom>
          <a:noFill/>
        </p:spPr>
        <p:txBody>
          <a:bodyPr wrap="square" rtlCol="0">
            <a:spAutoFit/>
          </a:bodyPr>
          <a:lstStyle/>
          <a:p>
            <a:r>
              <a:rPr lang="en-US" sz="1200" b="1" dirty="0"/>
              <a:t>add</a:t>
            </a:r>
            <a:r>
              <a:rPr lang="en-US" sz="1200" dirty="0"/>
              <a:t> is a method to insert a new student record to the </a:t>
            </a:r>
            <a:r>
              <a:rPr lang="en-US" sz="1200" b="1" dirty="0"/>
              <a:t>students</a:t>
            </a:r>
            <a:r>
              <a:rPr lang="en-US" sz="1200" dirty="0"/>
              <a:t> table using </a:t>
            </a:r>
            <a:r>
              <a:rPr lang="en-US" sz="1200" b="1" dirty="0" err="1"/>
              <a:t>studentData</a:t>
            </a:r>
            <a:r>
              <a:rPr lang="en-US" sz="1200" dirty="0"/>
              <a:t>.</a:t>
            </a:r>
          </a:p>
          <a:p>
            <a:endParaRPr lang="en-US" sz="1200" dirty="0"/>
          </a:p>
          <a:p>
            <a:r>
              <a:rPr lang="en-US" sz="1200" dirty="0"/>
              <a:t>When the SQL query</a:t>
            </a:r>
            <a:r>
              <a:rPr lang="en-US" sz="1200" b="1" dirty="0"/>
              <a:t> </a:t>
            </a:r>
            <a:r>
              <a:rPr lang="en-US" sz="1200" dirty="0"/>
              <a:t>is executed, the result (or error) to the provided callback function.</a:t>
            </a:r>
            <a:endParaRPr lang="en-SG" sz="1200" dirty="0"/>
          </a:p>
        </p:txBody>
      </p:sp>
      <p:sp>
        <p:nvSpPr>
          <p:cNvPr id="7" name="Rectangle 6">
            <a:extLst>
              <a:ext uri="{FF2B5EF4-FFF2-40B4-BE49-F238E27FC236}">
                <a16:creationId xmlns:a16="http://schemas.microsoft.com/office/drawing/2014/main" id="{B1726EF2-4AA6-B832-9863-700A83C6C1BC}"/>
              </a:ext>
            </a:extLst>
          </p:cNvPr>
          <p:cNvSpPr/>
          <p:nvPr/>
        </p:nvSpPr>
        <p:spPr>
          <a:xfrm>
            <a:off x="3923412" y="4125432"/>
            <a:ext cx="4199861" cy="8469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473619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98661-8802-059F-4447-DE45CE09809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BC09CC-1AF1-3AE3-FA2C-A0B2755E36D0}"/>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0F0E53C4-BE38-C3D8-BEF8-1C1EB9B1F4C5}"/>
              </a:ext>
            </a:extLst>
          </p:cNvPr>
          <p:cNvSpPr>
            <a:spLocks noGrp="1"/>
          </p:cNvSpPr>
          <p:nvPr>
            <p:ph type="title"/>
          </p:nvPr>
        </p:nvSpPr>
        <p:spPr/>
        <p:txBody>
          <a:bodyPr/>
          <a:lstStyle/>
          <a:p>
            <a:r>
              <a:rPr lang="en-SG" dirty="0"/>
              <a:t>Model – Update student by ID</a:t>
            </a:r>
          </a:p>
        </p:txBody>
      </p:sp>
      <p:pic>
        <p:nvPicPr>
          <p:cNvPr id="5" name="Picture 4">
            <a:extLst>
              <a:ext uri="{FF2B5EF4-FFF2-40B4-BE49-F238E27FC236}">
                <a16:creationId xmlns:a16="http://schemas.microsoft.com/office/drawing/2014/main" id="{0B62CC01-24C2-5EB7-CEF1-AFD1958D4973}"/>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C94EF1B1-AEC3-9AFC-C5CE-D876173E60A9}"/>
              </a:ext>
            </a:extLst>
          </p:cNvPr>
          <p:cNvSpPr txBox="1"/>
          <p:nvPr/>
        </p:nvSpPr>
        <p:spPr>
          <a:xfrm>
            <a:off x="547524" y="4595660"/>
            <a:ext cx="2456121" cy="1569660"/>
          </a:xfrm>
          <a:prstGeom prst="rect">
            <a:avLst/>
          </a:prstGeom>
          <a:noFill/>
        </p:spPr>
        <p:txBody>
          <a:bodyPr wrap="square" rtlCol="0">
            <a:spAutoFit/>
          </a:bodyPr>
          <a:lstStyle/>
          <a:p>
            <a:r>
              <a:rPr lang="en-US" sz="1200" b="1" dirty="0"/>
              <a:t>update</a:t>
            </a:r>
            <a:r>
              <a:rPr lang="en-US" sz="1200" dirty="0"/>
              <a:t> is a method to modify an existing student record matching the given </a:t>
            </a:r>
            <a:r>
              <a:rPr lang="en-US" sz="1200" b="1" dirty="0"/>
              <a:t>id</a:t>
            </a:r>
            <a:r>
              <a:rPr lang="en-US" sz="1200" dirty="0"/>
              <a:t> in the </a:t>
            </a:r>
            <a:r>
              <a:rPr lang="en-US" sz="1200" b="1" dirty="0"/>
              <a:t>students</a:t>
            </a:r>
            <a:r>
              <a:rPr lang="en-US" sz="1200" dirty="0"/>
              <a:t> table using </a:t>
            </a:r>
            <a:r>
              <a:rPr lang="en-US" sz="1200" b="1" dirty="0" err="1"/>
              <a:t>studentData</a:t>
            </a:r>
            <a:r>
              <a:rPr lang="en-US" sz="1200" dirty="0"/>
              <a:t>.</a:t>
            </a:r>
          </a:p>
          <a:p>
            <a:endParaRPr lang="en-US" sz="1200" dirty="0"/>
          </a:p>
          <a:p>
            <a:r>
              <a:rPr lang="en-US" sz="1200" dirty="0"/>
              <a:t>When the SQL query</a:t>
            </a:r>
            <a:r>
              <a:rPr lang="en-US" sz="1200" b="1" dirty="0"/>
              <a:t> </a:t>
            </a:r>
            <a:r>
              <a:rPr lang="en-US" sz="1200" dirty="0"/>
              <a:t>is executed, the result (or error) to the provided callback function.</a:t>
            </a:r>
            <a:endParaRPr lang="en-SG" sz="1200" dirty="0"/>
          </a:p>
        </p:txBody>
      </p:sp>
      <p:sp>
        <p:nvSpPr>
          <p:cNvPr id="7" name="Rectangle 6">
            <a:extLst>
              <a:ext uri="{FF2B5EF4-FFF2-40B4-BE49-F238E27FC236}">
                <a16:creationId xmlns:a16="http://schemas.microsoft.com/office/drawing/2014/main" id="{4416FC6E-FE7D-CCE9-7CEA-B73F657D785E}"/>
              </a:ext>
            </a:extLst>
          </p:cNvPr>
          <p:cNvSpPr/>
          <p:nvPr/>
        </p:nvSpPr>
        <p:spPr>
          <a:xfrm>
            <a:off x="3923412" y="4944140"/>
            <a:ext cx="4529472" cy="8612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2268499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2990-548F-DCB2-55F7-EA7D5C2D5DF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E85214-EC50-74E8-B108-16A3B0620BEB}"/>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8C1C8406-6E56-57A3-25B2-65D8D521ED87}"/>
              </a:ext>
            </a:extLst>
          </p:cNvPr>
          <p:cNvSpPr>
            <a:spLocks noGrp="1"/>
          </p:cNvSpPr>
          <p:nvPr>
            <p:ph type="title"/>
          </p:nvPr>
        </p:nvSpPr>
        <p:spPr/>
        <p:txBody>
          <a:bodyPr/>
          <a:lstStyle/>
          <a:p>
            <a:r>
              <a:rPr lang="en-SG" dirty="0"/>
              <a:t>Model – Delete student by ID</a:t>
            </a:r>
          </a:p>
        </p:txBody>
      </p:sp>
      <p:pic>
        <p:nvPicPr>
          <p:cNvPr id="5" name="Picture 4">
            <a:extLst>
              <a:ext uri="{FF2B5EF4-FFF2-40B4-BE49-F238E27FC236}">
                <a16:creationId xmlns:a16="http://schemas.microsoft.com/office/drawing/2014/main" id="{72A0E44D-CACB-20D8-B98B-578B4BEB252C}"/>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17476340-4640-34FC-1B8F-D9CE5C9CA5E2}"/>
              </a:ext>
            </a:extLst>
          </p:cNvPr>
          <p:cNvSpPr txBox="1"/>
          <p:nvPr/>
        </p:nvSpPr>
        <p:spPr>
          <a:xfrm>
            <a:off x="547524" y="4780324"/>
            <a:ext cx="2456121" cy="1384995"/>
          </a:xfrm>
          <a:prstGeom prst="rect">
            <a:avLst/>
          </a:prstGeom>
          <a:noFill/>
        </p:spPr>
        <p:txBody>
          <a:bodyPr wrap="square" rtlCol="0">
            <a:spAutoFit/>
          </a:bodyPr>
          <a:lstStyle/>
          <a:p>
            <a:r>
              <a:rPr lang="en-US" sz="1200" b="1" dirty="0"/>
              <a:t>delete</a:t>
            </a:r>
            <a:r>
              <a:rPr lang="en-US" sz="1200" dirty="0"/>
              <a:t> is a method to remove a student record by </a:t>
            </a:r>
            <a:r>
              <a:rPr lang="en-US" sz="1200" b="1" dirty="0" err="1"/>
              <a:t>studentId</a:t>
            </a:r>
            <a:r>
              <a:rPr lang="en-US" sz="1200" dirty="0"/>
              <a:t> in the </a:t>
            </a:r>
            <a:r>
              <a:rPr lang="en-US" sz="1200" b="1" dirty="0"/>
              <a:t>students</a:t>
            </a:r>
            <a:r>
              <a:rPr lang="en-US" sz="1200" dirty="0"/>
              <a:t> table.</a:t>
            </a:r>
          </a:p>
          <a:p>
            <a:endParaRPr lang="en-US" sz="1200" dirty="0"/>
          </a:p>
          <a:p>
            <a:r>
              <a:rPr lang="en-US" sz="1200" dirty="0"/>
              <a:t>When the SQL query</a:t>
            </a:r>
            <a:r>
              <a:rPr lang="en-US" sz="1200" b="1" dirty="0"/>
              <a:t> </a:t>
            </a:r>
            <a:r>
              <a:rPr lang="en-US" sz="1200" dirty="0"/>
              <a:t>is executed, the result (or error) to the provided callback function.</a:t>
            </a:r>
            <a:endParaRPr lang="en-SG" sz="1200" dirty="0"/>
          </a:p>
        </p:txBody>
      </p:sp>
      <p:sp>
        <p:nvSpPr>
          <p:cNvPr id="7" name="Rectangle 6">
            <a:extLst>
              <a:ext uri="{FF2B5EF4-FFF2-40B4-BE49-F238E27FC236}">
                <a16:creationId xmlns:a16="http://schemas.microsoft.com/office/drawing/2014/main" id="{D9847C6F-D156-B1F5-B9AD-A71FB02586D2}"/>
              </a:ext>
            </a:extLst>
          </p:cNvPr>
          <p:cNvSpPr/>
          <p:nvPr/>
        </p:nvSpPr>
        <p:spPr>
          <a:xfrm>
            <a:off x="3923412" y="5805376"/>
            <a:ext cx="3732030" cy="3599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052922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4C5AF-6968-B4D3-CE4D-988BFCF0C5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F2CD6B1-BAE7-C0B3-8A04-5531A67D0024}"/>
              </a:ext>
            </a:extLst>
          </p:cNvPr>
          <p:cNvSpPr>
            <a:spLocks noGrp="1"/>
          </p:cNvSpPr>
          <p:nvPr>
            <p:ph type="body" sz="quarter" idx="14"/>
          </p:nvPr>
        </p:nvSpPr>
        <p:spPr>
          <a:xfrm>
            <a:off x="547525" y="1593024"/>
            <a:ext cx="8011684" cy="4572296"/>
          </a:xfrm>
        </p:spPr>
        <p:txBody>
          <a:bodyPr/>
          <a:lstStyle/>
          <a:p>
            <a:r>
              <a:rPr lang="en-US" sz="1800" dirty="0"/>
              <a:t>Handles the data and business logic. It’s responsible for retrieving, storing, and processing data.</a:t>
            </a:r>
          </a:p>
          <a:p>
            <a:endParaRPr lang="en-SG" sz="1800" dirty="0"/>
          </a:p>
        </p:txBody>
      </p:sp>
      <p:sp>
        <p:nvSpPr>
          <p:cNvPr id="3" name="Title 2">
            <a:extLst>
              <a:ext uri="{FF2B5EF4-FFF2-40B4-BE49-F238E27FC236}">
                <a16:creationId xmlns:a16="http://schemas.microsoft.com/office/drawing/2014/main" id="{5BAABA73-5AFE-8EC4-8878-CDCF65AD88BE}"/>
              </a:ext>
            </a:extLst>
          </p:cNvPr>
          <p:cNvSpPr>
            <a:spLocks noGrp="1"/>
          </p:cNvSpPr>
          <p:nvPr>
            <p:ph type="title"/>
          </p:nvPr>
        </p:nvSpPr>
        <p:spPr/>
        <p:txBody>
          <a:bodyPr/>
          <a:lstStyle/>
          <a:p>
            <a:r>
              <a:rPr lang="en-SG" dirty="0"/>
              <a:t>Model – Export a module</a:t>
            </a:r>
          </a:p>
        </p:txBody>
      </p:sp>
      <p:pic>
        <p:nvPicPr>
          <p:cNvPr id="5" name="Picture 4">
            <a:extLst>
              <a:ext uri="{FF2B5EF4-FFF2-40B4-BE49-F238E27FC236}">
                <a16:creationId xmlns:a16="http://schemas.microsoft.com/office/drawing/2014/main" id="{EE77E5DA-AC4D-8E5B-21A0-076ACC94A3AC}"/>
              </a:ext>
            </a:extLst>
          </p:cNvPr>
          <p:cNvPicPr>
            <a:picLocks noChangeAspect="1"/>
          </p:cNvPicPr>
          <p:nvPr/>
        </p:nvPicPr>
        <p:blipFill>
          <a:blip r:embed="rId2"/>
          <a:stretch>
            <a:fillRect/>
          </a:stretch>
        </p:blipFill>
        <p:spPr>
          <a:xfrm>
            <a:off x="3476493" y="2534700"/>
            <a:ext cx="4976391" cy="4013623"/>
          </a:xfrm>
          <a:prstGeom prst="rect">
            <a:avLst/>
          </a:prstGeom>
        </p:spPr>
      </p:pic>
      <p:sp>
        <p:nvSpPr>
          <p:cNvPr id="6" name="TextBox 5">
            <a:extLst>
              <a:ext uri="{FF2B5EF4-FFF2-40B4-BE49-F238E27FC236}">
                <a16:creationId xmlns:a16="http://schemas.microsoft.com/office/drawing/2014/main" id="{24BB4660-6ECE-61A3-5DBF-2F27BE3CC1B9}"/>
              </a:ext>
            </a:extLst>
          </p:cNvPr>
          <p:cNvSpPr txBox="1"/>
          <p:nvPr/>
        </p:nvSpPr>
        <p:spPr>
          <a:xfrm>
            <a:off x="404033" y="5294380"/>
            <a:ext cx="2456121" cy="830997"/>
          </a:xfrm>
          <a:prstGeom prst="rect">
            <a:avLst/>
          </a:prstGeom>
          <a:noFill/>
        </p:spPr>
        <p:txBody>
          <a:bodyPr wrap="square" rtlCol="0">
            <a:spAutoFit/>
          </a:bodyPr>
          <a:lstStyle/>
          <a:p>
            <a:r>
              <a:rPr lang="en-US" sz="1200" b="1" dirty="0" err="1"/>
              <a:t>module.exports</a:t>
            </a:r>
            <a:r>
              <a:rPr lang="en-US" sz="1200" b="1" dirty="0"/>
              <a:t> = Student; </a:t>
            </a:r>
            <a:r>
              <a:rPr lang="en-US" sz="1200" dirty="0"/>
              <a:t>exports the </a:t>
            </a:r>
            <a:r>
              <a:rPr lang="en-US" sz="1200" b="1" dirty="0"/>
              <a:t>Student</a:t>
            </a:r>
            <a:r>
              <a:rPr lang="en-US" sz="1200" dirty="0"/>
              <a:t> object so it can be imported and used in other files (e.g., controllers or routes).</a:t>
            </a:r>
            <a:endParaRPr lang="en-SG" sz="1200" dirty="0"/>
          </a:p>
        </p:txBody>
      </p:sp>
      <p:sp>
        <p:nvSpPr>
          <p:cNvPr id="7" name="Rectangle 6">
            <a:extLst>
              <a:ext uri="{FF2B5EF4-FFF2-40B4-BE49-F238E27FC236}">
                <a16:creationId xmlns:a16="http://schemas.microsoft.com/office/drawing/2014/main" id="{76877DE3-CF76-FE31-DC0F-350B3DBFB2AF}"/>
              </a:ext>
            </a:extLst>
          </p:cNvPr>
          <p:cNvSpPr/>
          <p:nvPr/>
        </p:nvSpPr>
        <p:spPr>
          <a:xfrm>
            <a:off x="3795819" y="6347639"/>
            <a:ext cx="1265279" cy="2325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5031526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0FA52-A803-0D8C-A9BA-E856E0E5E6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94F192-30B6-DFD8-4E41-66BC75F95351}"/>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F847888F-0A6B-7FE0-3E36-0DB432645A43}"/>
              </a:ext>
            </a:extLst>
          </p:cNvPr>
          <p:cNvSpPr>
            <a:spLocks noGrp="1"/>
          </p:cNvSpPr>
          <p:nvPr>
            <p:ph type="title"/>
          </p:nvPr>
        </p:nvSpPr>
        <p:spPr/>
        <p:txBody>
          <a:bodyPr/>
          <a:lstStyle/>
          <a:p>
            <a:r>
              <a:rPr lang="en-SG" dirty="0"/>
              <a:t>Controller – Import Models</a:t>
            </a:r>
          </a:p>
        </p:txBody>
      </p:sp>
      <p:pic>
        <p:nvPicPr>
          <p:cNvPr id="4" name="Picture 3">
            <a:extLst>
              <a:ext uri="{FF2B5EF4-FFF2-40B4-BE49-F238E27FC236}">
                <a16:creationId xmlns:a16="http://schemas.microsoft.com/office/drawing/2014/main" id="{36FD3F9C-76F4-7695-5A57-13CDFB038850}"/>
              </a:ext>
            </a:extLst>
          </p:cNvPr>
          <p:cNvPicPr>
            <a:picLocks noChangeAspect="1"/>
          </p:cNvPicPr>
          <p:nvPr/>
        </p:nvPicPr>
        <p:blipFill>
          <a:blip r:embed="rId2"/>
          <a:stretch>
            <a:fillRect/>
          </a:stretch>
        </p:blipFill>
        <p:spPr>
          <a:xfrm>
            <a:off x="4904113" y="2243470"/>
            <a:ext cx="3582305" cy="4418176"/>
          </a:xfrm>
          <a:prstGeom prst="rect">
            <a:avLst/>
          </a:prstGeom>
        </p:spPr>
      </p:pic>
      <p:sp>
        <p:nvSpPr>
          <p:cNvPr id="6" name="TextBox 5">
            <a:extLst>
              <a:ext uri="{FF2B5EF4-FFF2-40B4-BE49-F238E27FC236}">
                <a16:creationId xmlns:a16="http://schemas.microsoft.com/office/drawing/2014/main" id="{FBCCB537-DC5A-7A03-08FB-3A50E9E19AAC}"/>
              </a:ext>
            </a:extLst>
          </p:cNvPr>
          <p:cNvSpPr txBox="1"/>
          <p:nvPr/>
        </p:nvSpPr>
        <p:spPr>
          <a:xfrm>
            <a:off x="657582" y="2498651"/>
            <a:ext cx="4069767" cy="461665"/>
          </a:xfrm>
          <a:prstGeom prst="rect">
            <a:avLst/>
          </a:prstGeom>
          <a:noFill/>
        </p:spPr>
        <p:txBody>
          <a:bodyPr wrap="square" rtlCol="0">
            <a:spAutoFit/>
          </a:bodyPr>
          <a:lstStyle/>
          <a:p>
            <a:r>
              <a:rPr lang="en-US" sz="1200" dirty="0"/>
              <a:t>Imports the </a:t>
            </a:r>
            <a:r>
              <a:rPr lang="en-US" sz="1200" b="1" dirty="0"/>
              <a:t>Student</a:t>
            </a:r>
            <a:r>
              <a:rPr lang="en-US" sz="1200" dirty="0"/>
              <a:t> model, which contains database operations (CRUD) for the </a:t>
            </a:r>
            <a:r>
              <a:rPr lang="en-US" sz="1200" b="1" dirty="0"/>
              <a:t>students</a:t>
            </a:r>
            <a:r>
              <a:rPr lang="en-US" sz="1200" dirty="0"/>
              <a:t> table.</a:t>
            </a:r>
            <a:endParaRPr lang="en-SG" sz="1200" dirty="0"/>
          </a:p>
        </p:txBody>
      </p:sp>
      <p:sp>
        <p:nvSpPr>
          <p:cNvPr id="7" name="Rectangle 6">
            <a:extLst>
              <a:ext uri="{FF2B5EF4-FFF2-40B4-BE49-F238E27FC236}">
                <a16:creationId xmlns:a16="http://schemas.microsoft.com/office/drawing/2014/main" id="{692D77B9-07F8-DC2B-3E9D-F73053A3ECFA}"/>
              </a:ext>
            </a:extLst>
          </p:cNvPr>
          <p:cNvSpPr/>
          <p:nvPr/>
        </p:nvSpPr>
        <p:spPr>
          <a:xfrm>
            <a:off x="5136816" y="2498651"/>
            <a:ext cx="2125221" cy="1701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10856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AC201-C9C9-0546-0B97-AFB49AD701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D21813-C6C1-9D7C-8C2D-B4FA4B45DF37}"/>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08E27BA4-B705-62FB-A62F-86DA18A04FEE}"/>
              </a:ext>
            </a:extLst>
          </p:cNvPr>
          <p:cNvSpPr>
            <a:spLocks noGrp="1"/>
          </p:cNvSpPr>
          <p:nvPr>
            <p:ph type="title"/>
          </p:nvPr>
        </p:nvSpPr>
        <p:spPr/>
        <p:txBody>
          <a:bodyPr>
            <a:normAutofit fontScale="90000"/>
          </a:bodyPr>
          <a:lstStyle/>
          <a:p>
            <a:r>
              <a:rPr lang="en-SG" dirty="0"/>
              <a:t>Controller – </a:t>
            </a:r>
            <a:r>
              <a:rPr lang="en-SG" dirty="0" err="1"/>
              <a:t>studentController</a:t>
            </a:r>
            <a:r>
              <a:rPr lang="en-SG" dirty="0"/>
              <a:t> Object</a:t>
            </a:r>
          </a:p>
        </p:txBody>
      </p:sp>
      <p:pic>
        <p:nvPicPr>
          <p:cNvPr id="4" name="Picture 3">
            <a:extLst>
              <a:ext uri="{FF2B5EF4-FFF2-40B4-BE49-F238E27FC236}">
                <a16:creationId xmlns:a16="http://schemas.microsoft.com/office/drawing/2014/main" id="{30811312-4155-450B-CD41-3B634D7C9594}"/>
              </a:ext>
            </a:extLst>
          </p:cNvPr>
          <p:cNvPicPr>
            <a:picLocks noChangeAspect="1"/>
          </p:cNvPicPr>
          <p:nvPr/>
        </p:nvPicPr>
        <p:blipFill>
          <a:blip r:embed="rId2"/>
          <a:stretch>
            <a:fillRect/>
          </a:stretch>
        </p:blipFill>
        <p:spPr>
          <a:xfrm>
            <a:off x="4904113" y="2243470"/>
            <a:ext cx="3582305" cy="4418176"/>
          </a:xfrm>
          <a:prstGeom prst="rect">
            <a:avLst/>
          </a:prstGeom>
        </p:spPr>
      </p:pic>
      <p:sp>
        <p:nvSpPr>
          <p:cNvPr id="6" name="TextBox 5">
            <a:extLst>
              <a:ext uri="{FF2B5EF4-FFF2-40B4-BE49-F238E27FC236}">
                <a16:creationId xmlns:a16="http://schemas.microsoft.com/office/drawing/2014/main" id="{8C652010-49A3-E1BB-830F-83550527275F}"/>
              </a:ext>
            </a:extLst>
          </p:cNvPr>
          <p:cNvSpPr txBox="1"/>
          <p:nvPr/>
        </p:nvSpPr>
        <p:spPr>
          <a:xfrm>
            <a:off x="657582" y="2589901"/>
            <a:ext cx="4069767" cy="738664"/>
          </a:xfrm>
          <a:prstGeom prst="rect">
            <a:avLst/>
          </a:prstGeom>
          <a:noFill/>
        </p:spPr>
        <p:txBody>
          <a:bodyPr wrap="square" rtlCol="0">
            <a:spAutoFit/>
          </a:bodyPr>
          <a:lstStyle/>
          <a:p>
            <a:r>
              <a:rPr lang="en-US" sz="1400" dirty="0"/>
              <a:t>Creates an object </a:t>
            </a:r>
            <a:r>
              <a:rPr lang="en-US" sz="1400" b="1" dirty="0" err="1"/>
              <a:t>studentController</a:t>
            </a:r>
            <a:r>
              <a:rPr lang="en-US" sz="1400" dirty="0"/>
              <a:t> that defines controller methods for handling HTTP requests related to students.</a:t>
            </a:r>
            <a:endParaRPr lang="en-SG" sz="1400" dirty="0"/>
          </a:p>
        </p:txBody>
      </p:sp>
      <p:sp>
        <p:nvSpPr>
          <p:cNvPr id="7" name="Rectangle 6">
            <a:extLst>
              <a:ext uri="{FF2B5EF4-FFF2-40B4-BE49-F238E27FC236}">
                <a16:creationId xmlns:a16="http://schemas.microsoft.com/office/drawing/2014/main" id="{9ACDAFE6-93F3-9C68-83B0-D317693D1590}"/>
              </a:ext>
            </a:extLst>
          </p:cNvPr>
          <p:cNvSpPr/>
          <p:nvPr/>
        </p:nvSpPr>
        <p:spPr>
          <a:xfrm>
            <a:off x="5136816" y="2679405"/>
            <a:ext cx="3459659" cy="41363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5322515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EF404-321D-A928-DC8B-753E7A82FA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10E163-FB26-E414-55C5-214CC962F916}"/>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85257AD3-443F-CD97-141A-B6DCB258B7CB}"/>
              </a:ext>
            </a:extLst>
          </p:cNvPr>
          <p:cNvSpPr>
            <a:spLocks noGrp="1"/>
          </p:cNvSpPr>
          <p:nvPr>
            <p:ph type="title"/>
          </p:nvPr>
        </p:nvSpPr>
        <p:spPr/>
        <p:txBody>
          <a:bodyPr/>
          <a:lstStyle/>
          <a:p>
            <a:r>
              <a:rPr lang="en-SG" dirty="0"/>
              <a:t>Controller – List all students</a:t>
            </a:r>
          </a:p>
        </p:txBody>
      </p:sp>
      <p:pic>
        <p:nvPicPr>
          <p:cNvPr id="4" name="Picture 3">
            <a:extLst>
              <a:ext uri="{FF2B5EF4-FFF2-40B4-BE49-F238E27FC236}">
                <a16:creationId xmlns:a16="http://schemas.microsoft.com/office/drawing/2014/main" id="{8C641419-8A24-DC9D-AC3D-B4EB924917DA}"/>
              </a:ext>
            </a:extLst>
          </p:cNvPr>
          <p:cNvPicPr>
            <a:picLocks noChangeAspect="1"/>
          </p:cNvPicPr>
          <p:nvPr/>
        </p:nvPicPr>
        <p:blipFill>
          <a:blip r:embed="rId2"/>
          <a:stretch>
            <a:fillRect/>
          </a:stretch>
        </p:blipFill>
        <p:spPr>
          <a:xfrm>
            <a:off x="4904113" y="2243470"/>
            <a:ext cx="3582305" cy="4418176"/>
          </a:xfrm>
          <a:prstGeom prst="rect">
            <a:avLst/>
          </a:prstGeom>
        </p:spPr>
      </p:pic>
      <p:sp>
        <p:nvSpPr>
          <p:cNvPr id="6" name="TextBox 5">
            <a:extLst>
              <a:ext uri="{FF2B5EF4-FFF2-40B4-BE49-F238E27FC236}">
                <a16:creationId xmlns:a16="http://schemas.microsoft.com/office/drawing/2014/main" id="{B83A38E7-FA93-1A8A-5C31-E169407BDF62}"/>
              </a:ext>
            </a:extLst>
          </p:cNvPr>
          <p:cNvSpPr txBox="1"/>
          <p:nvPr/>
        </p:nvSpPr>
        <p:spPr>
          <a:xfrm>
            <a:off x="265726" y="2813447"/>
            <a:ext cx="4306274" cy="1231106"/>
          </a:xfrm>
          <a:prstGeom prst="rect">
            <a:avLst/>
          </a:prstGeom>
          <a:noFill/>
        </p:spPr>
        <p:txBody>
          <a:bodyPr wrap="square" rtlCol="0">
            <a:spAutoFit/>
          </a:bodyPr>
          <a:lstStyle/>
          <a:p>
            <a:r>
              <a:rPr lang="en-US" sz="1400" dirty="0"/>
              <a:t>The </a:t>
            </a:r>
            <a:r>
              <a:rPr lang="en-US" sz="1400" b="1" dirty="0"/>
              <a:t>list</a:t>
            </a:r>
            <a:r>
              <a:rPr lang="en-US" sz="1400" dirty="0"/>
              <a:t> method:</a:t>
            </a:r>
          </a:p>
          <a:p>
            <a:pPr marL="285750" indent="-285750">
              <a:buFont typeface="Arial" panose="020B0604020202020204" pitchFamily="34" charset="0"/>
              <a:buChar char="•"/>
            </a:pPr>
            <a:r>
              <a:rPr lang="en-US" sz="1200" dirty="0"/>
              <a:t>Handles the request to </a:t>
            </a:r>
            <a:r>
              <a:rPr lang="en-US" sz="1200" b="1" dirty="0"/>
              <a:t>list all students.</a:t>
            </a:r>
          </a:p>
          <a:p>
            <a:pPr marL="285750" indent="-285750">
              <a:buFont typeface="Arial" panose="020B0604020202020204" pitchFamily="34" charset="0"/>
              <a:buChar char="•"/>
            </a:pPr>
            <a:r>
              <a:rPr lang="en-US" sz="1200" dirty="0"/>
              <a:t>Calls </a:t>
            </a:r>
            <a:r>
              <a:rPr lang="en-US" sz="1200" b="1" dirty="0" err="1"/>
              <a:t>student.getAll</a:t>
            </a:r>
            <a:r>
              <a:rPr lang="en-US" sz="1200" b="1" dirty="0"/>
              <a:t>() </a:t>
            </a:r>
            <a:r>
              <a:rPr lang="en-US" sz="1200" dirty="0"/>
              <a:t>to fetch all records.</a:t>
            </a:r>
          </a:p>
          <a:p>
            <a:pPr marL="285750" indent="-285750">
              <a:buFont typeface="Arial" panose="020B0604020202020204" pitchFamily="34" charset="0"/>
              <a:buChar char="•"/>
            </a:pPr>
            <a:r>
              <a:rPr lang="en-US" sz="1200" dirty="0"/>
              <a:t>If there’s an error → sends HTTP 500 with an error message.</a:t>
            </a:r>
          </a:p>
          <a:p>
            <a:pPr marL="285750" indent="-285750">
              <a:buFont typeface="Arial" panose="020B0604020202020204" pitchFamily="34" charset="0"/>
              <a:buChar char="•"/>
            </a:pPr>
            <a:r>
              <a:rPr lang="en-US" sz="1200" dirty="0"/>
              <a:t>Otherwise → renders the </a:t>
            </a:r>
            <a:r>
              <a:rPr lang="en-US" sz="1200" b="1" dirty="0"/>
              <a:t>index</a:t>
            </a:r>
            <a:r>
              <a:rPr lang="en-US" sz="1200" dirty="0"/>
              <a:t> view and passes the students data.</a:t>
            </a:r>
            <a:endParaRPr lang="en-SG" sz="1200" dirty="0"/>
          </a:p>
        </p:txBody>
      </p:sp>
      <p:sp>
        <p:nvSpPr>
          <p:cNvPr id="7" name="Rectangle 6">
            <a:extLst>
              <a:ext uri="{FF2B5EF4-FFF2-40B4-BE49-F238E27FC236}">
                <a16:creationId xmlns:a16="http://schemas.microsoft.com/office/drawing/2014/main" id="{265DA903-583F-7400-FD12-290DA83908D0}"/>
              </a:ext>
            </a:extLst>
          </p:cNvPr>
          <p:cNvSpPr/>
          <p:nvPr/>
        </p:nvSpPr>
        <p:spPr>
          <a:xfrm>
            <a:off x="5326911" y="2923953"/>
            <a:ext cx="3159507" cy="914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468201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7C72C-B914-BA11-5FF0-CF4C806973D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E2E1227-F0AF-C251-5E78-7FFFED5495FB}"/>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4EB31778-4291-CD0D-8AB0-D6A6DDE14548}"/>
              </a:ext>
            </a:extLst>
          </p:cNvPr>
          <p:cNvSpPr>
            <a:spLocks noGrp="1"/>
          </p:cNvSpPr>
          <p:nvPr>
            <p:ph type="title"/>
          </p:nvPr>
        </p:nvSpPr>
        <p:spPr/>
        <p:txBody>
          <a:bodyPr>
            <a:normAutofit fontScale="90000"/>
          </a:bodyPr>
          <a:lstStyle/>
          <a:p>
            <a:r>
              <a:rPr lang="en-SG" dirty="0"/>
              <a:t>Controller – Get single student by ID</a:t>
            </a:r>
          </a:p>
        </p:txBody>
      </p:sp>
      <p:pic>
        <p:nvPicPr>
          <p:cNvPr id="4" name="Picture 3">
            <a:extLst>
              <a:ext uri="{FF2B5EF4-FFF2-40B4-BE49-F238E27FC236}">
                <a16:creationId xmlns:a16="http://schemas.microsoft.com/office/drawing/2014/main" id="{71A599F8-C0C3-636F-DC13-D40275BB7BBB}"/>
              </a:ext>
            </a:extLst>
          </p:cNvPr>
          <p:cNvPicPr>
            <a:picLocks noChangeAspect="1"/>
          </p:cNvPicPr>
          <p:nvPr/>
        </p:nvPicPr>
        <p:blipFill>
          <a:blip r:embed="rId2"/>
          <a:stretch>
            <a:fillRect/>
          </a:stretch>
        </p:blipFill>
        <p:spPr>
          <a:xfrm>
            <a:off x="4904113" y="2243470"/>
            <a:ext cx="3582305" cy="4418176"/>
          </a:xfrm>
          <a:prstGeom prst="rect">
            <a:avLst/>
          </a:prstGeom>
        </p:spPr>
      </p:pic>
      <p:sp>
        <p:nvSpPr>
          <p:cNvPr id="6" name="TextBox 5">
            <a:extLst>
              <a:ext uri="{FF2B5EF4-FFF2-40B4-BE49-F238E27FC236}">
                <a16:creationId xmlns:a16="http://schemas.microsoft.com/office/drawing/2014/main" id="{41768E1F-78E4-C4C6-5543-601F30AF6E3C}"/>
              </a:ext>
            </a:extLst>
          </p:cNvPr>
          <p:cNvSpPr txBox="1"/>
          <p:nvPr/>
        </p:nvSpPr>
        <p:spPr>
          <a:xfrm>
            <a:off x="265726" y="3664538"/>
            <a:ext cx="4306274" cy="1600438"/>
          </a:xfrm>
          <a:prstGeom prst="rect">
            <a:avLst/>
          </a:prstGeom>
          <a:noFill/>
        </p:spPr>
        <p:txBody>
          <a:bodyPr wrap="square" rtlCol="0">
            <a:spAutoFit/>
          </a:bodyPr>
          <a:lstStyle/>
          <a:p>
            <a:r>
              <a:rPr lang="en-US" sz="1400" dirty="0"/>
              <a:t>The </a:t>
            </a:r>
            <a:r>
              <a:rPr lang="en-US" sz="1400" b="1" dirty="0"/>
              <a:t>get</a:t>
            </a:r>
            <a:r>
              <a:rPr lang="en-US" sz="1400" dirty="0"/>
              <a:t> method:</a:t>
            </a:r>
          </a:p>
          <a:p>
            <a:pPr marL="285750" indent="-285750">
              <a:buFont typeface="Arial" panose="020B0604020202020204" pitchFamily="34" charset="0"/>
              <a:buChar char="•"/>
            </a:pPr>
            <a:r>
              <a:rPr lang="en-US" sz="1200" dirty="0"/>
              <a:t>Handles the request to </a:t>
            </a:r>
            <a:r>
              <a:rPr lang="en-US" sz="1200" b="1" dirty="0"/>
              <a:t>get a single student by ID.</a:t>
            </a:r>
          </a:p>
          <a:p>
            <a:pPr marL="285750" indent="-285750">
              <a:buFont typeface="Arial" panose="020B0604020202020204" pitchFamily="34" charset="0"/>
              <a:buChar char="•"/>
            </a:pPr>
            <a:r>
              <a:rPr lang="en-US" sz="1200" dirty="0"/>
              <a:t>Extracts </a:t>
            </a:r>
            <a:r>
              <a:rPr lang="en-US" sz="1200" b="1" dirty="0"/>
              <a:t>id</a:t>
            </a:r>
            <a:r>
              <a:rPr lang="en-US" sz="1200" dirty="0"/>
              <a:t> from </a:t>
            </a:r>
            <a:r>
              <a:rPr lang="en-US" sz="1200" b="1" dirty="0" err="1"/>
              <a:t>req.params</a:t>
            </a:r>
            <a:r>
              <a:rPr lang="en-US" sz="1200" b="1" dirty="0"/>
              <a:t>.</a:t>
            </a:r>
          </a:p>
          <a:p>
            <a:pPr marL="285750" indent="-285750">
              <a:buFont typeface="Arial" panose="020B0604020202020204" pitchFamily="34" charset="0"/>
              <a:buChar char="•"/>
            </a:pPr>
            <a:r>
              <a:rPr lang="en-US" sz="1200" dirty="0"/>
              <a:t>Calls </a:t>
            </a:r>
            <a:r>
              <a:rPr lang="en-US" sz="1200" b="1" dirty="0" err="1"/>
              <a:t>student.getById</a:t>
            </a:r>
            <a:r>
              <a:rPr lang="en-US" sz="1200" b="1" dirty="0"/>
              <a:t>(id)</a:t>
            </a:r>
            <a:r>
              <a:rPr lang="en-US" sz="1200" dirty="0"/>
              <a:t>.</a:t>
            </a:r>
          </a:p>
          <a:p>
            <a:pPr marL="285750" indent="-285750">
              <a:buFont typeface="Arial" panose="020B0604020202020204" pitchFamily="34" charset="0"/>
              <a:buChar char="•"/>
            </a:pPr>
            <a:r>
              <a:rPr lang="en-US" sz="1200" dirty="0"/>
              <a:t>If error → sends HTTP 500.</a:t>
            </a:r>
          </a:p>
          <a:p>
            <a:pPr marL="285750" indent="-285750">
              <a:buFont typeface="Arial" panose="020B0604020202020204" pitchFamily="34" charset="0"/>
              <a:buChar char="•"/>
            </a:pPr>
            <a:r>
              <a:rPr lang="en-US" sz="1200" dirty="0"/>
              <a:t>If no student found → sends HTTP 404.</a:t>
            </a:r>
          </a:p>
          <a:p>
            <a:pPr marL="285750" indent="-285750">
              <a:buFont typeface="Arial" panose="020B0604020202020204" pitchFamily="34" charset="0"/>
              <a:buChar char="•"/>
            </a:pPr>
            <a:r>
              <a:rPr lang="en-US" sz="1200" dirty="0"/>
              <a:t>Otherwise → renders the </a:t>
            </a:r>
            <a:r>
              <a:rPr lang="en-US" sz="1200" b="1" dirty="0"/>
              <a:t>student</a:t>
            </a:r>
            <a:r>
              <a:rPr lang="en-US" sz="1200" dirty="0"/>
              <a:t> view with the student data.</a:t>
            </a:r>
            <a:endParaRPr lang="en-SG" sz="1200" dirty="0"/>
          </a:p>
        </p:txBody>
      </p:sp>
      <p:sp>
        <p:nvSpPr>
          <p:cNvPr id="7" name="Rectangle 6">
            <a:extLst>
              <a:ext uri="{FF2B5EF4-FFF2-40B4-BE49-F238E27FC236}">
                <a16:creationId xmlns:a16="http://schemas.microsoft.com/office/drawing/2014/main" id="{982E4B5A-9889-085E-1D23-444FB2F7DB97}"/>
              </a:ext>
            </a:extLst>
          </p:cNvPr>
          <p:cNvSpPr/>
          <p:nvPr/>
        </p:nvSpPr>
        <p:spPr>
          <a:xfrm>
            <a:off x="5326911" y="3913239"/>
            <a:ext cx="3159507" cy="14453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93275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5D2C4-9E3D-4626-9334-DACA56A19E6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81DE3D-0BD8-B9D4-7C1F-89E75082BFCF}"/>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00EC9197-DB06-5D50-2189-213C73CE5A5D}"/>
              </a:ext>
            </a:extLst>
          </p:cNvPr>
          <p:cNvSpPr>
            <a:spLocks noGrp="1"/>
          </p:cNvSpPr>
          <p:nvPr>
            <p:ph type="title"/>
          </p:nvPr>
        </p:nvSpPr>
        <p:spPr/>
        <p:txBody>
          <a:bodyPr/>
          <a:lstStyle/>
          <a:p>
            <a:r>
              <a:rPr lang="en-SG" dirty="0"/>
              <a:t>Controller – Add new student</a:t>
            </a:r>
          </a:p>
        </p:txBody>
      </p:sp>
      <p:pic>
        <p:nvPicPr>
          <p:cNvPr id="4" name="Picture 3">
            <a:extLst>
              <a:ext uri="{FF2B5EF4-FFF2-40B4-BE49-F238E27FC236}">
                <a16:creationId xmlns:a16="http://schemas.microsoft.com/office/drawing/2014/main" id="{9F1F8065-7A6F-FCEA-22C4-EDDADC69551E}"/>
              </a:ext>
            </a:extLst>
          </p:cNvPr>
          <p:cNvPicPr>
            <a:picLocks noChangeAspect="1"/>
          </p:cNvPicPr>
          <p:nvPr/>
        </p:nvPicPr>
        <p:blipFill>
          <a:blip r:embed="rId2"/>
          <a:stretch>
            <a:fillRect/>
          </a:stretch>
        </p:blipFill>
        <p:spPr>
          <a:xfrm>
            <a:off x="4904113" y="2243470"/>
            <a:ext cx="3582305" cy="4418176"/>
          </a:xfrm>
          <a:prstGeom prst="rect">
            <a:avLst/>
          </a:prstGeom>
        </p:spPr>
      </p:pic>
      <p:sp>
        <p:nvSpPr>
          <p:cNvPr id="6" name="TextBox 5">
            <a:extLst>
              <a:ext uri="{FF2B5EF4-FFF2-40B4-BE49-F238E27FC236}">
                <a16:creationId xmlns:a16="http://schemas.microsoft.com/office/drawing/2014/main" id="{FCC4555A-02C0-A05E-1703-FDE402D1085D}"/>
              </a:ext>
            </a:extLst>
          </p:cNvPr>
          <p:cNvSpPr txBox="1"/>
          <p:nvPr/>
        </p:nvSpPr>
        <p:spPr>
          <a:xfrm>
            <a:off x="386440" y="4813045"/>
            <a:ext cx="4306274" cy="1600438"/>
          </a:xfrm>
          <a:prstGeom prst="rect">
            <a:avLst/>
          </a:prstGeom>
          <a:noFill/>
        </p:spPr>
        <p:txBody>
          <a:bodyPr wrap="square" rtlCol="0">
            <a:spAutoFit/>
          </a:bodyPr>
          <a:lstStyle/>
          <a:p>
            <a:r>
              <a:rPr lang="en-US" sz="1400" dirty="0"/>
              <a:t>The </a:t>
            </a:r>
            <a:r>
              <a:rPr lang="en-US" sz="1400" b="1" dirty="0"/>
              <a:t>add</a:t>
            </a:r>
            <a:r>
              <a:rPr lang="en-US" sz="1400" dirty="0"/>
              <a:t> method:</a:t>
            </a:r>
          </a:p>
          <a:p>
            <a:pPr marL="285750" indent="-285750">
              <a:buFont typeface="Arial" panose="020B0604020202020204" pitchFamily="34" charset="0"/>
              <a:buChar char="•"/>
            </a:pPr>
            <a:r>
              <a:rPr lang="en-US" sz="1200" dirty="0"/>
              <a:t>Handles </a:t>
            </a:r>
            <a:r>
              <a:rPr lang="en-US" sz="1200" b="1" dirty="0"/>
              <a:t>adding a new student</a:t>
            </a:r>
            <a:r>
              <a:rPr lang="en-US" sz="1200" dirty="0"/>
              <a:t>.</a:t>
            </a:r>
          </a:p>
          <a:p>
            <a:pPr marL="285750" indent="-285750">
              <a:buFont typeface="Arial" panose="020B0604020202020204" pitchFamily="34" charset="0"/>
              <a:buChar char="•"/>
            </a:pPr>
            <a:r>
              <a:rPr lang="en-US" sz="1200" dirty="0"/>
              <a:t>Extracts </a:t>
            </a:r>
            <a:r>
              <a:rPr lang="en-US" sz="1200" b="1" dirty="0"/>
              <a:t>name, dob, contact </a:t>
            </a:r>
            <a:r>
              <a:rPr lang="en-US" sz="1200" dirty="0"/>
              <a:t>from </a:t>
            </a:r>
            <a:r>
              <a:rPr lang="en-US" sz="1200" b="1" dirty="0" err="1"/>
              <a:t>req.body</a:t>
            </a:r>
            <a:r>
              <a:rPr lang="en-US" sz="1200" dirty="0"/>
              <a:t>.</a:t>
            </a:r>
          </a:p>
          <a:p>
            <a:pPr marL="285750" indent="-285750">
              <a:buFont typeface="Arial" panose="020B0604020202020204" pitchFamily="34" charset="0"/>
              <a:buChar char="•"/>
            </a:pPr>
            <a:r>
              <a:rPr lang="en-US" sz="1200" dirty="0"/>
              <a:t>Checks if an image file was uploaded (</a:t>
            </a:r>
            <a:r>
              <a:rPr lang="en-US" sz="1200" b="1" dirty="0" err="1"/>
              <a:t>req.file</a:t>
            </a:r>
            <a:r>
              <a:rPr lang="en-US" sz="1200" dirty="0"/>
              <a:t>), else sets image to null.</a:t>
            </a:r>
          </a:p>
          <a:p>
            <a:pPr marL="285750" indent="-285750">
              <a:buFont typeface="Arial" panose="020B0604020202020204" pitchFamily="34" charset="0"/>
              <a:buChar char="•"/>
            </a:pPr>
            <a:r>
              <a:rPr lang="en-US" sz="1200" dirty="0"/>
              <a:t>Calls </a:t>
            </a:r>
            <a:r>
              <a:rPr lang="en-US" sz="1200" b="1" dirty="0" err="1"/>
              <a:t>student.add</a:t>
            </a:r>
            <a:r>
              <a:rPr lang="en-US" sz="1200" b="1" dirty="0"/>
              <a:t>() </a:t>
            </a:r>
            <a:r>
              <a:rPr lang="en-US" sz="1200" dirty="0"/>
              <a:t>with the new data.</a:t>
            </a:r>
          </a:p>
          <a:p>
            <a:pPr marL="285750" indent="-285750">
              <a:buFont typeface="Arial" panose="020B0604020202020204" pitchFamily="34" charset="0"/>
              <a:buChar char="•"/>
            </a:pPr>
            <a:r>
              <a:rPr lang="en-US" sz="1200" dirty="0"/>
              <a:t>If error → sends HTTP 500.</a:t>
            </a:r>
          </a:p>
          <a:p>
            <a:pPr marL="285750" indent="-285750">
              <a:buFont typeface="Arial" panose="020B0604020202020204" pitchFamily="34" charset="0"/>
              <a:buChar char="•"/>
            </a:pPr>
            <a:r>
              <a:rPr lang="en-US" sz="1200" dirty="0"/>
              <a:t>Otherwise → redirects to / (home page).</a:t>
            </a:r>
            <a:endParaRPr lang="en-SG" sz="1200" dirty="0"/>
          </a:p>
        </p:txBody>
      </p:sp>
      <p:sp>
        <p:nvSpPr>
          <p:cNvPr id="7" name="Rectangle 6">
            <a:extLst>
              <a:ext uri="{FF2B5EF4-FFF2-40B4-BE49-F238E27FC236}">
                <a16:creationId xmlns:a16="http://schemas.microsoft.com/office/drawing/2014/main" id="{C7D537A8-551C-E410-0CD5-DF7582F41D2E}"/>
              </a:ext>
            </a:extLst>
          </p:cNvPr>
          <p:cNvSpPr/>
          <p:nvPr/>
        </p:nvSpPr>
        <p:spPr>
          <a:xfrm>
            <a:off x="5326911" y="5456903"/>
            <a:ext cx="3159507" cy="12047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94581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F740D-9EC6-DAD1-0F8E-A8A03459EEB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C7DE401-8FDE-DB11-5F70-DBD66A607700}"/>
              </a:ext>
            </a:extLst>
          </p:cNvPr>
          <p:cNvPicPr>
            <a:picLocks noChangeAspect="1"/>
          </p:cNvPicPr>
          <p:nvPr/>
        </p:nvPicPr>
        <p:blipFill>
          <a:blip r:embed="rId2"/>
          <a:stretch>
            <a:fillRect/>
          </a:stretch>
        </p:blipFill>
        <p:spPr>
          <a:xfrm>
            <a:off x="4572000" y="2231183"/>
            <a:ext cx="3667432" cy="4561790"/>
          </a:xfrm>
          <a:prstGeom prst="rect">
            <a:avLst/>
          </a:prstGeom>
        </p:spPr>
      </p:pic>
      <p:sp>
        <p:nvSpPr>
          <p:cNvPr id="2" name="Text Placeholder 1">
            <a:extLst>
              <a:ext uri="{FF2B5EF4-FFF2-40B4-BE49-F238E27FC236}">
                <a16:creationId xmlns:a16="http://schemas.microsoft.com/office/drawing/2014/main" id="{5FD4321B-E660-4068-71F1-C3E9AFF55C0C}"/>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457A8227-8F27-6C05-5C53-3D21247BAFD8}"/>
              </a:ext>
            </a:extLst>
          </p:cNvPr>
          <p:cNvSpPr>
            <a:spLocks noGrp="1"/>
          </p:cNvSpPr>
          <p:nvPr>
            <p:ph type="title"/>
          </p:nvPr>
        </p:nvSpPr>
        <p:spPr/>
        <p:txBody>
          <a:bodyPr/>
          <a:lstStyle/>
          <a:p>
            <a:r>
              <a:rPr lang="en-SG" dirty="0"/>
              <a:t>Controller – Update Form</a:t>
            </a:r>
          </a:p>
        </p:txBody>
      </p:sp>
      <p:sp>
        <p:nvSpPr>
          <p:cNvPr id="6" name="TextBox 5">
            <a:extLst>
              <a:ext uri="{FF2B5EF4-FFF2-40B4-BE49-F238E27FC236}">
                <a16:creationId xmlns:a16="http://schemas.microsoft.com/office/drawing/2014/main" id="{F1F1E8FA-A996-3361-43BB-C5895EDE9B92}"/>
              </a:ext>
            </a:extLst>
          </p:cNvPr>
          <p:cNvSpPr txBox="1"/>
          <p:nvPr/>
        </p:nvSpPr>
        <p:spPr>
          <a:xfrm>
            <a:off x="258500" y="2451973"/>
            <a:ext cx="4306274" cy="1600438"/>
          </a:xfrm>
          <a:prstGeom prst="rect">
            <a:avLst/>
          </a:prstGeom>
          <a:noFill/>
        </p:spPr>
        <p:txBody>
          <a:bodyPr wrap="square" rtlCol="0">
            <a:spAutoFit/>
          </a:bodyPr>
          <a:lstStyle/>
          <a:p>
            <a:r>
              <a:rPr lang="en-US" sz="1400" dirty="0"/>
              <a:t>The </a:t>
            </a:r>
            <a:r>
              <a:rPr lang="en-US" sz="1400" b="1" dirty="0" err="1"/>
              <a:t>updateForm</a:t>
            </a:r>
            <a:r>
              <a:rPr lang="en-US" sz="1400" dirty="0"/>
              <a:t> method:</a:t>
            </a:r>
          </a:p>
          <a:p>
            <a:pPr marL="285750" indent="-285750">
              <a:buFont typeface="Arial" panose="020B0604020202020204" pitchFamily="34" charset="0"/>
              <a:buChar char="•"/>
            </a:pPr>
            <a:r>
              <a:rPr lang="en-US" sz="1200" b="1" dirty="0"/>
              <a:t>Displays the update form for a specific student.</a:t>
            </a:r>
          </a:p>
          <a:p>
            <a:pPr marL="285750" indent="-285750">
              <a:buFont typeface="Arial" panose="020B0604020202020204" pitchFamily="34" charset="0"/>
              <a:buChar char="•"/>
            </a:pPr>
            <a:r>
              <a:rPr lang="en-US" sz="1200" dirty="0"/>
              <a:t>Gets </a:t>
            </a:r>
            <a:r>
              <a:rPr lang="en-US" sz="1200" b="1" dirty="0"/>
              <a:t>id</a:t>
            </a:r>
            <a:r>
              <a:rPr lang="en-US" sz="1200" dirty="0"/>
              <a:t> from </a:t>
            </a:r>
            <a:r>
              <a:rPr lang="en-US" sz="1200" b="1" dirty="0" err="1"/>
              <a:t>req.params</a:t>
            </a:r>
            <a:r>
              <a:rPr lang="en-US" sz="1200" dirty="0"/>
              <a:t>.</a:t>
            </a:r>
          </a:p>
          <a:p>
            <a:pPr marL="285750" indent="-285750">
              <a:buFont typeface="Arial" panose="020B0604020202020204" pitchFamily="34" charset="0"/>
              <a:buChar char="•"/>
            </a:pPr>
            <a:r>
              <a:rPr lang="en-US" sz="1200" dirty="0"/>
              <a:t>Fetches student data using </a:t>
            </a:r>
            <a:r>
              <a:rPr lang="en-US" sz="1200" b="1" dirty="0" err="1"/>
              <a:t>student.getById</a:t>
            </a:r>
            <a:r>
              <a:rPr lang="en-US" sz="1200" b="1" dirty="0"/>
              <a:t>()</a:t>
            </a:r>
            <a:r>
              <a:rPr lang="en-US" sz="1200" dirty="0"/>
              <a:t>.</a:t>
            </a:r>
          </a:p>
          <a:p>
            <a:pPr marL="285750" indent="-285750">
              <a:buFont typeface="Arial" panose="020B0604020202020204" pitchFamily="34" charset="0"/>
              <a:buChar char="•"/>
            </a:pPr>
            <a:r>
              <a:rPr lang="en-US" sz="1200" dirty="0"/>
              <a:t>If error → sends HTTP 500.</a:t>
            </a:r>
          </a:p>
          <a:p>
            <a:pPr marL="285750" indent="-285750">
              <a:buFont typeface="Arial" panose="020B0604020202020204" pitchFamily="34" charset="0"/>
              <a:buChar char="•"/>
            </a:pPr>
            <a:r>
              <a:rPr lang="en-US" sz="1200" dirty="0"/>
              <a:t>If student not found → sends HTTP 404.</a:t>
            </a:r>
          </a:p>
          <a:p>
            <a:pPr marL="285750" indent="-285750">
              <a:buFont typeface="Arial" panose="020B0604020202020204" pitchFamily="34" charset="0"/>
              <a:buChar char="•"/>
            </a:pPr>
            <a:r>
              <a:rPr lang="en-US" sz="1200" dirty="0"/>
              <a:t>Otherwise → renders </a:t>
            </a:r>
            <a:r>
              <a:rPr lang="en-US" sz="1200" b="1" dirty="0" err="1"/>
              <a:t>editStudent</a:t>
            </a:r>
            <a:r>
              <a:rPr lang="en-US" sz="1200" dirty="0"/>
              <a:t> view with the student data.</a:t>
            </a:r>
            <a:endParaRPr lang="en-SG" sz="1200" dirty="0"/>
          </a:p>
        </p:txBody>
      </p:sp>
      <p:sp>
        <p:nvSpPr>
          <p:cNvPr id="7" name="Rectangle 6">
            <a:extLst>
              <a:ext uri="{FF2B5EF4-FFF2-40B4-BE49-F238E27FC236}">
                <a16:creationId xmlns:a16="http://schemas.microsoft.com/office/drawing/2014/main" id="{92117F46-E804-F8F5-7218-E2F0AB8B5CBD}"/>
              </a:ext>
            </a:extLst>
          </p:cNvPr>
          <p:cNvSpPr/>
          <p:nvPr/>
        </p:nvSpPr>
        <p:spPr>
          <a:xfrm>
            <a:off x="5043949" y="2625213"/>
            <a:ext cx="3195484" cy="12539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1167145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D441-2759-801F-4257-89A913E0AC2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4D848D2-AD3A-9E88-5140-8F0E1A1759DE}"/>
              </a:ext>
            </a:extLst>
          </p:cNvPr>
          <p:cNvPicPr>
            <a:picLocks noChangeAspect="1"/>
          </p:cNvPicPr>
          <p:nvPr/>
        </p:nvPicPr>
        <p:blipFill>
          <a:blip r:embed="rId2"/>
          <a:stretch>
            <a:fillRect/>
          </a:stretch>
        </p:blipFill>
        <p:spPr>
          <a:xfrm>
            <a:off x="4572000" y="2231183"/>
            <a:ext cx="3667432" cy="4561790"/>
          </a:xfrm>
          <a:prstGeom prst="rect">
            <a:avLst/>
          </a:prstGeom>
        </p:spPr>
      </p:pic>
      <p:sp>
        <p:nvSpPr>
          <p:cNvPr id="2" name="Text Placeholder 1">
            <a:extLst>
              <a:ext uri="{FF2B5EF4-FFF2-40B4-BE49-F238E27FC236}">
                <a16:creationId xmlns:a16="http://schemas.microsoft.com/office/drawing/2014/main" id="{97267459-3D5B-5C73-1D77-AF683F91C48A}"/>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DBCC76CC-1C15-79FB-EBFD-F64F55BE90D2}"/>
              </a:ext>
            </a:extLst>
          </p:cNvPr>
          <p:cNvSpPr>
            <a:spLocks noGrp="1"/>
          </p:cNvSpPr>
          <p:nvPr>
            <p:ph type="title"/>
          </p:nvPr>
        </p:nvSpPr>
        <p:spPr/>
        <p:txBody>
          <a:bodyPr/>
          <a:lstStyle/>
          <a:p>
            <a:r>
              <a:rPr lang="en-SG" dirty="0"/>
              <a:t>Controller – Update </a:t>
            </a:r>
          </a:p>
        </p:txBody>
      </p:sp>
      <p:sp>
        <p:nvSpPr>
          <p:cNvPr id="6" name="TextBox 5">
            <a:extLst>
              <a:ext uri="{FF2B5EF4-FFF2-40B4-BE49-F238E27FC236}">
                <a16:creationId xmlns:a16="http://schemas.microsoft.com/office/drawing/2014/main" id="{D7EE8B7F-5A51-4B2E-27BF-FCC68565CBE5}"/>
              </a:ext>
            </a:extLst>
          </p:cNvPr>
          <p:cNvSpPr txBox="1"/>
          <p:nvPr/>
        </p:nvSpPr>
        <p:spPr>
          <a:xfrm>
            <a:off x="265726" y="3140508"/>
            <a:ext cx="4306274" cy="1785104"/>
          </a:xfrm>
          <a:prstGeom prst="rect">
            <a:avLst/>
          </a:prstGeom>
          <a:noFill/>
        </p:spPr>
        <p:txBody>
          <a:bodyPr wrap="square" rtlCol="0">
            <a:spAutoFit/>
          </a:bodyPr>
          <a:lstStyle/>
          <a:p>
            <a:r>
              <a:rPr lang="en-US" sz="1400" dirty="0"/>
              <a:t>The </a:t>
            </a:r>
            <a:r>
              <a:rPr lang="en-US" sz="1400" b="1" dirty="0"/>
              <a:t>update </a:t>
            </a:r>
            <a:r>
              <a:rPr lang="en-US" sz="1400" dirty="0"/>
              <a:t>method:</a:t>
            </a:r>
          </a:p>
          <a:p>
            <a:pPr marL="285750" indent="-285750">
              <a:buFont typeface="Arial" panose="020B0604020202020204" pitchFamily="34" charset="0"/>
              <a:buChar char="•"/>
            </a:pPr>
            <a:r>
              <a:rPr lang="en-US" sz="1200" dirty="0"/>
              <a:t>Handles </a:t>
            </a:r>
            <a:r>
              <a:rPr lang="en-US" sz="1200" b="1" dirty="0"/>
              <a:t>updating an existing student.</a:t>
            </a:r>
          </a:p>
          <a:p>
            <a:pPr marL="285750" indent="-285750">
              <a:buFont typeface="Arial" panose="020B0604020202020204" pitchFamily="34" charset="0"/>
              <a:buChar char="•"/>
            </a:pPr>
            <a:r>
              <a:rPr lang="en-US" sz="1200" dirty="0"/>
              <a:t>Extracts </a:t>
            </a:r>
            <a:r>
              <a:rPr lang="en-US" sz="1200" b="1" dirty="0"/>
              <a:t>id</a:t>
            </a:r>
            <a:r>
              <a:rPr lang="en-US" sz="1200" dirty="0"/>
              <a:t> from </a:t>
            </a:r>
            <a:r>
              <a:rPr lang="en-US" sz="1200" b="1" dirty="0" err="1"/>
              <a:t>req.params</a:t>
            </a:r>
            <a:r>
              <a:rPr lang="en-US" sz="1200" b="1" dirty="0"/>
              <a:t> </a:t>
            </a:r>
            <a:r>
              <a:rPr lang="en-US" sz="1200" dirty="0"/>
              <a:t>and updated fields from </a:t>
            </a:r>
            <a:r>
              <a:rPr lang="en-US" sz="1200" b="1" dirty="0" err="1"/>
              <a:t>req.body</a:t>
            </a:r>
            <a:r>
              <a:rPr lang="en-US" sz="1200" dirty="0"/>
              <a:t>.</a:t>
            </a:r>
          </a:p>
          <a:p>
            <a:pPr marL="285750" indent="-285750">
              <a:buFont typeface="Arial" panose="020B0604020202020204" pitchFamily="34" charset="0"/>
              <a:buChar char="•"/>
            </a:pPr>
            <a:r>
              <a:rPr lang="en-US" sz="1200" dirty="0"/>
              <a:t>If a new image is uploaded, use it; otherwise, keep </a:t>
            </a:r>
            <a:r>
              <a:rPr lang="en-US" sz="1200" b="1" dirty="0" err="1"/>
              <a:t>currentImage</a:t>
            </a:r>
            <a:r>
              <a:rPr lang="en-US" sz="1200" dirty="0"/>
              <a:t>.</a:t>
            </a:r>
          </a:p>
          <a:p>
            <a:pPr marL="285750" indent="-285750">
              <a:buFont typeface="Arial" panose="020B0604020202020204" pitchFamily="34" charset="0"/>
              <a:buChar char="•"/>
            </a:pPr>
            <a:r>
              <a:rPr lang="en-US" sz="1200" dirty="0"/>
              <a:t>Calls </a:t>
            </a:r>
            <a:r>
              <a:rPr lang="en-US" sz="1200" b="1" dirty="0" err="1"/>
              <a:t>student.update</a:t>
            </a:r>
            <a:r>
              <a:rPr lang="en-US" sz="1200" b="1" dirty="0"/>
              <a:t>() </a:t>
            </a:r>
            <a:r>
              <a:rPr lang="en-US" sz="1200" dirty="0"/>
              <a:t>with updated data.</a:t>
            </a:r>
          </a:p>
          <a:p>
            <a:pPr marL="285750" indent="-285750">
              <a:buFont typeface="Arial" panose="020B0604020202020204" pitchFamily="34" charset="0"/>
              <a:buChar char="•"/>
            </a:pPr>
            <a:r>
              <a:rPr lang="en-US" sz="1200" dirty="0"/>
              <a:t>If error → sends HTTP 500.</a:t>
            </a:r>
          </a:p>
          <a:p>
            <a:pPr marL="285750" indent="-285750">
              <a:buFont typeface="Arial" panose="020B0604020202020204" pitchFamily="34" charset="0"/>
              <a:buChar char="•"/>
            </a:pPr>
            <a:r>
              <a:rPr lang="en-US" sz="1200" dirty="0"/>
              <a:t>Otherwise → redirects to </a:t>
            </a:r>
            <a:r>
              <a:rPr lang="en-US" sz="1200" b="1" dirty="0"/>
              <a:t>/</a:t>
            </a:r>
            <a:r>
              <a:rPr lang="en-US" sz="1200" dirty="0"/>
              <a:t>.</a:t>
            </a:r>
            <a:endParaRPr lang="en-SG" sz="1200" dirty="0"/>
          </a:p>
        </p:txBody>
      </p:sp>
      <p:sp>
        <p:nvSpPr>
          <p:cNvPr id="7" name="Rectangle 6">
            <a:extLst>
              <a:ext uri="{FF2B5EF4-FFF2-40B4-BE49-F238E27FC236}">
                <a16:creationId xmlns:a16="http://schemas.microsoft.com/office/drawing/2014/main" id="{EA2F5C77-529C-2B89-2D07-45464ABFA7F4}"/>
              </a:ext>
            </a:extLst>
          </p:cNvPr>
          <p:cNvSpPr/>
          <p:nvPr/>
        </p:nvSpPr>
        <p:spPr>
          <a:xfrm>
            <a:off x="5043949" y="3942735"/>
            <a:ext cx="3195484" cy="13222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0257160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1D08C-4F07-C866-0761-9DE3346F3A7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CB8E980-3B78-250F-E09F-BC7576A4DADC}"/>
              </a:ext>
            </a:extLst>
          </p:cNvPr>
          <p:cNvPicPr>
            <a:picLocks noChangeAspect="1"/>
          </p:cNvPicPr>
          <p:nvPr/>
        </p:nvPicPr>
        <p:blipFill>
          <a:blip r:embed="rId2"/>
          <a:stretch>
            <a:fillRect/>
          </a:stretch>
        </p:blipFill>
        <p:spPr>
          <a:xfrm>
            <a:off x="4572000" y="2231183"/>
            <a:ext cx="3667432" cy="4561790"/>
          </a:xfrm>
          <a:prstGeom prst="rect">
            <a:avLst/>
          </a:prstGeom>
        </p:spPr>
      </p:pic>
      <p:sp>
        <p:nvSpPr>
          <p:cNvPr id="2" name="Text Placeholder 1">
            <a:extLst>
              <a:ext uri="{FF2B5EF4-FFF2-40B4-BE49-F238E27FC236}">
                <a16:creationId xmlns:a16="http://schemas.microsoft.com/office/drawing/2014/main" id="{30AE06E7-5690-97FB-9FBB-B7F25CBE773A}"/>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9318D8AB-D0E3-45DE-5D9F-D76126F01A36}"/>
              </a:ext>
            </a:extLst>
          </p:cNvPr>
          <p:cNvSpPr>
            <a:spLocks noGrp="1"/>
          </p:cNvSpPr>
          <p:nvPr>
            <p:ph type="title"/>
          </p:nvPr>
        </p:nvSpPr>
        <p:spPr/>
        <p:txBody>
          <a:bodyPr>
            <a:normAutofit fontScale="90000"/>
          </a:bodyPr>
          <a:lstStyle/>
          <a:p>
            <a:r>
              <a:rPr lang="en-SG" dirty="0"/>
              <a:t>Controller – Delete student by ID</a:t>
            </a:r>
          </a:p>
        </p:txBody>
      </p:sp>
      <p:sp>
        <p:nvSpPr>
          <p:cNvPr id="6" name="TextBox 5">
            <a:extLst>
              <a:ext uri="{FF2B5EF4-FFF2-40B4-BE49-F238E27FC236}">
                <a16:creationId xmlns:a16="http://schemas.microsoft.com/office/drawing/2014/main" id="{1ABCA1FD-5524-9271-4F30-A005EA751356}"/>
              </a:ext>
            </a:extLst>
          </p:cNvPr>
          <p:cNvSpPr txBox="1"/>
          <p:nvPr/>
        </p:nvSpPr>
        <p:spPr>
          <a:xfrm>
            <a:off x="462371" y="5072553"/>
            <a:ext cx="3283719" cy="1231106"/>
          </a:xfrm>
          <a:prstGeom prst="rect">
            <a:avLst/>
          </a:prstGeom>
          <a:noFill/>
        </p:spPr>
        <p:txBody>
          <a:bodyPr wrap="square" rtlCol="0">
            <a:spAutoFit/>
          </a:bodyPr>
          <a:lstStyle/>
          <a:p>
            <a:r>
              <a:rPr lang="en-US" sz="1400" dirty="0"/>
              <a:t>The </a:t>
            </a:r>
            <a:r>
              <a:rPr lang="en-US" sz="1400" b="1" dirty="0"/>
              <a:t>delete </a:t>
            </a:r>
            <a:r>
              <a:rPr lang="en-US" sz="1400" dirty="0"/>
              <a:t>method:</a:t>
            </a:r>
          </a:p>
          <a:p>
            <a:pPr marL="285750" indent="-285750">
              <a:buFont typeface="Arial" panose="020B0604020202020204" pitchFamily="34" charset="0"/>
              <a:buChar char="•"/>
            </a:pPr>
            <a:r>
              <a:rPr lang="en-US" sz="1200" dirty="0"/>
              <a:t>Handles </a:t>
            </a:r>
            <a:r>
              <a:rPr lang="en-US" sz="1200" b="1" dirty="0"/>
              <a:t>deleting a student by ID</a:t>
            </a:r>
            <a:r>
              <a:rPr lang="en-US" sz="1200" dirty="0"/>
              <a:t>.</a:t>
            </a:r>
          </a:p>
          <a:p>
            <a:pPr marL="285750" indent="-285750">
              <a:buFont typeface="Arial" panose="020B0604020202020204" pitchFamily="34" charset="0"/>
              <a:buChar char="•"/>
            </a:pPr>
            <a:r>
              <a:rPr lang="en-US" sz="1200" dirty="0"/>
              <a:t>Extracts </a:t>
            </a:r>
            <a:r>
              <a:rPr lang="en-US" sz="1200" b="1" dirty="0"/>
              <a:t>id</a:t>
            </a:r>
            <a:r>
              <a:rPr lang="en-US" sz="1200" dirty="0"/>
              <a:t> from </a:t>
            </a:r>
            <a:r>
              <a:rPr lang="en-US" sz="1200" b="1" dirty="0" err="1"/>
              <a:t>req.params</a:t>
            </a:r>
            <a:r>
              <a:rPr lang="en-US" sz="1200" dirty="0"/>
              <a:t>.</a:t>
            </a:r>
          </a:p>
          <a:p>
            <a:pPr marL="285750" indent="-285750">
              <a:buFont typeface="Arial" panose="020B0604020202020204" pitchFamily="34" charset="0"/>
              <a:buChar char="•"/>
            </a:pPr>
            <a:r>
              <a:rPr lang="en-US" sz="1200" dirty="0"/>
              <a:t>Calls </a:t>
            </a:r>
            <a:r>
              <a:rPr lang="en-US" sz="1200" b="1" dirty="0" err="1"/>
              <a:t>student.delete</a:t>
            </a:r>
            <a:r>
              <a:rPr lang="en-US" sz="1200" b="1" dirty="0"/>
              <a:t>().</a:t>
            </a:r>
          </a:p>
          <a:p>
            <a:pPr marL="285750" indent="-285750">
              <a:buFont typeface="Arial" panose="020B0604020202020204" pitchFamily="34" charset="0"/>
              <a:buChar char="•"/>
            </a:pPr>
            <a:r>
              <a:rPr lang="en-US" sz="1200" dirty="0"/>
              <a:t>If error → sends HTTP 500.</a:t>
            </a:r>
          </a:p>
          <a:p>
            <a:pPr marL="285750" indent="-285750">
              <a:buFont typeface="Arial" panose="020B0604020202020204" pitchFamily="34" charset="0"/>
              <a:buChar char="•"/>
            </a:pPr>
            <a:r>
              <a:rPr lang="en-US" sz="1200" dirty="0"/>
              <a:t>Otherwise → redirects to </a:t>
            </a:r>
            <a:r>
              <a:rPr lang="en-US" sz="1200" b="1" dirty="0"/>
              <a:t>/</a:t>
            </a:r>
            <a:r>
              <a:rPr lang="en-US" sz="1200" dirty="0"/>
              <a:t>.</a:t>
            </a:r>
            <a:endParaRPr lang="en-SG" sz="1200" dirty="0"/>
          </a:p>
        </p:txBody>
      </p:sp>
      <p:sp>
        <p:nvSpPr>
          <p:cNvPr id="7" name="Rectangle 6">
            <a:extLst>
              <a:ext uri="{FF2B5EF4-FFF2-40B4-BE49-F238E27FC236}">
                <a16:creationId xmlns:a16="http://schemas.microsoft.com/office/drawing/2014/main" id="{7630A510-309F-A7C6-D0D1-5E3DAE1D418C}"/>
              </a:ext>
            </a:extLst>
          </p:cNvPr>
          <p:cNvSpPr/>
          <p:nvPr/>
        </p:nvSpPr>
        <p:spPr>
          <a:xfrm>
            <a:off x="5043949" y="5378245"/>
            <a:ext cx="3195484" cy="10637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240184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EA2D2-3F7C-4D22-0712-ECB9DB97B67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5924CEA-D2B6-AEE5-F898-0B8B15B85B68}"/>
              </a:ext>
            </a:extLst>
          </p:cNvPr>
          <p:cNvPicPr>
            <a:picLocks noChangeAspect="1"/>
          </p:cNvPicPr>
          <p:nvPr/>
        </p:nvPicPr>
        <p:blipFill>
          <a:blip r:embed="rId2"/>
          <a:stretch>
            <a:fillRect/>
          </a:stretch>
        </p:blipFill>
        <p:spPr>
          <a:xfrm>
            <a:off x="4572000" y="2231183"/>
            <a:ext cx="3667432" cy="4561790"/>
          </a:xfrm>
          <a:prstGeom prst="rect">
            <a:avLst/>
          </a:prstGeom>
        </p:spPr>
      </p:pic>
      <p:sp>
        <p:nvSpPr>
          <p:cNvPr id="2" name="Text Placeholder 1">
            <a:extLst>
              <a:ext uri="{FF2B5EF4-FFF2-40B4-BE49-F238E27FC236}">
                <a16:creationId xmlns:a16="http://schemas.microsoft.com/office/drawing/2014/main" id="{8AECAA16-FE4A-BDC8-E91B-23708CC0D746}"/>
              </a:ext>
            </a:extLst>
          </p:cNvPr>
          <p:cNvSpPr>
            <a:spLocks noGrp="1"/>
          </p:cNvSpPr>
          <p:nvPr>
            <p:ph type="body" sz="quarter" idx="14"/>
          </p:nvPr>
        </p:nvSpPr>
        <p:spPr/>
        <p:txBody>
          <a:bodyPr/>
          <a:lstStyle/>
          <a:p>
            <a:r>
              <a:rPr lang="en-US" dirty="0"/>
              <a:t>Acts as an intermediary between the Model and View. It handles user input, updates the Model, and refreshes the View.</a:t>
            </a:r>
          </a:p>
          <a:p>
            <a:endParaRPr lang="en-SG" dirty="0"/>
          </a:p>
        </p:txBody>
      </p:sp>
      <p:sp>
        <p:nvSpPr>
          <p:cNvPr id="3" name="Title 2">
            <a:extLst>
              <a:ext uri="{FF2B5EF4-FFF2-40B4-BE49-F238E27FC236}">
                <a16:creationId xmlns:a16="http://schemas.microsoft.com/office/drawing/2014/main" id="{09DA4A96-4AEB-8846-3ABA-CD843BAB4299}"/>
              </a:ext>
            </a:extLst>
          </p:cNvPr>
          <p:cNvSpPr>
            <a:spLocks noGrp="1"/>
          </p:cNvSpPr>
          <p:nvPr>
            <p:ph type="title"/>
          </p:nvPr>
        </p:nvSpPr>
        <p:spPr/>
        <p:txBody>
          <a:bodyPr>
            <a:normAutofit fontScale="90000"/>
          </a:bodyPr>
          <a:lstStyle/>
          <a:p>
            <a:r>
              <a:rPr lang="en-SG" dirty="0"/>
              <a:t>Controller – Export controller object</a:t>
            </a:r>
          </a:p>
        </p:txBody>
      </p:sp>
      <p:sp>
        <p:nvSpPr>
          <p:cNvPr id="6" name="TextBox 5">
            <a:extLst>
              <a:ext uri="{FF2B5EF4-FFF2-40B4-BE49-F238E27FC236}">
                <a16:creationId xmlns:a16="http://schemas.microsoft.com/office/drawing/2014/main" id="{89EF4620-0431-73BB-8D29-2B72ECF8395B}"/>
              </a:ext>
            </a:extLst>
          </p:cNvPr>
          <p:cNvSpPr txBox="1"/>
          <p:nvPr/>
        </p:nvSpPr>
        <p:spPr>
          <a:xfrm>
            <a:off x="561976" y="5601469"/>
            <a:ext cx="3667432" cy="523220"/>
          </a:xfrm>
          <a:prstGeom prst="rect">
            <a:avLst/>
          </a:prstGeom>
          <a:noFill/>
        </p:spPr>
        <p:txBody>
          <a:bodyPr wrap="square" rtlCol="0">
            <a:spAutoFit/>
          </a:bodyPr>
          <a:lstStyle/>
          <a:p>
            <a:r>
              <a:rPr lang="en-US" sz="1400" dirty="0"/>
              <a:t>Exports the </a:t>
            </a:r>
            <a:r>
              <a:rPr lang="en-US" sz="1400" b="1" dirty="0" err="1"/>
              <a:t>studentController</a:t>
            </a:r>
            <a:r>
              <a:rPr lang="en-US" sz="1400" dirty="0"/>
              <a:t> object so it can be used in routes.</a:t>
            </a:r>
            <a:endParaRPr lang="en-SG" sz="1200" dirty="0"/>
          </a:p>
        </p:txBody>
      </p:sp>
      <p:sp>
        <p:nvSpPr>
          <p:cNvPr id="7" name="Rectangle 6">
            <a:extLst>
              <a:ext uri="{FF2B5EF4-FFF2-40B4-BE49-F238E27FC236}">
                <a16:creationId xmlns:a16="http://schemas.microsoft.com/office/drawing/2014/main" id="{1B995AC5-DE02-14C7-45EE-08DA5ACEAE61}"/>
              </a:ext>
            </a:extLst>
          </p:cNvPr>
          <p:cNvSpPr/>
          <p:nvPr/>
        </p:nvSpPr>
        <p:spPr>
          <a:xfrm>
            <a:off x="4857135" y="6607277"/>
            <a:ext cx="1651820" cy="1856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583041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DE633D-D364-9D72-F30A-53209690FC00}"/>
              </a:ext>
            </a:extLst>
          </p:cNvPr>
          <p:cNvSpPr>
            <a:spLocks noGrp="1"/>
          </p:cNvSpPr>
          <p:nvPr>
            <p:ph type="title"/>
          </p:nvPr>
        </p:nvSpPr>
        <p:spPr/>
        <p:txBody>
          <a:bodyPr/>
          <a:lstStyle/>
          <a:p>
            <a:r>
              <a:rPr lang="en-SG" dirty="0"/>
              <a:t>How it Works</a:t>
            </a:r>
          </a:p>
        </p:txBody>
      </p:sp>
      <p:sp>
        <p:nvSpPr>
          <p:cNvPr id="4" name="TextBox 3">
            <a:extLst>
              <a:ext uri="{FF2B5EF4-FFF2-40B4-BE49-F238E27FC236}">
                <a16:creationId xmlns:a16="http://schemas.microsoft.com/office/drawing/2014/main" id="{6C8B819B-63D0-11B0-8210-6CF14C9C2AF0}"/>
              </a:ext>
            </a:extLst>
          </p:cNvPr>
          <p:cNvSpPr txBox="1"/>
          <p:nvPr/>
        </p:nvSpPr>
        <p:spPr>
          <a:xfrm>
            <a:off x="2250585" y="2245804"/>
            <a:ext cx="793230" cy="369332"/>
          </a:xfrm>
          <a:prstGeom prst="rect">
            <a:avLst/>
          </a:prstGeom>
          <a:noFill/>
          <a:ln>
            <a:solidFill>
              <a:srgbClr val="0070C0"/>
            </a:solidFill>
          </a:ln>
        </p:spPr>
        <p:txBody>
          <a:bodyPr wrap="none" rtlCol="0">
            <a:spAutoFit/>
          </a:bodyPr>
          <a:lstStyle/>
          <a:p>
            <a:pPr algn="ctr"/>
            <a:r>
              <a:rPr lang="en-SG" dirty="0"/>
              <a:t>app.js</a:t>
            </a:r>
          </a:p>
        </p:txBody>
      </p:sp>
      <p:pic>
        <p:nvPicPr>
          <p:cNvPr id="6" name="Picture 5">
            <a:extLst>
              <a:ext uri="{FF2B5EF4-FFF2-40B4-BE49-F238E27FC236}">
                <a16:creationId xmlns:a16="http://schemas.microsoft.com/office/drawing/2014/main" id="{32290B7A-2153-5D50-F80D-7B72D7E4ECB7}"/>
              </a:ext>
            </a:extLst>
          </p:cNvPr>
          <p:cNvPicPr>
            <a:picLocks noChangeAspect="1"/>
          </p:cNvPicPr>
          <p:nvPr/>
        </p:nvPicPr>
        <p:blipFill>
          <a:blip r:embed="rId2"/>
          <a:stretch>
            <a:fillRect/>
          </a:stretch>
        </p:blipFill>
        <p:spPr>
          <a:xfrm>
            <a:off x="5172410" y="1949640"/>
            <a:ext cx="3151992" cy="1758254"/>
          </a:xfrm>
          <a:prstGeom prst="rect">
            <a:avLst/>
          </a:prstGeom>
        </p:spPr>
      </p:pic>
      <p:sp>
        <p:nvSpPr>
          <p:cNvPr id="7" name="TextBox 6">
            <a:extLst>
              <a:ext uri="{FF2B5EF4-FFF2-40B4-BE49-F238E27FC236}">
                <a16:creationId xmlns:a16="http://schemas.microsoft.com/office/drawing/2014/main" id="{3A3E38EC-3756-1C38-E7BA-CD4F5714960B}"/>
              </a:ext>
            </a:extLst>
          </p:cNvPr>
          <p:cNvSpPr txBox="1"/>
          <p:nvPr/>
        </p:nvSpPr>
        <p:spPr>
          <a:xfrm>
            <a:off x="1558991" y="3707894"/>
            <a:ext cx="2192460" cy="646331"/>
          </a:xfrm>
          <a:prstGeom prst="rect">
            <a:avLst/>
          </a:prstGeom>
          <a:noFill/>
          <a:ln>
            <a:solidFill>
              <a:srgbClr val="0070C0"/>
            </a:solidFill>
          </a:ln>
        </p:spPr>
        <p:txBody>
          <a:bodyPr wrap="none" rtlCol="0">
            <a:spAutoFit/>
          </a:bodyPr>
          <a:lstStyle/>
          <a:p>
            <a:pPr algn="ctr"/>
            <a:r>
              <a:rPr lang="en-SG" dirty="0"/>
              <a:t>StudentController.js</a:t>
            </a:r>
          </a:p>
          <a:p>
            <a:pPr algn="ctr"/>
            <a:r>
              <a:rPr lang="en-SG" dirty="0"/>
              <a:t>(Controller)</a:t>
            </a:r>
          </a:p>
        </p:txBody>
      </p:sp>
      <p:sp>
        <p:nvSpPr>
          <p:cNvPr id="8" name="TextBox 7">
            <a:extLst>
              <a:ext uri="{FF2B5EF4-FFF2-40B4-BE49-F238E27FC236}">
                <a16:creationId xmlns:a16="http://schemas.microsoft.com/office/drawing/2014/main" id="{1F47723B-34D3-EF3B-8F36-227B2B41C345}"/>
              </a:ext>
            </a:extLst>
          </p:cNvPr>
          <p:cNvSpPr txBox="1"/>
          <p:nvPr/>
        </p:nvSpPr>
        <p:spPr>
          <a:xfrm>
            <a:off x="2045112" y="5714570"/>
            <a:ext cx="1204176" cy="646331"/>
          </a:xfrm>
          <a:prstGeom prst="rect">
            <a:avLst/>
          </a:prstGeom>
          <a:noFill/>
          <a:ln>
            <a:solidFill>
              <a:srgbClr val="0070C0"/>
            </a:solidFill>
          </a:ln>
        </p:spPr>
        <p:txBody>
          <a:bodyPr wrap="none" rtlCol="0">
            <a:spAutoFit/>
          </a:bodyPr>
          <a:lstStyle/>
          <a:p>
            <a:pPr algn="ctr"/>
            <a:r>
              <a:rPr lang="en-SG" dirty="0"/>
              <a:t>Student.js</a:t>
            </a:r>
          </a:p>
          <a:p>
            <a:pPr algn="ctr"/>
            <a:r>
              <a:rPr lang="en-SG" dirty="0"/>
              <a:t>(Model)</a:t>
            </a:r>
          </a:p>
        </p:txBody>
      </p:sp>
      <p:sp>
        <p:nvSpPr>
          <p:cNvPr id="9" name="TextBox 8">
            <a:extLst>
              <a:ext uri="{FF2B5EF4-FFF2-40B4-BE49-F238E27FC236}">
                <a16:creationId xmlns:a16="http://schemas.microsoft.com/office/drawing/2014/main" id="{961F8FA7-3733-9E51-2D93-CC08AA17B182}"/>
              </a:ext>
            </a:extLst>
          </p:cNvPr>
          <p:cNvSpPr txBox="1"/>
          <p:nvPr/>
        </p:nvSpPr>
        <p:spPr>
          <a:xfrm>
            <a:off x="6088899" y="5369198"/>
            <a:ext cx="1319015" cy="646331"/>
          </a:xfrm>
          <a:prstGeom prst="rect">
            <a:avLst/>
          </a:prstGeom>
          <a:noFill/>
          <a:ln>
            <a:solidFill>
              <a:srgbClr val="0070C0"/>
            </a:solidFill>
          </a:ln>
        </p:spPr>
        <p:txBody>
          <a:bodyPr wrap="none" rtlCol="0">
            <a:spAutoFit/>
          </a:bodyPr>
          <a:lstStyle/>
          <a:p>
            <a:pPr algn="ctr"/>
            <a:r>
              <a:rPr lang="en-SG" dirty="0" err="1"/>
              <a:t>Student.ejs</a:t>
            </a:r>
            <a:endParaRPr lang="en-SG" dirty="0"/>
          </a:p>
          <a:p>
            <a:pPr algn="ctr"/>
            <a:r>
              <a:rPr lang="en-SG" dirty="0"/>
              <a:t>(View)</a:t>
            </a:r>
          </a:p>
        </p:txBody>
      </p:sp>
      <p:cxnSp>
        <p:nvCxnSpPr>
          <p:cNvPr id="11" name="Straight Arrow Connector 10">
            <a:extLst>
              <a:ext uri="{FF2B5EF4-FFF2-40B4-BE49-F238E27FC236}">
                <a16:creationId xmlns:a16="http://schemas.microsoft.com/office/drawing/2014/main" id="{112F83EC-11C0-C51B-E2B8-C11A7F5CCC32}"/>
              </a:ext>
            </a:extLst>
          </p:cNvPr>
          <p:cNvCxnSpPr>
            <a:cxnSpLocks/>
            <a:stCxn id="4" idx="2"/>
            <a:endCxn id="7" idx="0"/>
          </p:cNvCxnSpPr>
          <p:nvPr/>
        </p:nvCxnSpPr>
        <p:spPr>
          <a:xfrm>
            <a:off x="2647200" y="2615136"/>
            <a:ext cx="8021" cy="1092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94DE6C2-9A08-DA44-C348-89C82159FB52}"/>
              </a:ext>
            </a:extLst>
          </p:cNvPr>
          <p:cNvSpPr txBox="1"/>
          <p:nvPr/>
        </p:nvSpPr>
        <p:spPr>
          <a:xfrm>
            <a:off x="2727715" y="2791775"/>
            <a:ext cx="2192460" cy="769441"/>
          </a:xfrm>
          <a:prstGeom prst="rect">
            <a:avLst/>
          </a:prstGeom>
          <a:noFill/>
        </p:spPr>
        <p:txBody>
          <a:bodyPr wrap="square" rtlCol="0">
            <a:spAutoFit/>
          </a:bodyPr>
          <a:lstStyle/>
          <a:p>
            <a:r>
              <a:rPr lang="en-SG" sz="1100" dirty="0"/>
              <a:t>2. The route for ‘/’ is called, which will then call the function list from </a:t>
            </a:r>
            <a:r>
              <a:rPr lang="en-SG" sz="1100" dirty="0" err="1"/>
              <a:t>studentController</a:t>
            </a:r>
            <a:endParaRPr lang="en-SG" sz="1100" dirty="0"/>
          </a:p>
          <a:p>
            <a:endParaRPr lang="en-SG" sz="1100" dirty="0"/>
          </a:p>
        </p:txBody>
      </p:sp>
      <p:sp>
        <p:nvSpPr>
          <p:cNvPr id="14" name="TextBox 13">
            <a:extLst>
              <a:ext uri="{FF2B5EF4-FFF2-40B4-BE49-F238E27FC236}">
                <a16:creationId xmlns:a16="http://schemas.microsoft.com/office/drawing/2014/main" id="{172A9FD6-2DA1-38E9-C7C6-0B0F6E3A08AF}"/>
              </a:ext>
            </a:extLst>
          </p:cNvPr>
          <p:cNvSpPr txBox="1"/>
          <p:nvPr/>
        </p:nvSpPr>
        <p:spPr>
          <a:xfrm>
            <a:off x="2556779" y="1400986"/>
            <a:ext cx="2947918" cy="430887"/>
          </a:xfrm>
          <a:prstGeom prst="rect">
            <a:avLst/>
          </a:prstGeom>
          <a:noFill/>
          <a:ln>
            <a:solidFill>
              <a:schemeClr val="bg1"/>
            </a:solidFill>
          </a:ln>
        </p:spPr>
        <p:txBody>
          <a:bodyPr wrap="square" rtlCol="0">
            <a:spAutoFit/>
          </a:bodyPr>
          <a:lstStyle/>
          <a:p>
            <a:r>
              <a:rPr lang="en-SG" sz="1100" dirty="0"/>
              <a:t>1. User enters URL: http://localhost:3000</a:t>
            </a:r>
            <a:r>
              <a:rPr lang="en-SG" sz="1100" b="1" dirty="0">
                <a:highlight>
                  <a:srgbClr val="FFFF00"/>
                </a:highlight>
              </a:rPr>
              <a:t>/</a:t>
            </a:r>
            <a:r>
              <a:rPr lang="en-SG" sz="1100" b="1" dirty="0"/>
              <a:t> </a:t>
            </a:r>
            <a:r>
              <a:rPr lang="en-SG" sz="1100" dirty="0"/>
              <a:t>which goes to app.js to look got the route ‘/’</a:t>
            </a:r>
          </a:p>
        </p:txBody>
      </p:sp>
      <p:cxnSp>
        <p:nvCxnSpPr>
          <p:cNvPr id="18" name="Straight Arrow Connector 17">
            <a:extLst>
              <a:ext uri="{FF2B5EF4-FFF2-40B4-BE49-F238E27FC236}">
                <a16:creationId xmlns:a16="http://schemas.microsoft.com/office/drawing/2014/main" id="{00429203-6E27-B45F-AAD4-E1E6A7D27482}"/>
              </a:ext>
            </a:extLst>
          </p:cNvPr>
          <p:cNvCxnSpPr>
            <a:cxnSpLocks/>
          </p:cNvCxnSpPr>
          <p:nvPr/>
        </p:nvCxnSpPr>
        <p:spPr>
          <a:xfrm>
            <a:off x="2222764" y="4354225"/>
            <a:ext cx="0" cy="13603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E4BC18E-AB46-584C-13FC-9393B3259C71}"/>
              </a:ext>
            </a:extLst>
          </p:cNvPr>
          <p:cNvSpPr txBox="1"/>
          <p:nvPr/>
        </p:nvSpPr>
        <p:spPr>
          <a:xfrm>
            <a:off x="59928" y="4598879"/>
            <a:ext cx="2042008" cy="938719"/>
          </a:xfrm>
          <a:prstGeom prst="rect">
            <a:avLst/>
          </a:prstGeom>
          <a:noFill/>
          <a:ln>
            <a:solidFill>
              <a:schemeClr val="bg1"/>
            </a:solidFill>
          </a:ln>
        </p:spPr>
        <p:txBody>
          <a:bodyPr wrap="square" rtlCol="0">
            <a:spAutoFit/>
          </a:bodyPr>
          <a:lstStyle/>
          <a:p>
            <a:r>
              <a:rPr lang="en-SG" sz="1100" dirty="0"/>
              <a:t>3. The student controller handles the request by calling the list function which calls the student model to fetch the data.</a:t>
            </a:r>
          </a:p>
        </p:txBody>
      </p:sp>
      <p:sp>
        <p:nvSpPr>
          <p:cNvPr id="20" name="TextBox 19">
            <a:extLst>
              <a:ext uri="{FF2B5EF4-FFF2-40B4-BE49-F238E27FC236}">
                <a16:creationId xmlns:a16="http://schemas.microsoft.com/office/drawing/2014/main" id="{A67C7128-2688-E0C2-8719-0034B1342900}"/>
              </a:ext>
            </a:extLst>
          </p:cNvPr>
          <p:cNvSpPr txBox="1"/>
          <p:nvPr/>
        </p:nvSpPr>
        <p:spPr>
          <a:xfrm>
            <a:off x="3099391" y="5090562"/>
            <a:ext cx="2572294" cy="600164"/>
          </a:xfrm>
          <a:prstGeom prst="rect">
            <a:avLst/>
          </a:prstGeom>
          <a:noFill/>
          <a:ln>
            <a:solidFill>
              <a:schemeClr val="bg1"/>
            </a:solidFill>
          </a:ln>
        </p:spPr>
        <p:txBody>
          <a:bodyPr wrap="square" rtlCol="0">
            <a:spAutoFit/>
          </a:bodyPr>
          <a:lstStyle/>
          <a:p>
            <a:r>
              <a:rPr lang="en-SG" sz="1100" dirty="0"/>
              <a:t>4. The student model queries the database and returns the rows via the model callback to the controller.</a:t>
            </a:r>
          </a:p>
        </p:txBody>
      </p:sp>
      <p:cxnSp>
        <p:nvCxnSpPr>
          <p:cNvPr id="23" name="Straight Arrow Connector 22">
            <a:extLst>
              <a:ext uri="{FF2B5EF4-FFF2-40B4-BE49-F238E27FC236}">
                <a16:creationId xmlns:a16="http://schemas.microsoft.com/office/drawing/2014/main" id="{7720C112-5C4E-AD6C-5628-72301A07EEBE}"/>
              </a:ext>
            </a:extLst>
          </p:cNvPr>
          <p:cNvCxnSpPr>
            <a:cxnSpLocks/>
          </p:cNvCxnSpPr>
          <p:nvPr/>
        </p:nvCxnSpPr>
        <p:spPr>
          <a:xfrm flipV="1">
            <a:off x="3015651" y="4354225"/>
            <a:ext cx="0" cy="13603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65B9141-DCE6-D2C7-C124-8528CBFAE375}"/>
              </a:ext>
            </a:extLst>
          </p:cNvPr>
          <p:cNvCxnSpPr>
            <a:stCxn id="7" idx="3"/>
            <a:endCxn id="9" idx="1"/>
          </p:cNvCxnSpPr>
          <p:nvPr/>
        </p:nvCxnSpPr>
        <p:spPr>
          <a:xfrm>
            <a:off x="3751451" y="4031060"/>
            <a:ext cx="2337448" cy="1661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BDD8F83D-8E14-1E8C-5074-54077B67379D}"/>
              </a:ext>
            </a:extLst>
          </p:cNvPr>
          <p:cNvSpPr txBox="1"/>
          <p:nvPr/>
        </p:nvSpPr>
        <p:spPr>
          <a:xfrm>
            <a:off x="4487250" y="4223420"/>
            <a:ext cx="2194832" cy="261610"/>
          </a:xfrm>
          <a:prstGeom prst="rect">
            <a:avLst/>
          </a:prstGeom>
          <a:noFill/>
        </p:spPr>
        <p:txBody>
          <a:bodyPr wrap="none" rtlCol="0">
            <a:spAutoFit/>
          </a:bodyPr>
          <a:lstStyle/>
          <a:p>
            <a:r>
              <a:rPr lang="en-SG" sz="1100" dirty="0"/>
              <a:t>5. The controller renders the view</a:t>
            </a:r>
          </a:p>
        </p:txBody>
      </p:sp>
      <p:cxnSp>
        <p:nvCxnSpPr>
          <p:cNvPr id="37" name="Straight Arrow Connector 36">
            <a:extLst>
              <a:ext uri="{FF2B5EF4-FFF2-40B4-BE49-F238E27FC236}">
                <a16:creationId xmlns:a16="http://schemas.microsoft.com/office/drawing/2014/main" id="{EB77D5D8-2F19-409B-638E-E089C4722982}"/>
              </a:ext>
            </a:extLst>
          </p:cNvPr>
          <p:cNvCxnSpPr>
            <a:stCxn id="9" idx="0"/>
          </p:cNvCxnSpPr>
          <p:nvPr/>
        </p:nvCxnSpPr>
        <p:spPr>
          <a:xfrm flipH="1" flipV="1">
            <a:off x="6748406" y="3707894"/>
            <a:ext cx="1" cy="1661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1CFC808-1199-70F7-B6F7-3FE6A574B506}"/>
              </a:ext>
            </a:extLst>
          </p:cNvPr>
          <p:cNvSpPr txBox="1"/>
          <p:nvPr/>
        </p:nvSpPr>
        <p:spPr>
          <a:xfrm>
            <a:off x="7182211" y="3962310"/>
            <a:ext cx="1903644" cy="600164"/>
          </a:xfrm>
          <a:prstGeom prst="rect">
            <a:avLst/>
          </a:prstGeom>
          <a:noFill/>
        </p:spPr>
        <p:txBody>
          <a:bodyPr wrap="square" rtlCol="0">
            <a:spAutoFit/>
          </a:bodyPr>
          <a:lstStyle/>
          <a:p>
            <a:r>
              <a:rPr lang="en-SG" sz="1100" dirty="0"/>
              <a:t>6. The view produces the relevant HTML sent to the client(browser) </a:t>
            </a:r>
          </a:p>
        </p:txBody>
      </p:sp>
      <p:sp>
        <p:nvSpPr>
          <p:cNvPr id="43" name="Rectangle 42">
            <a:extLst>
              <a:ext uri="{FF2B5EF4-FFF2-40B4-BE49-F238E27FC236}">
                <a16:creationId xmlns:a16="http://schemas.microsoft.com/office/drawing/2014/main" id="{7A515118-B012-2AE4-3A63-647AB858DA14}"/>
              </a:ext>
            </a:extLst>
          </p:cNvPr>
          <p:cNvSpPr/>
          <p:nvPr/>
        </p:nvSpPr>
        <p:spPr>
          <a:xfrm>
            <a:off x="5172410" y="1948002"/>
            <a:ext cx="1026371" cy="2978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5" name="Straight Arrow Connector 44">
            <a:extLst>
              <a:ext uri="{FF2B5EF4-FFF2-40B4-BE49-F238E27FC236}">
                <a16:creationId xmlns:a16="http://schemas.microsoft.com/office/drawing/2014/main" id="{8D455EF0-9A20-A2C7-BE2B-98877D230809}"/>
              </a:ext>
            </a:extLst>
          </p:cNvPr>
          <p:cNvCxnSpPr>
            <a:cxnSpLocks/>
            <a:stCxn id="43" idx="1"/>
            <a:endCxn id="4" idx="3"/>
          </p:cNvCxnSpPr>
          <p:nvPr/>
        </p:nvCxnSpPr>
        <p:spPr>
          <a:xfrm flipH="1">
            <a:off x="3043815" y="2096903"/>
            <a:ext cx="2128595" cy="3335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987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6BF823-5981-C2F0-71AF-7A31871410C3}"/>
              </a:ext>
            </a:extLst>
          </p:cNvPr>
          <p:cNvSpPr>
            <a:spLocks noGrp="1"/>
          </p:cNvSpPr>
          <p:nvPr>
            <p:ph type="body" sz="quarter" idx="13"/>
          </p:nvPr>
        </p:nvSpPr>
        <p:spPr/>
        <p:txBody>
          <a:bodyPr/>
          <a:lstStyle/>
          <a:p>
            <a:r>
              <a:rPr lang="en-SG" dirty="0"/>
              <a:t>Weeks 2 - 7</a:t>
            </a:r>
          </a:p>
        </p:txBody>
      </p:sp>
      <p:sp>
        <p:nvSpPr>
          <p:cNvPr id="3" name="Title 2">
            <a:extLst>
              <a:ext uri="{FF2B5EF4-FFF2-40B4-BE49-F238E27FC236}">
                <a16:creationId xmlns:a16="http://schemas.microsoft.com/office/drawing/2014/main" id="{40FE62C8-CF77-FA57-A5B1-AB80CDEE4B4D}"/>
              </a:ext>
            </a:extLst>
          </p:cNvPr>
          <p:cNvSpPr>
            <a:spLocks noGrp="1"/>
          </p:cNvSpPr>
          <p:nvPr>
            <p:ph type="title"/>
          </p:nvPr>
        </p:nvSpPr>
        <p:spPr/>
        <p:txBody>
          <a:bodyPr/>
          <a:lstStyle/>
          <a:p>
            <a:r>
              <a:rPr lang="en-SG" dirty="0"/>
              <a:t>CA1 Deliverable</a:t>
            </a:r>
          </a:p>
        </p:txBody>
      </p:sp>
    </p:spTree>
    <p:extLst>
      <p:ext uri="{BB962C8B-B14F-4D97-AF65-F5344CB8AC3E}">
        <p14:creationId xmlns:p14="http://schemas.microsoft.com/office/powerpoint/2010/main" val="19480099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F15163-1F69-8073-496A-3C16A0D6F6F0}"/>
              </a:ext>
            </a:extLst>
          </p:cNvPr>
          <p:cNvSpPr>
            <a:spLocks noGrp="1"/>
          </p:cNvSpPr>
          <p:nvPr>
            <p:ph type="body" sz="quarter" idx="14"/>
          </p:nvPr>
        </p:nvSpPr>
        <p:spPr/>
        <p:txBody>
          <a:bodyPr/>
          <a:lstStyle/>
          <a:p>
            <a:r>
              <a:rPr lang="en-US" dirty="0"/>
              <a:t>For CA1, you will use the </a:t>
            </a:r>
            <a:r>
              <a:rPr lang="en-US" b="1" dirty="0" err="1"/>
              <a:t>SupermarketApp</a:t>
            </a:r>
            <a:r>
              <a:rPr lang="en-US" dirty="0"/>
              <a:t> from C237 as your starting point.</a:t>
            </a:r>
          </a:p>
          <a:p>
            <a:endParaRPr lang="en-US" dirty="0"/>
          </a:p>
          <a:p>
            <a:r>
              <a:rPr lang="en-US" dirty="0"/>
              <a:t>This week, your task is to apply the MVC (Model-View-Controller) design pattern to the </a:t>
            </a:r>
            <a:r>
              <a:rPr lang="en-US" b="1" dirty="0" err="1"/>
              <a:t>SupermarketApp</a:t>
            </a:r>
            <a:r>
              <a:rPr lang="en-US" dirty="0"/>
              <a:t>.</a:t>
            </a:r>
          </a:p>
          <a:p>
            <a:endParaRPr lang="en-US" dirty="0"/>
          </a:p>
          <a:p>
            <a:r>
              <a:rPr lang="en-US" dirty="0"/>
              <a:t>Additionally, you must document your work in the file:</a:t>
            </a:r>
            <a:br>
              <a:rPr lang="en-US" dirty="0"/>
            </a:br>
            <a:r>
              <a:rPr lang="en-US" sz="1600" i="1" dirty="0">
                <a:solidFill>
                  <a:srgbClr val="0070C0"/>
                </a:solidFill>
              </a:rPr>
              <a:t>C372 Individual CA1 AI Interaction Journal – STUDENTID – STUDENTNAME.docx</a:t>
            </a:r>
            <a:endParaRPr lang="en-US" i="1" dirty="0">
              <a:solidFill>
                <a:srgbClr val="0070C0"/>
              </a:solidFill>
            </a:endParaRPr>
          </a:p>
        </p:txBody>
      </p:sp>
      <p:sp>
        <p:nvSpPr>
          <p:cNvPr id="3" name="Title 2">
            <a:extLst>
              <a:ext uri="{FF2B5EF4-FFF2-40B4-BE49-F238E27FC236}">
                <a16:creationId xmlns:a16="http://schemas.microsoft.com/office/drawing/2014/main" id="{48E7AFF6-84A2-A663-F04A-E9CBACDB2D73}"/>
              </a:ext>
            </a:extLst>
          </p:cNvPr>
          <p:cNvSpPr>
            <a:spLocks noGrp="1"/>
          </p:cNvSpPr>
          <p:nvPr>
            <p:ph type="title"/>
          </p:nvPr>
        </p:nvSpPr>
        <p:spPr/>
        <p:txBody>
          <a:bodyPr/>
          <a:lstStyle/>
          <a:p>
            <a:r>
              <a:rPr lang="en-SG" dirty="0"/>
              <a:t>CA1 Deliverable</a:t>
            </a:r>
          </a:p>
        </p:txBody>
      </p:sp>
    </p:spTree>
    <p:extLst>
      <p:ext uri="{BB962C8B-B14F-4D97-AF65-F5344CB8AC3E}">
        <p14:creationId xmlns:p14="http://schemas.microsoft.com/office/powerpoint/2010/main" val="4080659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C3400A-A99E-1A34-494B-F4CC3688BC14}"/>
              </a:ext>
            </a:extLst>
          </p:cNvPr>
          <p:cNvSpPr>
            <a:spLocks noGrp="1"/>
          </p:cNvSpPr>
          <p:nvPr>
            <p:ph type="body" sz="quarter" idx="14"/>
          </p:nvPr>
        </p:nvSpPr>
        <p:spPr/>
        <p:txBody>
          <a:bodyPr/>
          <a:lstStyle/>
          <a:p>
            <a:pPr marL="0" indent="0">
              <a:lnSpc>
                <a:spcPct val="100000"/>
              </a:lnSpc>
              <a:buNone/>
            </a:pPr>
            <a:r>
              <a:rPr lang="en-SG" sz="1800" dirty="0"/>
              <a:t>In the </a:t>
            </a:r>
            <a:r>
              <a:rPr lang="en-SG" sz="1800" b="1" dirty="0"/>
              <a:t>Resources</a:t>
            </a:r>
            <a:r>
              <a:rPr lang="en-SG" sz="1800" dirty="0"/>
              <a:t> folder, </a:t>
            </a:r>
            <a:r>
              <a:rPr lang="en-SG" sz="1800" b="1" dirty="0" err="1"/>
              <a:t>SupermarketApp</a:t>
            </a:r>
            <a:r>
              <a:rPr lang="en-SG" sz="1800" dirty="0"/>
              <a:t> project files and </a:t>
            </a:r>
            <a:r>
              <a:rPr lang="en-SG" sz="1800" b="1" dirty="0"/>
              <a:t>c372_supermarketdb.sql</a:t>
            </a:r>
            <a:r>
              <a:rPr lang="en-SG" sz="1800" dirty="0"/>
              <a:t> is provided to you. </a:t>
            </a:r>
          </a:p>
          <a:p>
            <a:pPr>
              <a:lnSpc>
                <a:spcPct val="150000"/>
              </a:lnSpc>
            </a:pPr>
            <a:r>
              <a:rPr lang="en-SG" sz="1800" dirty="0"/>
              <a:t>Setup and test that </a:t>
            </a:r>
            <a:r>
              <a:rPr lang="en-SG" sz="1800" b="1" dirty="0" err="1"/>
              <a:t>SupermarketApp</a:t>
            </a:r>
            <a:r>
              <a:rPr lang="en-SG" sz="1800" dirty="0"/>
              <a:t> works as expected.</a:t>
            </a:r>
          </a:p>
          <a:p>
            <a:pPr>
              <a:lnSpc>
                <a:spcPct val="100000"/>
              </a:lnSpc>
            </a:pPr>
            <a:r>
              <a:rPr lang="en-SG" sz="1800" dirty="0"/>
              <a:t>Create a copy of </a:t>
            </a:r>
            <a:r>
              <a:rPr lang="en-SG" sz="1800" b="1" dirty="0" err="1"/>
              <a:t>SupermarketApp</a:t>
            </a:r>
            <a:r>
              <a:rPr lang="en-SG" sz="1800" dirty="0"/>
              <a:t> and name it </a:t>
            </a:r>
            <a:r>
              <a:rPr lang="en-SG" sz="1800" b="1" dirty="0" err="1"/>
              <a:t>SupermarketAppMVC</a:t>
            </a:r>
            <a:endParaRPr lang="en-SG" sz="1800" b="1" dirty="0"/>
          </a:p>
          <a:p>
            <a:pPr>
              <a:lnSpc>
                <a:spcPct val="100000"/>
              </a:lnSpc>
            </a:pPr>
            <a:r>
              <a:rPr lang="en-SG" sz="1800" dirty="0"/>
              <a:t>Follow the steps you did for </a:t>
            </a:r>
            <a:r>
              <a:rPr lang="en-SG" sz="1800" b="1" dirty="0" err="1"/>
              <a:t>StudentAppMVC</a:t>
            </a:r>
            <a:endParaRPr lang="en-SG" sz="1800" b="1" dirty="0"/>
          </a:p>
          <a:p>
            <a:pPr>
              <a:lnSpc>
                <a:spcPct val="150000"/>
              </a:lnSpc>
            </a:pPr>
            <a:r>
              <a:rPr lang="en-SG" sz="1800" dirty="0"/>
              <a:t>Prepare the project structure for </a:t>
            </a:r>
            <a:r>
              <a:rPr lang="en-SG" sz="1800" b="1" dirty="0" err="1"/>
              <a:t>SupermarketAppMVC</a:t>
            </a:r>
            <a:r>
              <a:rPr lang="en-SG" sz="1800" dirty="0"/>
              <a:t> </a:t>
            </a:r>
          </a:p>
          <a:p>
            <a:pPr>
              <a:lnSpc>
                <a:spcPct val="100000"/>
              </a:lnSpc>
            </a:pPr>
            <a:r>
              <a:rPr lang="en-SG" sz="1800" dirty="0"/>
              <a:t>Document your </a:t>
            </a:r>
            <a:r>
              <a:rPr lang="en-US" sz="1800" dirty="0"/>
              <a:t>work in the file:</a:t>
            </a:r>
            <a:br>
              <a:rPr lang="en-US" sz="1800" dirty="0"/>
            </a:br>
            <a:r>
              <a:rPr lang="en-US" sz="1800" i="1" dirty="0">
                <a:solidFill>
                  <a:srgbClr val="0070C0"/>
                </a:solidFill>
              </a:rPr>
              <a:t>C372 Individual CA1 AI Interaction Journal – STUDENTID – STUDENTNAME.docx</a:t>
            </a:r>
            <a:r>
              <a:rPr lang="en-SG" sz="1800" dirty="0"/>
              <a:t>  </a:t>
            </a:r>
          </a:p>
        </p:txBody>
      </p:sp>
      <p:sp>
        <p:nvSpPr>
          <p:cNvPr id="3" name="Title 2">
            <a:extLst>
              <a:ext uri="{FF2B5EF4-FFF2-40B4-BE49-F238E27FC236}">
                <a16:creationId xmlns:a16="http://schemas.microsoft.com/office/drawing/2014/main" id="{3B9F14E2-2868-A691-9D03-AAC7F50DD973}"/>
              </a:ext>
            </a:extLst>
          </p:cNvPr>
          <p:cNvSpPr>
            <a:spLocks noGrp="1"/>
          </p:cNvSpPr>
          <p:nvPr>
            <p:ph type="title"/>
          </p:nvPr>
        </p:nvSpPr>
        <p:spPr/>
        <p:txBody>
          <a:bodyPr/>
          <a:lstStyle/>
          <a:p>
            <a:r>
              <a:rPr lang="en-SG" dirty="0"/>
              <a:t>Exercise 9</a:t>
            </a:r>
          </a:p>
        </p:txBody>
      </p:sp>
      <p:sp>
        <p:nvSpPr>
          <p:cNvPr id="4" name="TextBox 3">
            <a:extLst>
              <a:ext uri="{FF2B5EF4-FFF2-40B4-BE49-F238E27FC236}">
                <a16:creationId xmlns:a16="http://schemas.microsoft.com/office/drawing/2014/main" id="{5563B0F4-6274-09D8-A186-87730F0D60FE}"/>
              </a:ext>
            </a:extLst>
          </p:cNvPr>
          <p:cNvSpPr txBox="1"/>
          <p:nvPr/>
        </p:nvSpPr>
        <p:spPr>
          <a:xfrm>
            <a:off x="561976" y="5389544"/>
            <a:ext cx="2596055" cy="307777"/>
          </a:xfrm>
          <a:prstGeom prst="rect">
            <a:avLst/>
          </a:prstGeom>
          <a:noFill/>
        </p:spPr>
        <p:txBody>
          <a:bodyPr wrap="square" rtlCol="0">
            <a:spAutoFit/>
          </a:bodyPr>
          <a:lstStyle/>
          <a:p>
            <a:r>
              <a:rPr lang="en-SG" sz="1400" b="1" dirty="0"/>
              <a:t>Sample logins</a:t>
            </a:r>
          </a:p>
        </p:txBody>
      </p:sp>
      <p:graphicFrame>
        <p:nvGraphicFramePr>
          <p:cNvPr id="5" name="Table 4">
            <a:extLst>
              <a:ext uri="{FF2B5EF4-FFF2-40B4-BE49-F238E27FC236}">
                <a16:creationId xmlns:a16="http://schemas.microsoft.com/office/drawing/2014/main" id="{E5FE5A9C-20AA-A884-CF9C-11954BCFADDF}"/>
              </a:ext>
            </a:extLst>
          </p:cNvPr>
          <p:cNvGraphicFramePr>
            <a:graphicFrameLocks noGrp="1"/>
          </p:cNvGraphicFramePr>
          <p:nvPr/>
        </p:nvGraphicFramePr>
        <p:xfrm>
          <a:off x="641130" y="5697321"/>
          <a:ext cx="3930870" cy="889000"/>
        </p:xfrm>
        <a:graphic>
          <a:graphicData uri="http://schemas.openxmlformats.org/drawingml/2006/table">
            <a:tbl>
              <a:tblPr firstRow="1" bandRow="1">
                <a:tableStyleId>{5940675A-B579-460E-94D1-54222C63F5DA}</a:tableStyleId>
              </a:tblPr>
              <a:tblGrid>
                <a:gridCol w="1849822">
                  <a:extLst>
                    <a:ext uri="{9D8B030D-6E8A-4147-A177-3AD203B41FA5}">
                      <a16:colId xmlns:a16="http://schemas.microsoft.com/office/drawing/2014/main" val="1625820765"/>
                    </a:ext>
                  </a:extLst>
                </a:gridCol>
                <a:gridCol w="2081048">
                  <a:extLst>
                    <a:ext uri="{9D8B030D-6E8A-4147-A177-3AD203B41FA5}">
                      <a16:colId xmlns:a16="http://schemas.microsoft.com/office/drawing/2014/main" val="72600899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400" b="1" dirty="0"/>
                        <a:t>Admin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400" b="1" dirty="0"/>
                        <a:t>User</a:t>
                      </a:r>
                    </a:p>
                  </a:txBody>
                  <a:tcPr/>
                </a:tc>
                <a:extLst>
                  <a:ext uri="{0D108BD9-81ED-4DB2-BD59-A6C34878D82A}">
                    <a16:rowId xmlns:a16="http://schemas.microsoft.com/office/drawing/2014/main" val="960632590"/>
                  </a:ext>
                </a:extLst>
              </a:tr>
              <a:tr h="370840">
                <a:tc>
                  <a:txBody>
                    <a:bodyPr/>
                    <a:lstStyle/>
                    <a:p>
                      <a:r>
                        <a:rPr lang="en-SG" sz="1400" dirty="0">
                          <a:hlinkClick r:id="rId2"/>
                        </a:rPr>
                        <a:t>peter@peter.com</a:t>
                      </a:r>
                      <a:endParaRPr lang="en-SG" sz="1400" dirty="0"/>
                    </a:p>
                    <a:p>
                      <a:r>
                        <a:rPr lang="en-SG" sz="1400" dirty="0"/>
                        <a:t>123456</a:t>
                      </a:r>
                    </a:p>
                  </a:txBody>
                  <a:tcPr/>
                </a:tc>
                <a:tc>
                  <a:txBody>
                    <a:bodyPr/>
                    <a:lstStyle/>
                    <a:p>
                      <a:r>
                        <a:rPr lang="en-SG" sz="1400" dirty="0">
                          <a:hlinkClick r:id="rId3"/>
                        </a:rPr>
                        <a:t>bobochan@gmail.com</a:t>
                      </a:r>
                      <a:endParaRPr lang="en-SG" sz="1400" dirty="0"/>
                    </a:p>
                    <a:p>
                      <a:r>
                        <a:rPr lang="en-SG" sz="1400" dirty="0"/>
                        <a:t>123456</a:t>
                      </a:r>
                    </a:p>
                  </a:txBody>
                  <a:tcPr/>
                </a:tc>
                <a:extLst>
                  <a:ext uri="{0D108BD9-81ED-4DB2-BD59-A6C34878D82A}">
                    <a16:rowId xmlns:a16="http://schemas.microsoft.com/office/drawing/2014/main" val="2515675752"/>
                  </a:ext>
                </a:extLst>
              </a:tr>
            </a:tbl>
          </a:graphicData>
        </a:graphic>
      </p:graphicFrame>
    </p:spTree>
    <p:extLst>
      <p:ext uri="{BB962C8B-B14F-4D97-AF65-F5344CB8AC3E}">
        <p14:creationId xmlns:p14="http://schemas.microsoft.com/office/powerpoint/2010/main" val="42005987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E665-40A7-2AA7-5779-D12C04B48EF8}"/>
              </a:ext>
            </a:extLst>
          </p:cNvPr>
          <p:cNvSpPr>
            <a:spLocks noGrp="1"/>
          </p:cNvSpPr>
          <p:nvPr>
            <p:ph type="body" sz="quarter" idx="14"/>
          </p:nvPr>
        </p:nvSpPr>
        <p:spPr/>
        <p:txBody>
          <a:bodyPr/>
          <a:lstStyle/>
          <a:p>
            <a:r>
              <a:rPr lang="en-SG" dirty="0"/>
              <a:t>Create a public GitHub repository</a:t>
            </a:r>
          </a:p>
          <a:p>
            <a:endParaRPr lang="en-SG" dirty="0"/>
          </a:p>
          <a:p>
            <a:r>
              <a:rPr lang="en-SG" dirty="0"/>
              <a:t>Check in </a:t>
            </a:r>
            <a:r>
              <a:rPr lang="en-SG" b="1" dirty="0" err="1"/>
              <a:t>StudentAppMVC</a:t>
            </a:r>
            <a:r>
              <a:rPr lang="en-SG" dirty="0"/>
              <a:t> and </a:t>
            </a:r>
            <a:r>
              <a:rPr lang="en-SG" b="1" dirty="0" err="1"/>
              <a:t>SupermarketAppMVC</a:t>
            </a:r>
            <a:r>
              <a:rPr lang="en-SG" dirty="0"/>
              <a:t> to your own GitHub Repository.</a:t>
            </a:r>
          </a:p>
          <a:p>
            <a:endParaRPr lang="en-SG" dirty="0"/>
          </a:p>
          <a:p>
            <a:r>
              <a:rPr lang="en-SG" dirty="0"/>
              <a:t>Fill in the form with your GitHub repository URL</a:t>
            </a:r>
          </a:p>
          <a:p>
            <a:pPr lvl="1"/>
            <a:r>
              <a:rPr lang="en-SG" dirty="0">
                <a:hlinkClick r:id="rId2"/>
              </a:rPr>
              <a:t>https://forms.office.com/r/PEKn31juZx</a:t>
            </a:r>
            <a:r>
              <a:rPr lang="en-SG" dirty="0"/>
              <a:t> </a:t>
            </a:r>
          </a:p>
          <a:p>
            <a:endParaRPr lang="en-SG" dirty="0"/>
          </a:p>
          <a:p>
            <a:endParaRPr lang="en-SG" dirty="0"/>
          </a:p>
        </p:txBody>
      </p:sp>
      <p:sp>
        <p:nvSpPr>
          <p:cNvPr id="3" name="Title 2">
            <a:extLst>
              <a:ext uri="{FF2B5EF4-FFF2-40B4-BE49-F238E27FC236}">
                <a16:creationId xmlns:a16="http://schemas.microsoft.com/office/drawing/2014/main" id="{289D0D9A-687F-138D-846A-782D6FAA2866}"/>
              </a:ext>
            </a:extLst>
          </p:cNvPr>
          <p:cNvSpPr>
            <a:spLocks noGrp="1"/>
          </p:cNvSpPr>
          <p:nvPr>
            <p:ph type="title"/>
          </p:nvPr>
        </p:nvSpPr>
        <p:spPr/>
        <p:txBody>
          <a:bodyPr/>
          <a:lstStyle/>
          <a:p>
            <a:r>
              <a:rPr lang="en-SG" dirty="0"/>
              <a:t>Exercise 10</a:t>
            </a:r>
          </a:p>
        </p:txBody>
      </p:sp>
    </p:spTree>
    <p:extLst>
      <p:ext uri="{BB962C8B-B14F-4D97-AF65-F5344CB8AC3E}">
        <p14:creationId xmlns:p14="http://schemas.microsoft.com/office/powerpoint/2010/main" val="35384465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10A6C9-B9F4-F2C3-1117-3510743D6F72}"/>
              </a:ext>
            </a:extLst>
          </p:cNvPr>
          <p:cNvSpPr>
            <a:spLocks noGrp="1"/>
          </p:cNvSpPr>
          <p:nvPr>
            <p:ph type="body" sz="quarter" idx="14"/>
          </p:nvPr>
        </p:nvSpPr>
        <p:spPr/>
        <p:txBody>
          <a:bodyPr/>
          <a:lstStyle/>
          <a:p>
            <a:pPr marL="0" indent="0">
              <a:buNone/>
            </a:pPr>
            <a:r>
              <a:rPr lang="en-US" sz="1800" b="1" dirty="0"/>
              <a:t>POLITEMALL</a:t>
            </a:r>
            <a:endParaRPr lang="en-SG" sz="1800" dirty="0"/>
          </a:p>
          <a:p>
            <a:pPr lvl="0"/>
            <a:r>
              <a:rPr lang="en-US" sz="1800" dirty="0"/>
              <a:t>Worksheet (Individual)</a:t>
            </a:r>
            <a:endParaRPr lang="en-SG" sz="1800" dirty="0"/>
          </a:p>
          <a:p>
            <a:pPr lvl="0"/>
            <a:r>
              <a:rPr lang="en-US" sz="1800" dirty="0" err="1"/>
              <a:t>StudentAppMVC</a:t>
            </a:r>
            <a:r>
              <a:rPr lang="en-US" sz="1800" dirty="0"/>
              <a:t> project code (Individual, zipped)</a:t>
            </a:r>
            <a:endParaRPr lang="en-SG" sz="1800" dirty="0"/>
          </a:p>
          <a:p>
            <a:pPr lvl="0"/>
            <a:r>
              <a:rPr lang="en-US" sz="1800" dirty="0" err="1"/>
              <a:t>SupermarketMVC</a:t>
            </a:r>
            <a:r>
              <a:rPr lang="en-US" sz="1800" dirty="0"/>
              <a:t> project code(Individual, zipped)</a:t>
            </a:r>
            <a:endParaRPr lang="en-SG" sz="1800" dirty="0"/>
          </a:p>
          <a:p>
            <a:pPr lvl="0"/>
            <a:r>
              <a:rPr lang="en-US" sz="1800" dirty="0"/>
              <a:t>C372 Individual CA1 AI Interaction Journal – STUDENTID – STUDENTNAME.docx</a:t>
            </a:r>
            <a:r>
              <a:rPr lang="en-SG" sz="1800" dirty="0"/>
              <a:t>  </a:t>
            </a:r>
          </a:p>
          <a:p>
            <a:r>
              <a:rPr lang="en-SG" sz="1800" dirty="0">
                <a:highlight>
                  <a:srgbClr val="FFFF00"/>
                </a:highlight>
              </a:rPr>
              <a:t>Upload your deliverables even if it is incomplete before the next session. </a:t>
            </a:r>
          </a:p>
          <a:p>
            <a:r>
              <a:rPr lang="en-SG" sz="1800" dirty="0">
                <a:highlight>
                  <a:srgbClr val="FFFF00"/>
                </a:highlight>
              </a:rPr>
              <a:t>You can resubmit by 2359 if there are updates.</a:t>
            </a:r>
          </a:p>
          <a:p>
            <a:pPr marL="0" indent="0">
              <a:buNone/>
            </a:pPr>
            <a:endParaRPr lang="en-SG" sz="1800" dirty="0"/>
          </a:p>
          <a:p>
            <a:pPr marL="0" indent="0">
              <a:buNone/>
            </a:pPr>
            <a:r>
              <a:rPr lang="en-US" sz="1800" b="1" dirty="0"/>
              <a:t>SA3.0 </a:t>
            </a:r>
            <a:r>
              <a:rPr lang="en-US" sz="1800" b="1"/>
              <a:t>(CA1 Interim </a:t>
            </a:r>
            <a:r>
              <a:rPr lang="en-US" sz="1800" b="1" dirty="0"/>
              <a:t>submission)</a:t>
            </a:r>
            <a:endParaRPr lang="en-SG" sz="1800" dirty="0"/>
          </a:p>
          <a:p>
            <a:pPr lvl="0"/>
            <a:r>
              <a:rPr lang="en-US" sz="1800" dirty="0" err="1"/>
              <a:t>SupermarketMVC</a:t>
            </a:r>
            <a:r>
              <a:rPr lang="en-US" sz="1800" dirty="0"/>
              <a:t> project code(Individual, zipped)</a:t>
            </a:r>
            <a:endParaRPr lang="en-SG" sz="1800" dirty="0"/>
          </a:p>
          <a:p>
            <a:pPr lvl="0"/>
            <a:r>
              <a:rPr lang="en-US" sz="1800" dirty="0"/>
              <a:t>C372 Individual CA1 AI Interaction Journal – STUDENTID – STUDENTNAME.docx</a:t>
            </a:r>
            <a:r>
              <a:rPr lang="en-SG" sz="1800" dirty="0"/>
              <a:t>  </a:t>
            </a:r>
          </a:p>
        </p:txBody>
      </p:sp>
      <p:sp>
        <p:nvSpPr>
          <p:cNvPr id="2" name="Title 1">
            <a:extLst>
              <a:ext uri="{FF2B5EF4-FFF2-40B4-BE49-F238E27FC236}">
                <a16:creationId xmlns:a16="http://schemas.microsoft.com/office/drawing/2014/main" id="{000FCEA2-0979-E47C-38CC-A92640450243}"/>
              </a:ext>
            </a:extLst>
          </p:cNvPr>
          <p:cNvSpPr>
            <a:spLocks noGrp="1"/>
          </p:cNvSpPr>
          <p:nvPr>
            <p:ph type="title"/>
          </p:nvPr>
        </p:nvSpPr>
        <p:spPr/>
        <p:txBody>
          <a:bodyPr/>
          <a:lstStyle/>
          <a:p>
            <a:r>
              <a:rPr lang="en-SG" dirty="0"/>
              <a:t>Submissions</a:t>
            </a:r>
          </a:p>
        </p:txBody>
      </p:sp>
    </p:spTree>
    <p:extLst>
      <p:ext uri="{BB962C8B-B14F-4D97-AF65-F5344CB8AC3E}">
        <p14:creationId xmlns:p14="http://schemas.microsoft.com/office/powerpoint/2010/main" val="3170919196"/>
      </p:ext>
    </p:extLst>
  </p:cSld>
  <p:clrMapOvr>
    <a:masterClrMapping/>
  </p:clrMapOvr>
</p:sld>
</file>

<file path=ppt/theme/theme1.xml><?xml version="1.0" encoding="utf-8"?>
<a:theme xmlns:a="http://schemas.openxmlformats.org/drawingml/2006/main" name="RP_SOI_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P_SOI_Theme1" id="{94B2C820-227D-42A3-B6F1-803E2B3F8DD4}" vid="{4A76537D-65D2-4794-B9A6-47786AF1B8CB}"/>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P PPT Slide Template (4-3)">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25ec627-a3d7-4544-8c26-d34fce24e371}" enabled="1" method="Privileged" siteId="{f688b0d0-79f0-40a4-8644-35fcdee9d0f3}" removed="0"/>
</clbl:labelList>
</file>

<file path=docProps/app.xml><?xml version="1.0" encoding="utf-8"?>
<Properties xmlns="http://schemas.openxmlformats.org/officeDocument/2006/extended-properties" xmlns:vt="http://schemas.openxmlformats.org/officeDocument/2006/docPropsVTypes">
  <Template>RP_SOI_Theme1</Template>
  <TotalTime>6105</TotalTime>
  <Words>4109</Words>
  <Application>Microsoft Office PowerPoint</Application>
  <PresentationFormat>On-screen Show (4:3)</PresentationFormat>
  <Paragraphs>499</Paragraphs>
  <Slides>66</Slides>
  <Notes>14</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66</vt:i4>
      </vt:variant>
    </vt:vector>
  </HeadingPairs>
  <TitlesOfParts>
    <vt:vector size="77" baseType="lpstr">
      <vt:lpstr>Aptos</vt:lpstr>
      <vt:lpstr>Arial</vt:lpstr>
      <vt:lpstr>Arial Black</vt:lpstr>
      <vt:lpstr>Calibri</vt:lpstr>
      <vt:lpstr>Calibri Light</vt:lpstr>
      <vt:lpstr>Consolas</vt:lpstr>
      <vt:lpstr>Courier New</vt:lpstr>
      <vt:lpstr>Verdana</vt:lpstr>
      <vt:lpstr>RP_SOI_Theme1</vt:lpstr>
      <vt:lpstr>1_Office Theme</vt:lpstr>
      <vt:lpstr>RP PPT Slide Template (4-3)</vt:lpstr>
      <vt:lpstr>C372 Payment Technologies   </vt:lpstr>
      <vt:lpstr>Recall</vt:lpstr>
      <vt:lpstr>NodeJS Project Folder Structure</vt:lpstr>
      <vt:lpstr>MVC</vt:lpstr>
      <vt:lpstr>MVC</vt:lpstr>
      <vt:lpstr>Separation of Concerns </vt:lpstr>
      <vt:lpstr>Separation of Concerns </vt:lpstr>
      <vt:lpstr>Separation of Concerns </vt:lpstr>
      <vt:lpstr>Separation of Concerns </vt:lpstr>
      <vt:lpstr>Separation of Concerns </vt:lpstr>
      <vt:lpstr>Separation of Concerns </vt:lpstr>
      <vt:lpstr>Exercise 1 - StudentAppMVC</vt:lpstr>
      <vt:lpstr>Environment Configuration file</vt:lpstr>
      <vt:lpstr>Exercise 2 - .env</vt:lpstr>
      <vt:lpstr>Exercise 3 - Database Connection</vt:lpstr>
      <vt:lpstr>Copilot in VSCode</vt:lpstr>
      <vt:lpstr>Copilot in VSCode</vt:lpstr>
      <vt:lpstr>Copilot in VSCode - Modes</vt:lpstr>
      <vt:lpstr>Adding Context</vt:lpstr>
      <vt:lpstr>Copilot in VSCode - Model</vt:lpstr>
      <vt:lpstr>Model</vt:lpstr>
      <vt:lpstr>Controller</vt:lpstr>
      <vt:lpstr>Controller</vt:lpstr>
      <vt:lpstr>app.js</vt:lpstr>
      <vt:lpstr>app.js</vt:lpstr>
      <vt:lpstr>app.js</vt:lpstr>
      <vt:lpstr>Exercise 4</vt:lpstr>
      <vt:lpstr>Test StudentAppMVC</vt:lpstr>
      <vt:lpstr>Exercise 5 - Test StudentAppMVC</vt:lpstr>
      <vt:lpstr>Test StudentAppMVC</vt:lpstr>
      <vt:lpstr>Test StudentAppMVC</vt:lpstr>
      <vt:lpstr>Test StudentAppMVC</vt:lpstr>
      <vt:lpstr>Test StudentAppMVC</vt:lpstr>
      <vt:lpstr>Exercise 6</vt:lpstr>
      <vt:lpstr>Prompt Review</vt:lpstr>
      <vt:lpstr>Prompt Review</vt:lpstr>
      <vt:lpstr>Prompt Review</vt:lpstr>
      <vt:lpstr>Code Review</vt:lpstr>
      <vt:lpstr>Non-MVC vs MVC</vt:lpstr>
      <vt:lpstr>Exercise 7</vt:lpstr>
      <vt:lpstr>Exercise 7</vt:lpstr>
      <vt:lpstr>Exercise 8</vt:lpstr>
      <vt:lpstr>Exercise 8 - Sample Response</vt:lpstr>
      <vt:lpstr>Model – Student Object</vt:lpstr>
      <vt:lpstr>Model – Student Object</vt:lpstr>
      <vt:lpstr>Model – Get all students</vt:lpstr>
      <vt:lpstr>Model – Get student by ID</vt:lpstr>
      <vt:lpstr>Model – Add new student</vt:lpstr>
      <vt:lpstr>Model – Update student by ID</vt:lpstr>
      <vt:lpstr>Model – Delete student by ID</vt:lpstr>
      <vt:lpstr>Model – Export a module</vt:lpstr>
      <vt:lpstr>Controller – Import Models</vt:lpstr>
      <vt:lpstr>Controller – studentController Object</vt:lpstr>
      <vt:lpstr>Controller – List all students</vt:lpstr>
      <vt:lpstr>Controller – Get single student by ID</vt:lpstr>
      <vt:lpstr>Controller – Add new student</vt:lpstr>
      <vt:lpstr>Controller – Update Form</vt:lpstr>
      <vt:lpstr>Controller – Update </vt:lpstr>
      <vt:lpstr>Controller – Delete student by ID</vt:lpstr>
      <vt:lpstr>Controller – Export controller object</vt:lpstr>
      <vt:lpstr>How it Works</vt:lpstr>
      <vt:lpstr>CA1 Deliverable</vt:lpstr>
      <vt:lpstr>CA1 Deliverable</vt:lpstr>
      <vt:lpstr>Exercise 9</vt:lpstr>
      <vt:lpstr>Exercise 10</vt:lpstr>
      <vt:lpstr>Submissions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Magdalene Lim (RP)</dc:creator>
  <cp:lastModifiedBy>NUR HAZEERA MYSARA BINTE OTHMAN</cp:lastModifiedBy>
  <cp:revision>148</cp:revision>
  <dcterms:created xsi:type="dcterms:W3CDTF">2024-08-22T13:04:24Z</dcterms:created>
  <dcterms:modified xsi:type="dcterms:W3CDTF">2025-10-29T07:19:17Z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Official (Closed) \ Sensitive Normal</vt:lpwstr>
  </property>
</Properties>
</file>